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000" b="0" i="0" u="none" strike="noStrike">
                <a:solidFill>
                  <a:srgbClr val="1D3557"/>
                </a:solidFill>
                <a:latin typeface="Arial"/>
              </a:defRPr>
            </a:pPr>
            <a:r>
              <a:rPr sz="1000" b="0" i="0" u="none" strike="noStrike">
                <a:solidFill>
                  <a:srgbClr val="1D3557"/>
                </a:solidFill>
                <a:latin typeface="Arial"/>
              </a:rPr>
              <a:t>Revenue &amp; EBITDA ($B CAD) — FY2022-FY2026</a:t>
            </a:r>
          </a:p>
        </c:rich>
      </c:tx>
      <c:layout/>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E6394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FY2022</c:v>
                  </c:pt>
                  <c:pt idx="1">
                    <c:v>FY2023</c:v>
                  </c:pt>
                  <c:pt idx="2">
                    <c:v>FY2024</c:v>
                  </c:pt>
                  <c:pt idx="3">
                    <c:v>FY2025</c:v>
                  </c:pt>
                  <c:pt idx="4">
                    <c:v>FY2026E</c:v>
                  </c:pt>
                </c:lvl>
              </c:multiLvlStrCache>
            </c:multiLvlStrRef>
          </c:cat>
          <c:val>
            <c:numRef>
              <c:f>Sheet1!$B$2:$B$6</c:f>
              <c:numCache>
                <c:formatCode>General</c:formatCode>
                <c:ptCount val="5"/>
                <c:pt idx="0">
                  <c:v>4.33</c:v>
                </c:pt>
                <c:pt idx="1">
                  <c:v>5.05</c:v>
                </c:pt>
                <c:pt idx="2">
                  <c:v>5.87</c:v>
                </c:pt>
                <c:pt idx="3">
                  <c:v>6.41</c:v>
                </c:pt>
                <c:pt idx="4">
                  <c:v>7.26</c:v>
                </c:pt>
              </c:numCache>
            </c:numRef>
          </c:val>
        </c:ser>
        <c:ser>
          <c:idx val="1"/>
          <c:order val="1"/>
          <c:tx>
            <c:strRef>
              <c:f>Sheet1!$C$1</c:f>
              <c:strCache>
                <c:ptCount val="1"/>
                <c:pt idx="0">
                  <c:v>EBITDA</c:v>
                </c:pt>
              </c:strCache>
            </c:strRef>
          </c:tx>
          <c:spPr>
            <a:solidFill>
              <a:srgbClr val="1D355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FY2022</c:v>
                  </c:pt>
                  <c:pt idx="1">
                    <c:v>FY2023</c:v>
                  </c:pt>
                  <c:pt idx="2">
                    <c:v>FY2024</c:v>
                  </c:pt>
                  <c:pt idx="3">
                    <c:v>FY2025</c:v>
                  </c:pt>
                  <c:pt idx="4">
                    <c:v>FY2026E</c:v>
                  </c:pt>
                </c:lvl>
              </c:multiLvlStrCache>
            </c:multiLvlStrRef>
          </c:cat>
          <c:val>
            <c:numRef>
              <c:f>Sheet1!$C$2:$C$6</c:f>
              <c:numCache>
                <c:formatCode>General</c:formatCode>
                <c:ptCount val="5"/>
                <c:pt idx="0">
                  <c:v>1.28</c:v>
                </c:pt>
                <c:pt idx="1">
                  <c:v>1.53</c:v>
                </c:pt>
                <c:pt idx="2">
                  <c:v>1.88</c:v>
                </c:pt>
                <c:pt idx="3">
                  <c:v>2.15</c:v>
                </c:pt>
                <c:pt idx="4">
                  <c:v>2.39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D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5A6472"/>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3557"/>
        </a:solidFill>
      </p:bgPr>
    </p:bg>
    <p:spTree>
      <p:nvGrpSpPr>
        <p:cNvPr id="1" name=""/>
        <p:cNvGrpSpPr/>
        <p:nvPr/>
      </p:nvGrpSpPr>
      <p:grpSpPr>
        <a:xfrm>
          <a:off x="0" y="0"/>
          <a:ext cx="0" cy="0"/>
          <a:chOff x="0" y="0"/>
          <a:chExt cx="0" cy="0"/>
        </a:xfrm>
      </p:grpSpPr>
      <p:sp>
        <p:nvSpPr>
          <p:cNvPr id="2" name="Shape 0"/>
          <p:cNvSpPr/>
          <p:nvPr/>
        </p:nvSpPr>
        <p:spPr>
          <a:xfrm>
            <a:off x="6126480" y="0"/>
            <a:ext cx="3017520" cy="5143500"/>
          </a:xfrm>
          <a:prstGeom prst="rect">
            <a:avLst/>
          </a:prstGeom>
          <a:solidFill>
            <a:srgbClr val="152843"/>
          </a:solidFill>
          <a:ln w="12700">
            <a:solidFill>
              <a:srgbClr val="152843"/>
            </a:solidFill>
            <a:prstDash val="solid"/>
          </a:ln>
        </p:spPr>
      </p:sp>
      <p:sp>
        <p:nvSpPr>
          <p:cNvPr id="3" name="Shape 1"/>
          <p:cNvSpPr/>
          <p:nvPr/>
        </p:nvSpPr>
        <p:spPr>
          <a:xfrm>
            <a:off x="6126480" y="0"/>
            <a:ext cx="54864" cy="5143500"/>
          </a:xfrm>
          <a:prstGeom prst="rect">
            <a:avLst/>
          </a:prstGeom>
          <a:solidFill>
            <a:srgbClr val="E63946"/>
          </a:solidFill>
          <a:ln w="12700">
            <a:solidFill>
              <a:srgbClr val="E63946"/>
            </a:solidFill>
            <a:prstDash val="solid"/>
          </a:ln>
        </p:spPr>
      </p:sp>
      <p:sp>
        <p:nvSpPr>
          <p:cNvPr id="4" name="Shape 2"/>
          <p:cNvSpPr/>
          <p:nvPr/>
        </p:nvSpPr>
        <p:spPr>
          <a:xfrm>
            <a:off x="457200" y="347472"/>
            <a:ext cx="2560320" cy="182880"/>
          </a:xfrm>
          <a:prstGeom prst="rect">
            <a:avLst/>
          </a:prstGeom>
          <a:solidFill>
            <a:srgbClr val="1A3655"/>
          </a:solidFill>
          <a:ln w="12700">
            <a:solidFill>
              <a:srgbClr val="1A3655"/>
            </a:solidFill>
            <a:prstDash val="solid"/>
          </a:ln>
        </p:spPr>
      </p:sp>
      <p:sp>
        <p:nvSpPr>
          <p:cNvPr id="5" name="Text 3"/>
          <p:cNvSpPr/>
          <p:nvPr/>
        </p:nvSpPr>
        <p:spPr>
          <a:xfrm>
            <a:off x="457200" y="347472"/>
            <a:ext cx="2560320" cy="182880"/>
          </a:xfrm>
          <a:prstGeom prst="rect">
            <a:avLst/>
          </a:prstGeom>
          <a:noFill/>
          <a:ln/>
        </p:spPr>
        <p:txBody>
          <a:bodyPr wrap="square" lIns="0" tIns="0" rIns="0" bIns="0" rtlCol="0" anchor="ctr"/>
          <a:lstStyle/>
          <a:p>
            <a:pPr algn="ctr" indent="0" marL="0">
              <a:buNone/>
            </a:pPr>
            <a:r>
              <a:rPr lang="en-US" sz="700" b="1" spc="80" kern="0" dirty="0">
                <a:solidFill>
                  <a:srgbClr val="A8C4DC"/>
                </a:solidFill>
              </a:rPr>
              <a:t>MBAN5570  |  EQUITY RESEARCH ANALYTICS</a:t>
            </a:r>
            <a:endParaRPr lang="en-US" sz="700" dirty="0"/>
          </a:p>
        </p:txBody>
      </p:sp>
      <p:sp>
        <p:nvSpPr>
          <p:cNvPr id="6" name="Text 4"/>
          <p:cNvSpPr/>
          <p:nvPr/>
        </p:nvSpPr>
        <p:spPr>
          <a:xfrm>
            <a:off x="457200" y="621792"/>
            <a:ext cx="5394960" cy="822960"/>
          </a:xfrm>
          <a:prstGeom prst="rect">
            <a:avLst/>
          </a:prstGeom>
          <a:noFill/>
          <a:ln/>
        </p:spPr>
        <p:txBody>
          <a:bodyPr wrap="square" lIns="0" tIns="0" rIns="0" bIns="0" rtlCol="0" anchor="ctr"/>
          <a:lstStyle/>
          <a:p>
            <a:pPr indent="0" marL="0">
              <a:buNone/>
            </a:pPr>
            <a:r>
              <a:rPr lang="en-US" sz="4400" b="1" dirty="0">
                <a:solidFill>
                  <a:srgbClr val="E63946"/>
                </a:solidFill>
                <a:latin typeface="Georgia" pitchFamily="34" charset="0"/>
                <a:ea typeface="Georgia" pitchFamily="34" charset="-122"/>
                <a:cs typeface="Georgia" pitchFamily="34" charset="-120"/>
              </a:rPr>
              <a:t>Dollarama Inc.</a:t>
            </a:r>
            <a:endParaRPr lang="en-US" sz="4400" dirty="0"/>
          </a:p>
        </p:txBody>
      </p:sp>
      <p:sp>
        <p:nvSpPr>
          <p:cNvPr id="7" name="Text 5"/>
          <p:cNvSpPr/>
          <p:nvPr/>
        </p:nvSpPr>
        <p:spPr>
          <a:xfrm>
            <a:off x="457200" y="1444752"/>
            <a:ext cx="5394960" cy="237744"/>
          </a:xfrm>
          <a:prstGeom prst="rect">
            <a:avLst/>
          </a:prstGeom>
          <a:noFill/>
          <a:ln/>
        </p:spPr>
        <p:txBody>
          <a:bodyPr wrap="square" lIns="0" tIns="0" rIns="0" bIns="0" rtlCol="0" anchor="ctr"/>
          <a:lstStyle/>
          <a:p>
            <a:pPr indent="0" marL="0">
              <a:buNone/>
            </a:pPr>
            <a:r>
              <a:rPr lang="en-US" sz="1100" dirty="0">
                <a:solidFill>
                  <a:srgbClr val="A8C4DC"/>
                </a:solidFill>
              </a:rPr>
              <a:t>DOL.TO  |  TSX  |  Canada's Dominant Fixed-Price Retailer</a:t>
            </a:r>
            <a:endParaRPr lang="en-US" sz="1100" dirty="0"/>
          </a:p>
        </p:txBody>
      </p:sp>
      <p:sp>
        <p:nvSpPr>
          <p:cNvPr id="8" name="Shape 6"/>
          <p:cNvSpPr/>
          <p:nvPr/>
        </p:nvSpPr>
        <p:spPr>
          <a:xfrm>
            <a:off x="457200" y="1810512"/>
            <a:ext cx="5394960" cy="548640"/>
          </a:xfrm>
          <a:prstGeom prst="rect">
            <a:avLst/>
          </a:prstGeom>
          <a:solidFill>
            <a:srgbClr val="1A3655"/>
          </a:solidFill>
          <a:ln w="6350">
            <a:solidFill>
              <a:srgbClr val="2A5078"/>
            </a:solidFill>
            <a:prstDash val="solid"/>
          </a:ln>
        </p:spPr>
      </p:sp>
      <p:sp>
        <p:nvSpPr>
          <p:cNvPr id="9" name="Text 7"/>
          <p:cNvSpPr/>
          <p:nvPr/>
        </p:nvSpPr>
        <p:spPr>
          <a:xfrm>
            <a:off x="566928" y="1865376"/>
            <a:ext cx="5175504" cy="457200"/>
          </a:xfrm>
          <a:prstGeom prst="rect">
            <a:avLst/>
          </a:prstGeom>
          <a:noFill/>
          <a:ln/>
        </p:spPr>
        <p:txBody>
          <a:bodyPr wrap="square" lIns="0" tIns="0" rIns="0" bIns="0" rtlCol="0" anchor="ctr"/>
          <a:lstStyle/>
          <a:p>
            <a:pPr indent="0" marL="0">
              <a:buNone/>
            </a:pPr>
            <a:r>
              <a:rPr lang="en-US" sz="950" b="1" dirty="0">
                <a:solidFill>
                  <a:srgbClr val="E63946"/>
                </a:solidFill>
              </a:rPr>
              <a:t>March 24, 2026:</a:t>
            </a:r>
            <a:pPr indent="0" marL="0">
              <a:buNone/>
            </a:pPr>
            <a:r>
              <a:rPr lang="en-US" sz="950" dirty="0">
                <a:solidFill>
                  <a:srgbClr val="CADCF0"/>
                </a:solidFill>
              </a:rPr>
              <a:t xml:space="preserve">  Stock fell 9%. Revenue grew 13%. EPS grew 13%.</a:t>
            </a:r>
            <a:pPr indent="0" marL="0">
              <a:buNone/>
            </a:pPr>
            <a:r>
              <a:rPr lang="en-US" sz="950" dirty="0">
                <a:solidFill>
                  <a:srgbClr val="8AADC8"/>
                </a:solidFill>
              </a:rPr>
              <a:t xml:space="preserve">  The selloff happened because margins dipped from an acquisition in Australia.</a:t>
            </a:r>
            <a:endParaRPr lang="en-US" sz="950" dirty="0"/>
          </a:p>
        </p:txBody>
      </p:sp>
      <p:sp>
        <p:nvSpPr>
          <p:cNvPr id="10" name="Shape 8"/>
          <p:cNvSpPr/>
          <p:nvPr/>
        </p:nvSpPr>
        <p:spPr>
          <a:xfrm>
            <a:off x="457200" y="2505456"/>
            <a:ext cx="2560320" cy="384048"/>
          </a:xfrm>
          <a:prstGeom prst="rect">
            <a:avLst/>
          </a:prstGeom>
          <a:solidFill>
            <a:srgbClr val="E63946"/>
          </a:solidFill>
          <a:ln w="12700">
            <a:solidFill>
              <a:srgbClr val="E63946"/>
            </a:solidFill>
            <a:prstDash val="solid"/>
          </a:ln>
        </p:spPr>
      </p:sp>
      <p:sp>
        <p:nvSpPr>
          <p:cNvPr id="11" name="Text 9"/>
          <p:cNvSpPr/>
          <p:nvPr/>
        </p:nvSpPr>
        <p:spPr>
          <a:xfrm>
            <a:off x="457200" y="2505456"/>
            <a:ext cx="2560320" cy="384048"/>
          </a:xfrm>
          <a:prstGeom prst="rect">
            <a:avLst/>
          </a:prstGeom>
          <a:noFill/>
          <a:ln/>
        </p:spPr>
        <p:txBody>
          <a:bodyPr wrap="square" lIns="0" tIns="0" rIns="0" bIns="0" rtlCol="0" anchor="ctr"/>
          <a:lstStyle/>
          <a:p>
            <a:pPr algn="ctr" indent="0" marL="0">
              <a:buNone/>
            </a:pPr>
            <a:r>
              <a:rPr lang="en-US" sz="950" b="1" spc="30" kern="0" dirty="0">
                <a:solidFill>
                  <a:srgbClr val="FFFFFF"/>
                </a:solidFill>
              </a:rPr>
              <a:t>BUY  |  TARGET $212 CAD  |  ~25% UPSIDE</a:t>
            </a:r>
            <a:endParaRPr lang="en-US" sz="950" dirty="0"/>
          </a:p>
        </p:txBody>
      </p:sp>
      <p:sp>
        <p:nvSpPr>
          <p:cNvPr id="12" name="Shape 10"/>
          <p:cNvSpPr/>
          <p:nvPr/>
        </p:nvSpPr>
        <p:spPr>
          <a:xfrm>
            <a:off x="457200" y="2999232"/>
            <a:ext cx="2286000" cy="0"/>
          </a:xfrm>
          <a:prstGeom prst="line">
            <a:avLst/>
          </a:prstGeom>
          <a:noFill/>
          <a:ln w="12700">
            <a:solidFill>
              <a:srgbClr val="E63946"/>
            </a:solidFill>
            <a:prstDash val="solid"/>
          </a:ln>
        </p:spPr>
      </p:sp>
      <p:sp>
        <p:nvSpPr>
          <p:cNvPr id="13" name="Text 11"/>
          <p:cNvSpPr/>
          <p:nvPr/>
        </p:nvSpPr>
        <p:spPr>
          <a:xfrm>
            <a:off x="457200" y="3090672"/>
            <a:ext cx="5394960" cy="512064"/>
          </a:xfrm>
          <a:prstGeom prst="rect">
            <a:avLst/>
          </a:prstGeom>
          <a:noFill/>
          <a:ln/>
        </p:spPr>
        <p:txBody>
          <a:bodyPr wrap="square" lIns="0" tIns="0" rIns="0" bIns="0" rtlCol="0" anchor="ctr"/>
          <a:lstStyle/>
          <a:p>
            <a:pPr indent="0" marL="0">
              <a:buNone/>
            </a:pPr>
            <a:r>
              <a:rPr lang="en-US" sz="1200" i="1" dirty="0">
                <a:solidFill>
                  <a:srgbClr val="FFFFFF"/>
                </a:solidFill>
              </a:rPr>
              <a:t>Market is pricing permanent damage.</a:t>
            </a:r>
            <a:endParaRPr lang="en-US" sz="1200" dirty="0"/>
          </a:p>
          <a:p>
            <a:pPr indent="0" marL="0">
              <a:buNone/>
            </a:pPr>
            <a:r>
              <a:rPr lang="en-US" sz="1200" i="1" dirty="0">
                <a:solidFill>
                  <a:srgbClr val="FFFFFF"/>
                </a:solidFill>
              </a:rPr>
              <a:t>We think it is pricing a headwind.</a:t>
            </a:r>
            <a:endParaRPr lang="en-US" sz="1200" dirty="0"/>
          </a:p>
        </p:txBody>
      </p:sp>
      <p:sp>
        <p:nvSpPr>
          <p:cNvPr id="14" name="Text 12"/>
          <p:cNvSpPr/>
          <p:nvPr/>
        </p:nvSpPr>
        <p:spPr>
          <a:xfrm>
            <a:off x="457200" y="3712464"/>
            <a:ext cx="5394960" cy="219456"/>
          </a:xfrm>
          <a:prstGeom prst="rect">
            <a:avLst/>
          </a:prstGeom>
          <a:noFill/>
          <a:ln/>
        </p:spPr>
        <p:txBody>
          <a:bodyPr wrap="square" lIns="0" tIns="0" rIns="0" bIns="0" rtlCol="0" anchor="ctr"/>
          <a:lstStyle/>
          <a:p>
            <a:pPr indent="0" marL="0">
              <a:buNone/>
            </a:pPr>
            <a:r>
              <a:rPr lang="en-US" sz="900" dirty="0">
                <a:solidFill>
                  <a:srgbClr val="8AADC8"/>
                </a:solidFill>
              </a:rPr>
              <a:t>Three growth platforms: Canada (1,616 to 2,200 stores)  |  Dollarcity (LatAm)  |  Reject Shop (Australia)</a:t>
            </a:r>
            <a:endParaRPr lang="en-US" sz="900" dirty="0"/>
          </a:p>
        </p:txBody>
      </p:sp>
      <p:sp>
        <p:nvSpPr>
          <p:cNvPr id="15" name="Text 13"/>
          <p:cNvSpPr/>
          <p:nvPr/>
        </p:nvSpPr>
        <p:spPr>
          <a:xfrm>
            <a:off x="6291072" y="411480"/>
            <a:ext cx="2651760" cy="164592"/>
          </a:xfrm>
          <a:prstGeom prst="rect">
            <a:avLst/>
          </a:prstGeom>
          <a:noFill/>
          <a:ln/>
        </p:spPr>
        <p:txBody>
          <a:bodyPr wrap="square" lIns="0" tIns="0" rIns="0" bIns="0" rtlCol="0" anchor="ctr"/>
          <a:lstStyle/>
          <a:p>
            <a:pPr indent="0" marL="0">
              <a:buNone/>
            </a:pPr>
            <a:r>
              <a:rPr lang="en-US" sz="750" b="1" spc="100" kern="0" dirty="0">
                <a:solidFill>
                  <a:srgbClr val="8AADC8"/>
                </a:solidFill>
              </a:rPr>
              <a:t>CURRENT PRICE</a:t>
            </a:r>
            <a:endParaRPr lang="en-US" sz="750" dirty="0"/>
          </a:p>
        </p:txBody>
      </p:sp>
      <p:sp>
        <p:nvSpPr>
          <p:cNvPr id="16" name="Text 14"/>
          <p:cNvSpPr/>
          <p:nvPr/>
        </p:nvSpPr>
        <p:spPr>
          <a:xfrm>
            <a:off x="6291072" y="576072"/>
            <a:ext cx="2651760" cy="420624"/>
          </a:xfrm>
          <a:prstGeom prst="rect">
            <a:avLst/>
          </a:prstGeom>
          <a:noFill/>
          <a:ln/>
        </p:spPr>
        <p:txBody>
          <a:bodyPr wrap="square" lIns="0" tIns="0" rIns="0" bIns="0" rtlCol="0" anchor="ctr"/>
          <a:lstStyle/>
          <a:p>
            <a:pPr indent="0" marL="0">
              <a:buNone/>
            </a:pPr>
            <a:r>
              <a:rPr lang="en-US" sz="2200" b="1" dirty="0">
                <a:solidFill>
                  <a:srgbClr val="E63946"/>
                </a:solidFill>
                <a:latin typeface="Georgia" pitchFamily="34" charset="0"/>
                <a:ea typeface="Georgia" pitchFamily="34" charset="-122"/>
                <a:cs typeface="Georgia" pitchFamily="34" charset="-120"/>
              </a:rPr>
              <a:t>~$170 CAD</a:t>
            </a:r>
            <a:endParaRPr lang="en-US" sz="2200" dirty="0"/>
          </a:p>
        </p:txBody>
      </p:sp>
      <p:sp>
        <p:nvSpPr>
          <p:cNvPr id="17" name="Text 15"/>
          <p:cNvSpPr/>
          <p:nvPr/>
        </p:nvSpPr>
        <p:spPr>
          <a:xfrm>
            <a:off x="6291072" y="996696"/>
            <a:ext cx="2651760" cy="164592"/>
          </a:xfrm>
          <a:prstGeom prst="rect">
            <a:avLst/>
          </a:prstGeom>
          <a:noFill/>
          <a:ln/>
        </p:spPr>
        <p:txBody>
          <a:bodyPr wrap="square" lIns="0" tIns="0" rIns="0" bIns="0" rtlCol="0" anchor="ctr"/>
          <a:lstStyle/>
          <a:p>
            <a:pPr indent="0" marL="0">
              <a:buNone/>
            </a:pPr>
            <a:r>
              <a:rPr lang="en-US" sz="800" i="1" dirty="0">
                <a:solidFill>
                  <a:srgbClr val="6A8FA8"/>
                </a:solidFill>
              </a:rPr>
              <a:t>March 2026</a:t>
            </a:r>
            <a:endParaRPr lang="en-US" sz="800" dirty="0"/>
          </a:p>
        </p:txBody>
      </p:sp>
      <p:sp>
        <p:nvSpPr>
          <p:cNvPr id="18" name="Shape 16"/>
          <p:cNvSpPr/>
          <p:nvPr/>
        </p:nvSpPr>
        <p:spPr>
          <a:xfrm>
            <a:off x="6291072" y="1307592"/>
            <a:ext cx="2468880" cy="0"/>
          </a:xfrm>
          <a:prstGeom prst="line">
            <a:avLst/>
          </a:prstGeom>
          <a:noFill/>
          <a:ln w="6350">
            <a:solidFill>
              <a:srgbClr val="1E3D5A"/>
            </a:solidFill>
            <a:prstDash val="solid"/>
          </a:ln>
        </p:spPr>
      </p:sp>
      <p:sp>
        <p:nvSpPr>
          <p:cNvPr id="19" name="Text 17"/>
          <p:cNvSpPr/>
          <p:nvPr/>
        </p:nvSpPr>
        <p:spPr>
          <a:xfrm>
            <a:off x="6291072" y="1490472"/>
            <a:ext cx="2651760" cy="164592"/>
          </a:xfrm>
          <a:prstGeom prst="rect">
            <a:avLst/>
          </a:prstGeom>
          <a:noFill/>
          <a:ln/>
        </p:spPr>
        <p:txBody>
          <a:bodyPr wrap="square" lIns="0" tIns="0" rIns="0" bIns="0" rtlCol="0" anchor="ctr"/>
          <a:lstStyle/>
          <a:p>
            <a:pPr indent="0" marL="0">
              <a:buNone/>
            </a:pPr>
            <a:r>
              <a:rPr lang="en-US" sz="750" b="1" spc="100" kern="0" dirty="0">
                <a:solidFill>
                  <a:srgbClr val="8AADC8"/>
                </a:solidFill>
              </a:rPr>
              <a:t>FY2026 REVENUE</a:t>
            </a:r>
            <a:endParaRPr lang="en-US" sz="750" dirty="0"/>
          </a:p>
        </p:txBody>
      </p:sp>
      <p:sp>
        <p:nvSpPr>
          <p:cNvPr id="20" name="Text 18"/>
          <p:cNvSpPr/>
          <p:nvPr/>
        </p:nvSpPr>
        <p:spPr>
          <a:xfrm>
            <a:off x="6291072" y="1655064"/>
            <a:ext cx="2651760" cy="420624"/>
          </a:xfrm>
          <a:prstGeom prst="rect">
            <a:avLst/>
          </a:prstGeom>
          <a:noFill/>
          <a:ln/>
        </p:spPr>
        <p:txBody>
          <a:bodyPr wrap="square" lIns="0" tIns="0" rIns="0" bIns="0" rtlCol="0" anchor="ctr"/>
          <a:lstStyle/>
          <a:p>
            <a:pPr indent="0" marL="0">
              <a:buNone/>
            </a:pPr>
            <a:r>
              <a:rPr lang="en-US" sz="2200" b="1" dirty="0">
                <a:solidFill>
                  <a:srgbClr val="E63946"/>
                </a:solidFill>
                <a:latin typeface="Georgia" pitchFamily="34" charset="0"/>
                <a:ea typeface="Georgia" pitchFamily="34" charset="-122"/>
                <a:cs typeface="Georgia" pitchFamily="34" charset="-120"/>
              </a:rPr>
              <a:t>$7.3B</a:t>
            </a:r>
            <a:endParaRPr lang="en-US" sz="2200" dirty="0"/>
          </a:p>
        </p:txBody>
      </p:sp>
      <p:sp>
        <p:nvSpPr>
          <p:cNvPr id="21" name="Text 19"/>
          <p:cNvSpPr/>
          <p:nvPr/>
        </p:nvSpPr>
        <p:spPr>
          <a:xfrm>
            <a:off x="6291072" y="2075688"/>
            <a:ext cx="2651760" cy="164592"/>
          </a:xfrm>
          <a:prstGeom prst="rect">
            <a:avLst/>
          </a:prstGeom>
          <a:noFill/>
          <a:ln/>
        </p:spPr>
        <p:txBody>
          <a:bodyPr wrap="square" lIns="0" tIns="0" rIns="0" bIns="0" rtlCol="0" anchor="ctr"/>
          <a:lstStyle/>
          <a:p>
            <a:pPr indent="0" marL="0">
              <a:buNone/>
            </a:pPr>
            <a:r>
              <a:rPr lang="en-US" sz="800" i="1" dirty="0">
                <a:solidFill>
                  <a:srgbClr val="6A8FA8"/>
                </a:solidFill>
              </a:rPr>
              <a:t>+13.1% YoY (actual)</a:t>
            </a:r>
            <a:endParaRPr lang="en-US" sz="800" dirty="0"/>
          </a:p>
        </p:txBody>
      </p:sp>
      <p:sp>
        <p:nvSpPr>
          <p:cNvPr id="22" name="Shape 20"/>
          <p:cNvSpPr/>
          <p:nvPr/>
        </p:nvSpPr>
        <p:spPr>
          <a:xfrm>
            <a:off x="6291072" y="2386584"/>
            <a:ext cx="2468880" cy="0"/>
          </a:xfrm>
          <a:prstGeom prst="line">
            <a:avLst/>
          </a:prstGeom>
          <a:noFill/>
          <a:ln w="6350">
            <a:solidFill>
              <a:srgbClr val="1E3D5A"/>
            </a:solidFill>
            <a:prstDash val="solid"/>
          </a:ln>
        </p:spPr>
      </p:sp>
      <p:sp>
        <p:nvSpPr>
          <p:cNvPr id="23" name="Text 21"/>
          <p:cNvSpPr/>
          <p:nvPr/>
        </p:nvSpPr>
        <p:spPr>
          <a:xfrm>
            <a:off x="6291072" y="2569464"/>
            <a:ext cx="2651760" cy="164592"/>
          </a:xfrm>
          <a:prstGeom prst="rect">
            <a:avLst/>
          </a:prstGeom>
          <a:noFill/>
          <a:ln/>
        </p:spPr>
        <p:txBody>
          <a:bodyPr wrap="square" lIns="0" tIns="0" rIns="0" bIns="0" rtlCol="0" anchor="ctr"/>
          <a:lstStyle/>
          <a:p>
            <a:pPr indent="0" marL="0">
              <a:buNone/>
            </a:pPr>
            <a:r>
              <a:rPr lang="en-US" sz="750" b="1" spc="100" kern="0" dirty="0">
                <a:solidFill>
                  <a:srgbClr val="8AADC8"/>
                </a:solidFill>
              </a:rPr>
              <a:t>ROIC (FY2025)</a:t>
            </a:r>
            <a:endParaRPr lang="en-US" sz="750" dirty="0"/>
          </a:p>
        </p:txBody>
      </p:sp>
      <p:sp>
        <p:nvSpPr>
          <p:cNvPr id="24" name="Text 22"/>
          <p:cNvSpPr/>
          <p:nvPr/>
        </p:nvSpPr>
        <p:spPr>
          <a:xfrm>
            <a:off x="6291072" y="2734056"/>
            <a:ext cx="2651760" cy="420624"/>
          </a:xfrm>
          <a:prstGeom prst="rect">
            <a:avLst/>
          </a:prstGeom>
          <a:noFill/>
          <a:ln/>
        </p:spPr>
        <p:txBody>
          <a:bodyPr wrap="square" lIns="0" tIns="0" rIns="0" bIns="0" rtlCol="0" anchor="ctr"/>
          <a:lstStyle/>
          <a:p>
            <a:pPr indent="0" marL="0">
              <a:buNone/>
            </a:pPr>
            <a:r>
              <a:rPr lang="en-US" sz="2200" b="1" dirty="0">
                <a:solidFill>
                  <a:srgbClr val="E63946"/>
                </a:solidFill>
                <a:latin typeface="Georgia" pitchFamily="34" charset="0"/>
                <a:ea typeface="Georgia" pitchFamily="34" charset="-122"/>
                <a:cs typeface="Georgia" pitchFamily="34" charset="-120"/>
              </a:rPr>
              <a:t>~30%</a:t>
            </a:r>
            <a:endParaRPr lang="en-US" sz="2200" dirty="0"/>
          </a:p>
        </p:txBody>
      </p:sp>
      <p:sp>
        <p:nvSpPr>
          <p:cNvPr id="25" name="Text 23"/>
          <p:cNvSpPr/>
          <p:nvPr/>
        </p:nvSpPr>
        <p:spPr>
          <a:xfrm>
            <a:off x="6291072" y="3154680"/>
            <a:ext cx="2651760" cy="164592"/>
          </a:xfrm>
          <a:prstGeom prst="rect">
            <a:avLst/>
          </a:prstGeom>
          <a:noFill/>
          <a:ln/>
        </p:spPr>
        <p:txBody>
          <a:bodyPr wrap="square" lIns="0" tIns="0" rIns="0" bIns="0" rtlCol="0" anchor="ctr"/>
          <a:lstStyle/>
          <a:p>
            <a:pPr indent="0" marL="0">
              <a:buNone/>
            </a:pPr>
            <a:r>
              <a:rPr lang="en-US" sz="800" i="1" dirty="0">
                <a:solidFill>
                  <a:srgbClr val="6A8FA8"/>
                </a:solidFill>
              </a:rPr>
              <a:t>vs 9% WACC</a:t>
            </a:r>
            <a:endParaRPr lang="en-US" sz="800" dirty="0"/>
          </a:p>
        </p:txBody>
      </p:sp>
      <p:sp>
        <p:nvSpPr>
          <p:cNvPr id="26" name="Shape 24"/>
          <p:cNvSpPr/>
          <p:nvPr/>
        </p:nvSpPr>
        <p:spPr>
          <a:xfrm>
            <a:off x="6291072" y="3465576"/>
            <a:ext cx="2468880" cy="0"/>
          </a:xfrm>
          <a:prstGeom prst="line">
            <a:avLst/>
          </a:prstGeom>
          <a:noFill/>
          <a:ln w="6350">
            <a:solidFill>
              <a:srgbClr val="1E3D5A"/>
            </a:solidFill>
            <a:prstDash val="solid"/>
          </a:ln>
        </p:spPr>
      </p:sp>
      <p:sp>
        <p:nvSpPr>
          <p:cNvPr id="27" name="Text 25"/>
          <p:cNvSpPr/>
          <p:nvPr/>
        </p:nvSpPr>
        <p:spPr>
          <a:xfrm>
            <a:off x="6291072" y="3648456"/>
            <a:ext cx="2651760" cy="164592"/>
          </a:xfrm>
          <a:prstGeom prst="rect">
            <a:avLst/>
          </a:prstGeom>
          <a:noFill/>
          <a:ln/>
        </p:spPr>
        <p:txBody>
          <a:bodyPr wrap="square" lIns="0" tIns="0" rIns="0" bIns="0" rtlCol="0" anchor="ctr"/>
          <a:lstStyle/>
          <a:p>
            <a:pPr indent="0" marL="0">
              <a:buNone/>
            </a:pPr>
            <a:r>
              <a:rPr lang="en-US" sz="750" b="1" spc="100" kern="0" dirty="0">
                <a:solidFill>
                  <a:srgbClr val="8AADC8"/>
                </a:solidFill>
              </a:rPr>
              <a:t>EPS CAGR</a:t>
            </a:r>
            <a:endParaRPr lang="en-US" sz="750" dirty="0"/>
          </a:p>
        </p:txBody>
      </p:sp>
      <p:sp>
        <p:nvSpPr>
          <p:cNvPr id="28" name="Text 26"/>
          <p:cNvSpPr/>
          <p:nvPr/>
        </p:nvSpPr>
        <p:spPr>
          <a:xfrm>
            <a:off x="6291072" y="3813048"/>
            <a:ext cx="2651760" cy="420624"/>
          </a:xfrm>
          <a:prstGeom prst="rect">
            <a:avLst/>
          </a:prstGeom>
          <a:noFill/>
          <a:ln/>
        </p:spPr>
        <p:txBody>
          <a:bodyPr wrap="square" lIns="0" tIns="0" rIns="0" bIns="0" rtlCol="0" anchor="ctr"/>
          <a:lstStyle/>
          <a:p>
            <a:pPr indent="0" marL="0">
              <a:buNone/>
            </a:pPr>
            <a:r>
              <a:rPr lang="en-US" sz="2200" b="1" dirty="0">
                <a:solidFill>
                  <a:srgbClr val="E63946"/>
                </a:solidFill>
                <a:latin typeface="Georgia" pitchFamily="34" charset="0"/>
                <a:ea typeface="Georgia" pitchFamily="34" charset="-122"/>
                <a:cs typeface="Georgia" pitchFamily="34" charset="-120"/>
              </a:rPr>
              <a:t>~21%</a:t>
            </a:r>
            <a:endParaRPr lang="en-US" sz="2200" dirty="0"/>
          </a:p>
        </p:txBody>
      </p:sp>
      <p:sp>
        <p:nvSpPr>
          <p:cNvPr id="29" name="Text 27"/>
          <p:cNvSpPr/>
          <p:nvPr/>
        </p:nvSpPr>
        <p:spPr>
          <a:xfrm>
            <a:off x="6291072" y="4233672"/>
            <a:ext cx="2651760" cy="164592"/>
          </a:xfrm>
          <a:prstGeom prst="rect">
            <a:avLst/>
          </a:prstGeom>
          <a:noFill/>
          <a:ln/>
        </p:spPr>
        <p:txBody>
          <a:bodyPr wrap="square" lIns="0" tIns="0" rIns="0" bIns="0" rtlCol="0" anchor="ctr"/>
          <a:lstStyle/>
          <a:p>
            <a:pPr indent="0" marL="0">
              <a:buNone/>
            </a:pPr>
            <a:r>
              <a:rPr lang="en-US" sz="800" i="1" dirty="0">
                <a:solidFill>
                  <a:srgbClr val="6A8FA8"/>
                </a:solidFill>
              </a:rPr>
              <a:t>FY2022-FY2026</a:t>
            </a:r>
            <a:endParaRPr lang="en-US" sz="800" dirty="0"/>
          </a:p>
        </p:txBody>
      </p:sp>
      <p:sp>
        <p:nvSpPr>
          <p:cNvPr id="30" name="Text 28"/>
          <p:cNvSpPr/>
          <p:nvPr/>
        </p:nvSpPr>
        <p:spPr>
          <a:xfrm>
            <a:off x="457200" y="4892040"/>
            <a:ext cx="5394960" cy="164592"/>
          </a:xfrm>
          <a:prstGeom prst="rect">
            <a:avLst/>
          </a:prstGeom>
          <a:noFill/>
          <a:ln/>
        </p:spPr>
        <p:txBody>
          <a:bodyPr wrap="square" lIns="0" tIns="0" rIns="0" bIns="0" rtlCol="0" anchor="ctr"/>
          <a:lstStyle/>
          <a:p>
            <a:pPr indent="0" marL="0">
              <a:buNone/>
            </a:pPr>
            <a:r>
              <a:rPr lang="en-US" sz="750" dirty="0">
                <a:solidFill>
                  <a:srgbClr val="2A4D6B"/>
                </a:solidFill>
              </a:rPr>
              <a:t>Soni &amp; Warner  |  Saint Mary's University  |  2025</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8F5"/>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63946"/>
          </a:solidFill>
          <a:ln w="12700">
            <a:solidFill>
              <a:srgbClr val="E63946"/>
            </a:solidFill>
            <a:prstDash val="solid"/>
          </a:ln>
        </p:spPr>
      </p:sp>
      <p:sp>
        <p:nvSpPr>
          <p:cNvPr id="3" name="Text 1"/>
          <p:cNvSpPr/>
          <p:nvPr/>
        </p:nvSpPr>
        <p:spPr>
          <a:xfrm>
            <a:off x="201168" y="4956048"/>
            <a:ext cx="6400800" cy="146304"/>
          </a:xfrm>
          <a:prstGeom prst="rect">
            <a:avLst/>
          </a:prstGeom>
          <a:noFill/>
          <a:ln/>
        </p:spPr>
        <p:txBody>
          <a:bodyPr wrap="square" lIns="0" tIns="0" rIns="0" bIns="0" rtlCol="0" anchor="ctr"/>
          <a:lstStyle/>
          <a:p>
            <a:pPr indent="0" marL="0">
              <a:buNone/>
            </a:pPr>
            <a:r>
              <a:rPr lang="en-US" sz="650" dirty="0">
                <a:solidFill>
                  <a:srgbClr val="AAAAAA"/>
                </a:solidFill>
              </a:rPr>
              <a:t>MBAN5570  |  Soni &amp; Warner 2025  |  Dollarama Inc. (DOL.TO)</a:t>
            </a:r>
            <a:endParaRPr lang="en-US" sz="650" dirty="0"/>
          </a:p>
        </p:txBody>
      </p:sp>
      <p:sp>
        <p:nvSpPr>
          <p:cNvPr id="4" name="Text 2"/>
          <p:cNvSpPr/>
          <p:nvPr/>
        </p:nvSpPr>
        <p:spPr>
          <a:xfrm>
            <a:off x="7772400" y="4956048"/>
            <a:ext cx="1188720" cy="146304"/>
          </a:xfrm>
          <a:prstGeom prst="rect">
            <a:avLst/>
          </a:prstGeom>
          <a:noFill/>
          <a:ln/>
        </p:spPr>
        <p:txBody>
          <a:bodyPr wrap="square" lIns="0" tIns="0" rIns="0" bIns="0" rtlCol="0" anchor="ctr"/>
          <a:lstStyle/>
          <a:p>
            <a:pPr algn="r" indent="0" marL="0">
              <a:buNone/>
            </a:pPr>
            <a:r>
              <a:rPr lang="en-US" sz="650" dirty="0">
                <a:solidFill>
                  <a:srgbClr val="AAAAAA"/>
                </a:solidFill>
              </a:rPr>
              <a:t>Slide 2 / 6</a:t>
            </a:r>
            <a:endParaRPr lang="en-US" sz="650" dirty="0"/>
          </a:p>
        </p:txBody>
      </p:sp>
      <p:sp>
        <p:nvSpPr>
          <p:cNvPr id="5" name="Shape 3"/>
          <p:cNvSpPr/>
          <p:nvPr/>
        </p:nvSpPr>
        <p:spPr>
          <a:xfrm>
            <a:off x="0" y="164592"/>
            <a:ext cx="91440" cy="292608"/>
          </a:xfrm>
          <a:prstGeom prst="rect">
            <a:avLst/>
          </a:prstGeom>
          <a:solidFill>
            <a:srgbClr val="FFFFFF"/>
          </a:solidFill>
          <a:ln w="12700">
            <a:solidFill>
              <a:srgbClr val="FFFFFF"/>
            </a:solidFill>
            <a:prstDash val="solid"/>
          </a:ln>
        </p:spPr>
      </p:sp>
      <p:sp>
        <p:nvSpPr>
          <p:cNvPr id="6" name="Text 4"/>
          <p:cNvSpPr/>
          <p:nvPr/>
        </p:nvSpPr>
        <p:spPr>
          <a:xfrm>
            <a:off x="0" y="164592"/>
            <a:ext cx="91440" cy="292608"/>
          </a:xfrm>
          <a:prstGeom prst="rect">
            <a:avLst/>
          </a:prstGeom>
          <a:noFill/>
          <a:ln/>
        </p:spPr>
        <p:txBody>
          <a:bodyPr wrap="square" lIns="0" tIns="0" rIns="0" bIns="0" rtlCol="0" anchor="ctr"/>
          <a:lstStyle/>
          <a:p>
            <a:pPr algn="ctr" indent="0" marL="0">
              <a:buNone/>
            </a:pPr>
            <a:r>
              <a:rPr lang="en-US" sz="750" b="1" dirty="0">
                <a:solidFill>
                  <a:srgbClr val="E63946"/>
                </a:solidFill>
              </a:rPr>
              <a:t>2</a:t>
            </a:r>
            <a:endParaRPr lang="en-US" sz="750" dirty="0"/>
          </a:p>
        </p:txBody>
      </p:sp>
      <p:sp>
        <p:nvSpPr>
          <p:cNvPr id="7" name="Text 5"/>
          <p:cNvSpPr/>
          <p:nvPr/>
        </p:nvSpPr>
        <p:spPr>
          <a:xfrm>
            <a:off x="201168" y="91440"/>
            <a:ext cx="7680960" cy="457200"/>
          </a:xfrm>
          <a:prstGeom prst="rect">
            <a:avLst/>
          </a:prstGeom>
          <a:noFill/>
          <a:ln/>
        </p:spPr>
        <p:txBody>
          <a:bodyPr wrap="square" lIns="0" tIns="0" rIns="0" bIns="0" rtlCol="0" anchor="ctr"/>
          <a:lstStyle/>
          <a:p>
            <a:pPr indent="0" marL="0">
              <a:buNone/>
            </a:pPr>
            <a:r>
              <a:rPr lang="en-US" sz="2400" b="1" dirty="0">
                <a:solidFill>
                  <a:srgbClr val="1D3557"/>
                </a:solidFill>
                <a:latin typeface="Georgia" pitchFamily="34" charset="0"/>
                <a:ea typeface="Georgia" pitchFamily="34" charset="-122"/>
                <a:cs typeface="Georgia" pitchFamily="34" charset="-120"/>
              </a:rPr>
              <a:t>A Moat Built on Scale, Not Just Price</a:t>
            </a:r>
            <a:endParaRPr lang="en-US" sz="2400" dirty="0"/>
          </a:p>
        </p:txBody>
      </p:sp>
      <p:sp>
        <p:nvSpPr>
          <p:cNvPr id="8" name="Text 6"/>
          <p:cNvSpPr/>
          <p:nvPr/>
        </p:nvSpPr>
        <p:spPr>
          <a:xfrm>
            <a:off x="201168" y="530352"/>
            <a:ext cx="6858000" cy="182880"/>
          </a:xfrm>
          <a:prstGeom prst="rect">
            <a:avLst/>
          </a:prstGeom>
          <a:noFill/>
          <a:ln/>
        </p:spPr>
        <p:txBody>
          <a:bodyPr wrap="square" lIns="0" tIns="0" rIns="0" bIns="0" rtlCol="0" anchor="ctr"/>
          <a:lstStyle/>
          <a:p>
            <a:pPr indent="0" marL="0">
              <a:buNone/>
            </a:pPr>
            <a:r>
              <a:rPr lang="en-US" sz="950" i="1" dirty="0">
                <a:solidFill>
                  <a:srgbClr val="5A6472"/>
                </a:solidFill>
              </a:rPr>
              <a:t>Business model | Governance | IPO compounding | Shareholder value creation</a:t>
            </a:r>
            <a:endParaRPr lang="en-US" sz="950" dirty="0"/>
          </a:p>
        </p:txBody>
      </p:sp>
      <p:sp>
        <p:nvSpPr>
          <p:cNvPr id="9" name="Shape 7"/>
          <p:cNvSpPr/>
          <p:nvPr/>
        </p:nvSpPr>
        <p:spPr>
          <a:xfrm>
            <a:off x="7973568" y="109728"/>
            <a:ext cx="914400" cy="201168"/>
          </a:xfrm>
          <a:prstGeom prst="rect">
            <a:avLst/>
          </a:prstGeom>
          <a:solidFill>
            <a:srgbClr val="EBF0F5"/>
          </a:solidFill>
          <a:ln w="6350">
            <a:solidFill>
              <a:srgbClr val="457B9D"/>
            </a:solidFill>
            <a:prstDash val="solid"/>
          </a:ln>
        </p:spPr>
      </p:sp>
      <p:sp>
        <p:nvSpPr>
          <p:cNvPr id="10" name="Text 8"/>
          <p:cNvSpPr/>
          <p:nvPr/>
        </p:nvSpPr>
        <p:spPr>
          <a:xfrm>
            <a:off x="7973568" y="109728"/>
            <a:ext cx="914400" cy="201168"/>
          </a:xfrm>
          <a:prstGeom prst="rect">
            <a:avLst/>
          </a:prstGeom>
          <a:noFill/>
          <a:ln/>
        </p:spPr>
        <p:txBody>
          <a:bodyPr wrap="square" lIns="0" tIns="0" rIns="0" bIns="0" rtlCol="0" anchor="ctr"/>
          <a:lstStyle/>
          <a:p>
            <a:pPr algn="ctr" indent="0" marL="0">
              <a:buNone/>
            </a:pPr>
            <a:r>
              <a:rPr lang="en-US" sz="750" dirty="0">
                <a:solidFill>
                  <a:srgbClr val="1D3557"/>
                </a:solidFill>
              </a:rPr>
              <a:t>~1:30</a:t>
            </a:r>
            <a:endParaRPr lang="en-US" sz="750" dirty="0"/>
          </a:p>
        </p:txBody>
      </p:sp>
      <p:sp>
        <p:nvSpPr>
          <p:cNvPr id="11" name="Shape 9"/>
          <p:cNvSpPr/>
          <p:nvPr/>
        </p:nvSpPr>
        <p:spPr>
          <a:xfrm>
            <a:off x="201168" y="768096"/>
            <a:ext cx="8686800" cy="0"/>
          </a:xfrm>
          <a:prstGeom prst="line">
            <a:avLst/>
          </a:prstGeom>
          <a:noFill/>
          <a:ln w="6350">
            <a:solidFill>
              <a:srgbClr val="D0D0D0"/>
            </a:solidFill>
            <a:prstDash val="solid"/>
          </a:ln>
        </p:spPr>
      </p:sp>
      <p:sp>
        <p:nvSpPr>
          <p:cNvPr id="12" name="Shape 10"/>
          <p:cNvSpPr/>
          <p:nvPr/>
        </p:nvSpPr>
        <p:spPr>
          <a:xfrm>
            <a:off x="201168" y="932688"/>
            <a:ext cx="2834640" cy="3840480"/>
          </a:xfrm>
          <a:prstGeom prst="rect">
            <a:avLst/>
          </a:prstGeom>
          <a:solidFill>
            <a:srgbClr val="FFFFFF"/>
          </a:solidFill>
          <a:ln w="6350">
            <a:solidFill>
              <a:srgbClr val="E0E0E0"/>
            </a:solidFill>
            <a:prstDash val="solid"/>
          </a:ln>
          <a:effectLst>
            <a:outerShdw sx="100000" sy="100000" kx="0" ky="0" algn="bl" rotWithShape="0" blurRad="88900" dist="25400" dir="8100000">
              <a:srgbClr val="000000">
                <a:alpha val="10000"/>
              </a:srgbClr>
            </a:outerShdw>
          </a:effectLst>
        </p:spPr>
      </p:sp>
      <p:sp>
        <p:nvSpPr>
          <p:cNvPr id="13" name="Shape 11"/>
          <p:cNvSpPr/>
          <p:nvPr/>
        </p:nvSpPr>
        <p:spPr>
          <a:xfrm>
            <a:off x="201168" y="932688"/>
            <a:ext cx="2834640" cy="50292"/>
          </a:xfrm>
          <a:prstGeom prst="rect">
            <a:avLst/>
          </a:prstGeom>
          <a:solidFill>
            <a:srgbClr val="E63946"/>
          </a:solidFill>
          <a:ln w="12700">
            <a:solidFill>
              <a:srgbClr val="E63946"/>
            </a:solidFill>
            <a:prstDash val="solid"/>
          </a:ln>
        </p:spPr>
      </p:sp>
      <p:sp>
        <p:nvSpPr>
          <p:cNvPr id="14" name="Text 12"/>
          <p:cNvSpPr/>
          <p:nvPr/>
        </p:nvSpPr>
        <p:spPr>
          <a:xfrm>
            <a:off x="310896" y="1005840"/>
            <a:ext cx="2615184" cy="182880"/>
          </a:xfrm>
          <a:prstGeom prst="rect">
            <a:avLst/>
          </a:prstGeom>
          <a:noFill/>
          <a:ln/>
        </p:spPr>
        <p:txBody>
          <a:bodyPr wrap="square" lIns="0" tIns="0" rIns="0" bIns="0" rtlCol="0" anchor="ctr"/>
          <a:lstStyle/>
          <a:p>
            <a:pPr indent="0" marL="0">
              <a:buNone/>
            </a:pPr>
            <a:r>
              <a:rPr lang="en-US" sz="800" b="1" spc="130" kern="0" dirty="0">
                <a:solidFill>
                  <a:srgbClr val="5A6472"/>
                </a:solidFill>
              </a:rPr>
              <a:t>BUSINESS MODEL</a:t>
            </a:r>
            <a:endParaRPr lang="en-US" sz="800" dirty="0"/>
          </a:p>
        </p:txBody>
      </p:sp>
      <p:sp>
        <p:nvSpPr>
          <p:cNvPr id="15" name="Shape 13"/>
          <p:cNvSpPr/>
          <p:nvPr/>
        </p:nvSpPr>
        <p:spPr>
          <a:xfrm>
            <a:off x="201168" y="1225296"/>
            <a:ext cx="2834640" cy="438912"/>
          </a:xfrm>
          <a:prstGeom prst="rect">
            <a:avLst/>
          </a:prstGeom>
          <a:solidFill>
            <a:srgbClr val="F5F8FA"/>
          </a:solidFill>
          <a:ln w="12700">
            <a:solidFill>
              <a:srgbClr val="F5F8FA"/>
            </a:solidFill>
            <a:prstDash val="solid"/>
          </a:ln>
        </p:spPr>
      </p:sp>
      <p:sp>
        <p:nvSpPr>
          <p:cNvPr id="16" name="Text 14"/>
          <p:cNvSpPr/>
          <p:nvPr/>
        </p:nvSpPr>
        <p:spPr>
          <a:xfrm>
            <a:off x="310896" y="1261872"/>
            <a:ext cx="1005840" cy="182880"/>
          </a:xfrm>
          <a:prstGeom prst="rect">
            <a:avLst/>
          </a:prstGeom>
          <a:noFill/>
          <a:ln/>
        </p:spPr>
        <p:txBody>
          <a:bodyPr wrap="square" lIns="0" tIns="0" rIns="0" bIns="0" rtlCol="0" anchor="ctr"/>
          <a:lstStyle/>
          <a:p>
            <a:pPr indent="0" marL="0">
              <a:buNone/>
            </a:pPr>
            <a:r>
              <a:rPr lang="en-US" sz="800" b="1" dirty="0">
                <a:solidFill>
                  <a:srgbClr val="5A6472"/>
                </a:solidFill>
              </a:rPr>
              <a:t>Format</a:t>
            </a:r>
            <a:endParaRPr lang="en-US" sz="800" dirty="0"/>
          </a:p>
        </p:txBody>
      </p:sp>
      <p:sp>
        <p:nvSpPr>
          <p:cNvPr id="17" name="Text 15"/>
          <p:cNvSpPr/>
          <p:nvPr/>
        </p:nvSpPr>
        <p:spPr>
          <a:xfrm>
            <a:off x="1316736" y="1261872"/>
            <a:ext cx="1627632" cy="347472"/>
          </a:xfrm>
          <a:prstGeom prst="rect">
            <a:avLst/>
          </a:prstGeom>
          <a:noFill/>
          <a:ln/>
        </p:spPr>
        <p:txBody>
          <a:bodyPr wrap="square" lIns="0" tIns="0" rIns="0" bIns="0" rtlCol="0" anchor="ctr"/>
          <a:lstStyle/>
          <a:p>
            <a:pPr indent="0" marL="0">
              <a:buNone/>
            </a:pPr>
            <a:r>
              <a:rPr lang="en-US" sz="850" dirty="0">
                <a:solidFill>
                  <a:srgbClr val="111111"/>
                </a:solidFill>
              </a:rPr>
              <a:t>Fixed-price $1.25-$5.00 CAD</a:t>
            </a:r>
            <a:endParaRPr lang="en-US" sz="850" dirty="0"/>
          </a:p>
        </p:txBody>
      </p:sp>
      <p:sp>
        <p:nvSpPr>
          <p:cNvPr id="18" name="Text 16"/>
          <p:cNvSpPr/>
          <p:nvPr/>
        </p:nvSpPr>
        <p:spPr>
          <a:xfrm>
            <a:off x="310896" y="1719072"/>
            <a:ext cx="1005840" cy="182880"/>
          </a:xfrm>
          <a:prstGeom prst="rect">
            <a:avLst/>
          </a:prstGeom>
          <a:noFill/>
          <a:ln/>
        </p:spPr>
        <p:txBody>
          <a:bodyPr wrap="square" lIns="0" tIns="0" rIns="0" bIns="0" rtlCol="0" anchor="ctr"/>
          <a:lstStyle/>
          <a:p>
            <a:pPr indent="0" marL="0">
              <a:buNone/>
            </a:pPr>
            <a:r>
              <a:rPr lang="en-US" sz="800" b="1" dirty="0">
                <a:solidFill>
                  <a:srgbClr val="5A6472"/>
                </a:solidFill>
              </a:rPr>
              <a:t>Stores (Canada)</a:t>
            </a:r>
            <a:endParaRPr lang="en-US" sz="800" dirty="0"/>
          </a:p>
        </p:txBody>
      </p:sp>
      <p:sp>
        <p:nvSpPr>
          <p:cNvPr id="19" name="Text 17"/>
          <p:cNvSpPr/>
          <p:nvPr/>
        </p:nvSpPr>
        <p:spPr>
          <a:xfrm>
            <a:off x="1316736" y="1719072"/>
            <a:ext cx="1627632" cy="347472"/>
          </a:xfrm>
          <a:prstGeom prst="rect">
            <a:avLst/>
          </a:prstGeom>
          <a:noFill/>
          <a:ln/>
        </p:spPr>
        <p:txBody>
          <a:bodyPr wrap="square" lIns="0" tIns="0" rIns="0" bIns="0" rtlCol="0" anchor="ctr"/>
          <a:lstStyle/>
          <a:p>
            <a:pPr indent="0" marL="0">
              <a:buNone/>
            </a:pPr>
            <a:r>
              <a:rPr lang="en-US" sz="850" dirty="0">
                <a:solidFill>
                  <a:srgbClr val="111111"/>
                </a:solidFill>
              </a:rPr>
              <a:t>1,616 today; target 2,200 by 2034</a:t>
            </a:r>
            <a:endParaRPr lang="en-US" sz="850" dirty="0"/>
          </a:p>
        </p:txBody>
      </p:sp>
      <p:sp>
        <p:nvSpPr>
          <p:cNvPr id="20" name="Shape 18"/>
          <p:cNvSpPr/>
          <p:nvPr/>
        </p:nvSpPr>
        <p:spPr>
          <a:xfrm>
            <a:off x="201168" y="2139696"/>
            <a:ext cx="2834640" cy="438912"/>
          </a:xfrm>
          <a:prstGeom prst="rect">
            <a:avLst/>
          </a:prstGeom>
          <a:solidFill>
            <a:srgbClr val="F5F8FA"/>
          </a:solidFill>
          <a:ln w="12700">
            <a:solidFill>
              <a:srgbClr val="F5F8FA"/>
            </a:solidFill>
            <a:prstDash val="solid"/>
          </a:ln>
        </p:spPr>
      </p:sp>
      <p:sp>
        <p:nvSpPr>
          <p:cNvPr id="21" name="Text 19"/>
          <p:cNvSpPr/>
          <p:nvPr/>
        </p:nvSpPr>
        <p:spPr>
          <a:xfrm>
            <a:off x="310896" y="2176272"/>
            <a:ext cx="1005840" cy="182880"/>
          </a:xfrm>
          <a:prstGeom prst="rect">
            <a:avLst/>
          </a:prstGeom>
          <a:noFill/>
          <a:ln/>
        </p:spPr>
        <p:txBody>
          <a:bodyPr wrap="square" lIns="0" tIns="0" rIns="0" bIns="0" rtlCol="0" anchor="ctr"/>
          <a:lstStyle/>
          <a:p>
            <a:pPr indent="0" marL="0">
              <a:buNone/>
            </a:pPr>
            <a:r>
              <a:rPr lang="en-US" sz="800" b="1" dirty="0">
                <a:solidFill>
                  <a:srgbClr val="5A6472"/>
                </a:solidFill>
              </a:rPr>
              <a:t>Revenue mix</a:t>
            </a:r>
            <a:endParaRPr lang="en-US" sz="800" dirty="0"/>
          </a:p>
        </p:txBody>
      </p:sp>
      <p:sp>
        <p:nvSpPr>
          <p:cNvPr id="22" name="Text 20"/>
          <p:cNvSpPr/>
          <p:nvPr/>
        </p:nvSpPr>
        <p:spPr>
          <a:xfrm>
            <a:off x="1316736" y="2176272"/>
            <a:ext cx="1627632" cy="347472"/>
          </a:xfrm>
          <a:prstGeom prst="rect">
            <a:avLst/>
          </a:prstGeom>
          <a:noFill/>
          <a:ln/>
        </p:spPr>
        <p:txBody>
          <a:bodyPr wrap="square" lIns="0" tIns="0" rIns="0" bIns="0" rtlCol="0" anchor="ctr"/>
          <a:lstStyle/>
          <a:p>
            <a:pPr indent="0" marL="0">
              <a:buNone/>
            </a:pPr>
            <a:r>
              <a:rPr lang="en-US" sz="850" dirty="0">
                <a:solidFill>
                  <a:srgbClr val="111111"/>
                </a:solidFill>
              </a:rPr>
              <a:t>90% consumables &amp; everyday essentials</a:t>
            </a:r>
            <a:endParaRPr lang="en-US" sz="850" dirty="0"/>
          </a:p>
        </p:txBody>
      </p:sp>
      <p:sp>
        <p:nvSpPr>
          <p:cNvPr id="23" name="Text 21"/>
          <p:cNvSpPr/>
          <p:nvPr/>
        </p:nvSpPr>
        <p:spPr>
          <a:xfrm>
            <a:off x="310896" y="2633472"/>
            <a:ext cx="1005840" cy="182880"/>
          </a:xfrm>
          <a:prstGeom prst="rect">
            <a:avLst/>
          </a:prstGeom>
          <a:noFill/>
          <a:ln/>
        </p:spPr>
        <p:txBody>
          <a:bodyPr wrap="square" lIns="0" tIns="0" rIns="0" bIns="0" rtlCol="0" anchor="ctr"/>
          <a:lstStyle/>
          <a:p>
            <a:pPr indent="0" marL="0">
              <a:buNone/>
            </a:pPr>
            <a:r>
              <a:rPr lang="en-US" sz="800" b="1" dirty="0">
                <a:solidFill>
                  <a:srgbClr val="5A6472"/>
                </a:solidFill>
              </a:rPr>
              <a:t>Dollarcity</a:t>
            </a:r>
            <a:endParaRPr lang="en-US" sz="800" dirty="0"/>
          </a:p>
        </p:txBody>
      </p:sp>
      <p:sp>
        <p:nvSpPr>
          <p:cNvPr id="24" name="Text 22"/>
          <p:cNvSpPr/>
          <p:nvPr/>
        </p:nvSpPr>
        <p:spPr>
          <a:xfrm>
            <a:off x="1316736" y="2633472"/>
            <a:ext cx="1627632" cy="347472"/>
          </a:xfrm>
          <a:prstGeom prst="rect">
            <a:avLst/>
          </a:prstGeom>
          <a:noFill/>
          <a:ln/>
        </p:spPr>
        <p:txBody>
          <a:bodyPr wrap="square" lIns="0" tIns="0" rIns="0" bIns="0" rtlCol="0" anchor="ctr"/>
          <a:lstStyle/>
          <a:p>
            <a:pPr indent="0" marL="0">
              <a:buNone/>
            </a:pPr>
            <a:r>
              <a:rPr lang="en-US" sz="850" dirty="0">
                <a:solidFill>
                  <a:srgbClr val="111111"/>
                </a:solidFill>
              </a:rPr>
              <a:t>60.1% owned; 632 LatAm stores</a:t>
            </a:r>
            <a:endParaRPr lang="en-US" sz="850" dirty="0"/>
          </a:p>
        </p:txBody>
      </p:sp>
      <p:sp>
        <p:nvSpPr>
          <p:cNvPr id="25" name="Shape 23"/>
          <p:cNvSpPr/>
          <p:nvPr/>
        </p:nvSpPr>
        <p:spPr>
          <a:xfrm>
            <a:off x="201168" y="3054096"/>
            <a:ext cx="2834640" cy="438912"/>
          </a:xfrm>
          <a:prstGeom prst="rect">
            <a:avLst/>
          </a:prstGeom>
          <a:solidFill>
            <a:srgbClr val="F5F8FA"/>
          </a:solidFill>
          <a:ln w="12700">
            <a:solidFill>
              <a:srgbClr val="F5F8FA"/>
            </a:solidFill>
            <a:prstDash val="solid"/>
          </a:ln>
        </p:spPr>
      </p:sp>
      <p:sp>
        <p:nvSpPr>
          <p:cNvPr id="26" name="Text 24"/>
          <p:cNvSpPr/>
          <p:nvPr/>
        </p:nvSpPr>
        <p:spPr>
          <a:xfrm>
            <a:off x="310896" y="3090672"/>
            <a:ext cx="1005840" cy="182880"/>
          </a:xfrm>
          <a:prstGeom prst="rect">
            <a:avLst/>
          </a:prstGeom>
          <a:noFill/>
          <a:ln/>
        </p:spPr>
        <p:txBody>
          <a:bodyPr wrap="square" lIns="0" tIns="0" rIns="0" bIns="0" rtlCol="0" anchor="ctr"/>
          <a:lstStyle/>
          <a:p>
            <a:pPr indent="0" marL="0">
              <a:buNone/>
            </a:pPr>
            <a:r>
              <a:rPr lang="en-US" sz="800" b="1" dirty="0">
                <a:solidFill>
                  <a:srgbClr val="5A6472"/>
                </a:solidFill>
              </a:rPr>
              <a:t>Reject Shop</a:t>
            </a:r>
            <a:endParaRPr lang="en-US" sz="800" dirty="0"/>
          </a:p>
        </p:txBody>
      </p:sp>
      <p:sp>
        <p:nvSpPr>
          <p:cNvPr id="27" name="Text 25"/>
          <p:cNvSpPr/>
          <p:nvPr/>
        </p:nvSpPr>
        <p:spPr>
          <a:xfrm>
            <a:off x="1316736" y="3090672"/>
            <a:ext cx="1627632" cy="347472"/>
          </a:xfrm>
          <a:prstGeom prst="rect">
            <a:avLst/>
          </a:prstGeom>
          <a:noFill/>
          <a:ln/>
        </p:spPr>
        <p:txBody>
          <a:bodyPr wrap="square" lIns="0" tIns="0" rIns="0" bIns="0" rtlCol="0" anchor="ctr"/>
          <a:lstStyle/>
          <a:p>
            <a:pPr indent="0" marL="0">
              <a:buNone/>
            </a:pPr>
            <a:r>
              <a:rPr lang="en-US" sz="850" dirty="0">
                <a:solidFill>
                  <a:srgbClr val="111111"/>
                </a:solidFill>
              </a:rPr>
              <a:t>Acquired Dec 2025; ~330 Australia stores</a:t>
            </a:r>
            <a:endParaRPr lang="en-US" sz="850" dirty="0"/>
          </a:p>
        </p:txBody>
      </p:sp>
      <p:sp>
        <p:nvSpPr>
          <p:cNvPr id="28" name="Text 26"/>
          <p:cNvSpPr/>
          <p:nvPr/>
        </p:nvSpPr>
        <p:spPr>
          <a:xfrm>
            <a:off x="310896" y="3547872"/>
            <a:ext cx="1005840" cy="182880"/>
          </a:xfrm>
          <a:prstGeom prst="rect">
            <a:avLst/>
          </a:prstGeom>
          <a:noFill/>
          <a:ln/>
        </p:spPr>
        <p:txBody>
          <a:bodyPr wrap="square" lIns="0" tIns="0" rIns="0" bIns="0" rtlCol="0" anchor="ctr"/>
          <a:lstStyle/>
          <a:p>
            <a:pPr indent="0" marL="0">
              <a:buNone/>
            </a:pPr>
            <a:r>
              <a:rPr lang="en-US" sz="800" b="1" dirty="0">
                <a:solidFill>
                  <a:srgbClr val="5A6472"/>
                </a:solidFill>
              </a:rPr>
              <a:t>Capital model</a:t>
            </a:r>
            <a:endParaRPr lang="en-US" sz="800" dirty="0"/>
          </a:p>
        </p:txBody>
      </p:sp>
      <p:sp>
        <p:nvSpPr>
          <p:cNvPr id="29" name="Text 27"/>
          <p:cNvSpPr/>
          <p:nvPr/>
        </p:nvSpPr>
        <p:spPr>
          <a:xfrm>
            <a:off x="1316736" y="3547872"/>
            <a:ext cx="1627632" cy="347472"/>
          </a:xfrm>
          <a:prstGeom prst="rect">
            <a:avLst/>
          </a:prstGeom>
          <a:noFill/>
          <a:ln/>
        </p:spPr>
        <p:txBody>
          <a:bodyPr wrap="square" lIns="0" tIns="0" rIns="0" bIns="0" rtlCol="0" anchor="ctr"/>
          <a:lstStyle/>
          <a:p>
            <a:pPr indent="0" marL="0">
              <a:buNone/>
            </a:pPr>
            <a:r>
              <a:rPr lang="en-US" sz="850" dirty="0">
                <a:solidFill>
                  <a:srgbClr val="111111"/>
                </a:solidFill>
              </a:rPr>
              <a:t>Asset-light; high FCF conversion</a:t>
            </a:r>
            <a:endParaRPr lang="en-US" sz="850" dirty="0"/>
          </a:p>
        </p:txBody>
      </p:sp>
      <p:sp>
        <p:nvSpPr>
          <p:cNvPr id="30" name="Shape 28"/>
          <p:cNvSpPr/>
          <p:nvPr/>
        </p:nvSpPr>
        <p:spPr>
          <a:xfrm>
            <a:off x="201168" y="3968496"/>
            <a:ext cx="2834640" cy="438912"/>
          </a:xfrm>
          <a:prstGeom prst="rect">
            <a:avLst/>
          </a:prstGeom>
          <a:solidFill>
            <a:srgbClr val="F5F8FA"/>
          </a:solidFill>
          <a:ln w="12700">
            <a:solidFill>
              <a:srgbClr val="F5F8FA"/>
            </a:solidFill>
            <a:prstDash val="solid"/>
          </a:ln>
        </p:spPr>
      </p:sp>
      <p:sp>
        <p:nvSpPr>
          <p:cNvPr id="31" name="Text 29"/>
          <p:cNvSpPr/>
          <p:nvPr/>
        </p:nvSpPr>
        <p:spPr>
          <a:xfrm>
            <a:off x="310896" y="4005072"/>
            <a:ext cx="1005840" cy="182880"/>
          </a:xfrm>
          <a:prstGeom prst="rect">
            <a:avLst/>
          </a:prstGeom>
          <a:noFill/>
          <a:ln/>
        </p:spPr>
        <p:txBody>
          <a:bodyPr wrap="square" lIns="0" tIns="0" rIns="0" bIns="0" rtlCol="0" anchor="ctr"/>
          <a:lstStyle/>
          <a:p>
            <a:pPr indent="0" marL="0">
              <a:buNone/>
            </a:pPr>
            <a:r>
              <a:rPr lang="en-US" sz="800" b="1" dirty="0">
                <a:solidFill>
                  <a:srgbClr val="5A6472"/>
                </a:solidFill>
              </a:rPr>
              <a:t>New store economics</a:t>
            </a:r>
            <a:endParaRPr lang="en-US" sz="800" dirty="0"/>
          </a:p>
        </p:txBody>
      </p:sp>
      <p:sp>
        <p:nvSpPr>
          <p:cNvPr id="32" name="Text 30"/>
          <p:cNvSpPr/>
          <p:nvPr/>
        </p:nvSpPr>
        <p:spPr>
          <a:xfrm>
            <a:off x="1316736" y="4005072"/>
            <a:ext cx="1627632" cy="347472"/>
          </a:xfrm>
          <a:prstGeom prst="rect">
            <a:avLst/>
          </a:prstGeom>
          <a:noFill/>
          <a:ln/>
        </p:spPr>
        <p:txBody>
          <a:bodyPr wrap="square" lIns="0" tIns="0" rIns="0" bIns="0" rtlCol="0" anchor="ctr"/>
          <a:lstStyle/>
          <a:p>
            <a:pPr indent="0" marL="0">
              <a:buNone/>
            </a:pPr>
            <a:r>
              <a:rPr lang="en-US" sz="850" dirty="0">
                <a:solidFill>
                  <a:srgbClr val="111111"/>
                </a:solidFill>
              </a:rPr>
              <a:t>$0.9M invest; ~$3.2M sales yr 2; 2-yr payback</a:t>
            </a:r>
            <a:endParaRPr lang="en-US" sz="850" dirty="0"/>
          </a:p>
        </p:txBody>
      </p:sp>
      <p:sp>
        <p:nvSpPr>
          <p:cNvPr id="33" name="Shape 31"/>
          <p:cNvSpPr/>
          <p:nvPr/>
        </p:nvSpPr>
        <p:spPr>
          <a:xfrm>
            <a:off x="3246120" y="932688"/>
            <a:ext cx="2560320" cy="3840480"/>
          </a:xfrm>
          <a:prstGeom prst="rect">
            <a:avLst/>
          </a:prstGeom>
          <a:solidFill>
            <a:srgbClr val="FFFFFF"/>
          </a:solidFill>
          <a:ln w="6350">
            <a:solidFill>
              <a:srgbClr val="E0E0E0"/>
            </a:solidFill>
            <a:prstDash val="solid"/>
          </a:ln>
          <a:effectLst>
            <a:outerShdw sx="100000" sy="100000" kx="0" ky="0" algn="bl" rotWithShape="0" blurRad="88900" dist="25400" dir="8100000">
              <a:srgbClr val="000000">
                <a:alpha val="10000"/>
              </a:srgbClr>
            </a:outerShdw>
          </a:effectLst>
        </p:spPr>
      </p:sp>
      <p:sp>
        <p:nvSpPr>
          <p:cNvPr id="34" name="Shape 32"/>
          <p:cNvSpPr/>
          <p:nvPr/>
        </p:nvSpPr>
        <p:spPr>
          <a:xfrm>
            <a:off x="3246120" y="932688"/>
            <a:ext cx="2560320" cy="50292"/>
          </a:xfrm>
          <a:prstGeom prst="rect">
            <a:avLst/>
          </a:prstGeom>
          <a:solidFill>
            <a:srgbClr val="1D3557"/>
          </a:solidFill>
          <a:ln w="12700">
            <a:solidFill>
              <a:srgbClr val="1D3557"/>
            </a:solidFill>
            <a:prstDash val="solid"/>
          </a:ln>
        </p:spPr>
      </p:sp>
      <p:sp>
        <p:nvSpPr>
          <p:cNvPr id="35" name="Text 33"/>
          <p:cNvSpPr/>
          <p:nvPr/>
        </p:nvSpPr>
        <p:spPr>
          <a:xfrm>
            <a:off x="3355848" y="1005840"/>
            <a:ext cx="2340864" cy="182880"/>
          </a:xfrm>
          <a:prstGeom prst="rect">
            <a:avLst/>
          </a:prstGeom>
          <a:noFill/>
          <a:ln/>
        </p:spPr>
        <p:txBody>
          <a:bodyPr wrap="square" lIns="0" tIns="0" rIns="0" bIns="0" rtlCol="0" anchor="ctr"/>
          <a:lstStyle/>
          <a:p>
            <a:pPr indent="0" marL="0">
              <a:buNone/>
            </a:pPr>
            <a:r>
              <a:rPr lang="en-US" sz="800" b="1" spc="100" kern="0" dirty="0">
                <a:solidFill>
                  <a:srgbClr val="5A6472"/>
                </a:solidFill>
              </a:rPr>
              <a:t>GOVERNANCE + MOAT SCORECARD</a:t>
            </a:r>
            <a:endParaRPr lang="en-US" sz="800" dirty="0"/>
          </a:p>
        </p:txBody>
      </p:sp>
      <p:sp>
        <p:nvSpPr>
          <p:cNvPr id="36" name="Text 34"/>
          <p:cNvSpPr/>
          <p:nvPr/>
        </p:nvSpPr>
        <p:spPr>
          <a:xfrm>
            <a:off x="3355848" y="1261872"/>
            <a:ext cx="2331720" cy="256032"/>
          </a:xfrm>
          <a:prstGeom prst="rect">
            <a:avLst/>
          </a:prstGeom>
          <a:noFill/>
          <a:ln/>
        </p:spPr>
        <p:txBody>
          <a:bodyPr wrap="square" lIns="0" tIns="0" rIns="0" bIns="0" rtlCol="0" anchor="ctr"/>
          <a:lstStyle/>
          <a:p>
            <a:pPr indent="0" marL="0">
              <a:buNone/>
            </a:pPr>
            <a:r>
              <a:rPr lang="en-US" sz="850" dirty="0">
                <a:solidFill>
                  <a:srgbClr val="E63946"/>
                </a:solidFill>
              </a:rPr>
              <a:t xml:space="preserve">  </a:t>
            </a:r>
            <a:pPr indent="0" marL="0">
              <a:buNone/>
            </a:pPr>
            <a:r>
              <a:rPr lang="en-US" sz="850" dirty="0">
                <a:solidFill>
                  <a:srgbClr val="111111"/>
                </a:solidFill>
              </a:rPr>
              <a:t>Neil Rossy — 3rd-gen family CEO; deep domain expertise</a:t>
            </a:r>
            <a:endParaRPr lang="en-US" sz="850" dirty="0"/>
          </a:p>
        </p:txBody>
      </p:sp>
      <p:sp>
        <p:nvSpPr>
          <p:cNvPr id="37" name="Text 35"/>
          <p:cNvSpPr/>
          <p:nvPr/>
        </p:nvSpPr>
        <p:spPr>
          <a:xfrm>
            <a:off x="3355848" y="1536192"/>
            <a:ext cx="2331720" cy="256032"/>
          </a:xfrm>
          <a:prstGeom prst="rect">
            <a:avLst/>
          </a:prstGeom>
          <a:noFill/>
          <a:ln/>
        </p:spPr>
        <p:txBody>
          <a:bodyPr wrap="square" lIns="0" tIns="0" rIns="0" bIns="0" rtlCol="0" anchor="ctr"/>
          <a:lstStyle/>
          <a:p>
            <a:pPr indent="0" marL="0">
              <a:buNone/>
            </a:pPr>
            <a:r>
              <a:rPr lang="en-US" sz="850" dirty="0">
                <a:solidFill>
                  <a:srgbClr val="E63946"/>
                </a:solidFill>
              </a:rPr>
              <a:t xml:space="preserve">  </a:t>
            </a:r>
            <a:pPr indent="0" marL="0">
              <a:buNone/>
            </a:pPr>
            <a:r>
              <a:rPr lang="en-US" sz="850" dirty="0">
                <a:solidFill>
                  <a:srgbClr val="111111"/>
                </a:solidFill>
              </a:rPr>
              <a:t>Insiders hold ~10% of shares (strong alignment)</a:t>
            </a:r>
            <a:endParaRPr lang="en-US" sz="850" dirty="0"/>
          </a:p>
        </p:txBody>
      </p:sp>
      <p:sp>
        <p:nvSpPr>
          <p:cNvPr id="38" name="Text 36"/>
          <p:cNvSpPr/>
          <p:nvPr/>
        </p:nvSpPr>
        <p:spPr>
          <a:xfrm>
            <a:off x="3355848" y="1810512"/>
            <a:ext cx="2331720" cy="256032"/>
          </a:xfrm>
          <a:prstGeom prst="rect">
            <a:avLst/>
          </a:prstGeom>
          <a:noFill/>
          <a:ln/>
        </p:spPr>
        <p:txBody>
          <a:bodyPr wrap="square" lIns="0" tIns="0" rIns="0" bIns="0" rtlCol="0" anchor="ctr"/>
          <a:lstStyle/>
          <a:p>
            <a:pPr indent="0" marL="0">
              <a:buNone/>
            </a:pPr>
            <a:r>
              <a:rPr lang="en-US" sz="850" dirty="0">
                <a:solidFill>
                  <a:srgbClr val="E63946"/>
                </a:solidFill>
              </a:rPr>
              <a:t xml:space="preserve">  </a:t>
            </a:r>
            <a:pPr indent="0" marL="0">
              <a:buNone/>
            </a:pPr>
            <a:r>
              <a:rPr lang="en-US" sz="850" dirty="0">
                <a:solidFill>
                  <a:srgbClr val="111111"/>
                </a:solidFill>
              </a:rPr>
              <a:t>5 consecutive years: guidance met or exceeded</a:t>
            </a:r>
            <a:endParaRPr lang="en-US" sz="850" dirty="0"/>
          </a:p>
        </p:txBody>
      </p:sp>
      <p:sp>
        <p:nvSpPr>
          <p:cNvPr id="39" name="Text 37"/>
          <p:cNvSpPr/>
          <p:nvPr/>
        </p:nvSpPr>
        <p:spPr>
          <a:xfrm>
            <a:off x="3355848" y="2084832"/>
            <a:ext cx="2331720" cy="256032"/>
          </a:xfrm>
          <a:prstGeom prst="rect">
            <a:avLst/>
          </a:prstGeom>
          <a:noFill/>
          <a:ln/>
        </p:spPr>
        <p:txBody>
          <a:bodyPr wrap="square" lIns="0" tIns="0" rIns="0" bIns="0" rtlCol="0" anchor="ctr"/>
          <a:lstStyle/>
          <a:p>
            <a:pPr indent="0" marL="0">
              <a:buNone/>
            </a:pPr>
            <a:r>
              <a:rPr lang="en-US" sz="850" dirty="0">
                <a:solidFill>
                  <a:srgbClr val="E63946"/>
                </a:solidFill>
              </a:rPr>
              <a:t xml:space="preserve">  </a:t>
            </a:r>
            <a:pPr indent="0" marL="0">
              <a:buNone/>
            </a:pPr>
            <a:r>
              <a:rPr lang="en-US" sz="850" dirty="0">
                <a:solidFill>
                  <a:srgbClr val="111111"/>
                </a:solidFill>
              </a:rPr>
              <a:t>Dividend raised 15% FY2025 — cash flow confidence</a:t>
            </a:r>
            <a:endParaRPr lang="en-US" sz="850" dirty="0"/>
          </a:p>
        </p:txBody>
      </p:sp>
      <p:sp>
        <p:nvSpPr>
          <p:cNvPr id="40" name="Shape 38"/>
          <p:cNvSpPr/>
          <p:nvPr/>
        </p:nvSpPr>
        <p:spPr>
          <a:xfrm>
            <a:off x="3355848" y="2414016"/>
            <a:ext cx="2377440" cy="0"/>
          </a:xfrm>
          <a:prstGeom prst="line">
            <a:avLst/>
          </a:prstGeom>
          <a:noFill/>
          <a:ln w="6350">
            <a:solidFill>
              <a:srgbClr val="E0E0E0"/>
            </a:solidFill>
            <a:prstDash val="solid"/>
          </a:ln>
        </p:spPr>
      </p:sp>
      <p:sp>
        <p:nvSpPr>
          <p:cNvPr id="41" name="Text 39"/>
          <p:cNvSpPr/>
          <p:nvPr/>
        </p:nvSpPr>
        <p:spPr>
          <a:xfrm>
            <a:off x="3355848" y="2487168"/>
            <a:ext cx="2340864" cy="164592"/>
          </a:xfrm>
          <a:prstGeom prst="rect">
            <a:avLst/>
          </a:prstGeom>
          <a:noFill/>
          <a:ln/>
        </p:spPr>
        <p:txBody>
          <a:bodyPr wrap="square" lIns="0" tIns="0" rIns="0" bIns="0" rtlCol="0" anchor="ctr"/>
          <a:lstStyle/>
          <a:p>
            <a:pPr indent="0" marL="0">
              <a:buNone/>
            </a:pPr>
            <a:r>
              <a:rPr lang="en-US" sz="800" b="1" spc="100" kern="0" dirty="0">
                <a:solidFill>
                  <a:srgbClr val="5A6472"/>
                </a:solidFill>
              </a:rPr>
              <a:t>MOAT SCORECARD</a:t>
            </a:r>
            <a:endParaRPr lang="en-US" sz="800" dirty="0"/>
          </a:p>
        </p:txBody>
      </p:sp>
      <p:sp>
        <p:nvSpPr>
          <p:cNvPr id="42" name="Text 40"/>
          <p:cNvSpPr/>
          <p:nvPr/>
        </p:nvSpPr>
        <p:spPr>
          <a:xfrm>
            <a:off x="3355848" y="2724912"/>
            <a:ext cx="1417320" cy="182880"/>
          </a:xfrm>
          <a:prstGeom prst="rect">
            <a:avLst/>
          </a:prstGeom>
          <a:noFill/>
          <a:ln/>
        </p:spPr>
        <p:txBody>
          <a:bodyPr wrap="square" lIns="0" tIns="0" rIns="0" bIns="0" rtlCol="0" anchor="ctr"/>
          <a:lstStyle/>
          <a:p>
            <a:pPr indent="0" marL="0">
              <a:buNone/>
            </a:pPr>
            <a:r>
              <a:rPr lang="en-US" sz="800" dirty="0">
                <a:solidFill>
                  <a:srgbClr val="111111"/>
                </a:solidFill>
              </a:rPr>
              <a:t>Scale &amp; buying power</a:t>
            </a:r>
            <a:endParaRPr lang="en-US" sz="800" dirty="0"/>
          </a:p>
        </p:txBody>
      </p:sp>
      <p:sp>
        <p:nvSpPr>
          <p:cNvPr id="43" name="Shape 41"/>
          <p:cNvSpPr/>
          <p:nvPr/>
        </p:nvSpPr>
        <p:spPr>
          <a:xfrm>
            <a:off x="4800600" y="2770632"/>
            <a:ext cx="731520" cy="109728"/>
          </a:xfrm>
          <a:prstGeom prst="rect">
            <a:avLst/>
          </a:prstGeom>
          <a:solidFill>
            <a:srgbClr val="E8EDF0"/>
          </a:solidFill>
          <a:ln w="12700">
            <a:solidFill>
              <a:srgbClr val="E8EDF0"/>
            </a:solidFill>
            <a:prstDash val="solid"/>
          </a:ln>
        </p:spPr>
      </p:sp>
      <p:sp>
        <p:nvSpPr>
          <p:cNvPr id="44" name="Shape 42"/>
          <p:cNvSpPr/>
          <p:nvPr/>
        </p:nvSpPr>
        <p:spPr>
          <a:xfrm>
            <a:off x="4800600" y="2770632"/>
            <a:ext cx="658368" cy="109728"/>
          </a:xfrm>
          <a:prstGeom prst="rect">
            <a:avLst/>
          </a:prstGeom>
          <a:solidFill>
            <a:srgbClr val="E63946"/>
          </a:solidFill>
          <a:ln w="12700">
            <a:solidFill>
              <a:srgbClr val="E63946"/>
            </a:solidFill>
            <a:prstDash val="solid"/>
          </a:ln>
        </p:spPr>
      </p:sp>
      <p:sp>
        <p:nvSpPr>
          <p:cNvPr id="45" name="Text 43"/>
          <p:cNvSpPr/>
          <p:nvPr/>
        </p:nvSpPr>
        <p:spPr>
          <a:xfrm>
            <a:off x="5559552" y="2724912"/>
            <a:ext cx="384048" cy="182880"/>
          </a:xfrm>
          <a:prstGeom prst="rect">
            <a:avLst/>
          </a:prstGeom>
          <a:noFill/>
          <a:ln/>
        </p:spPr>
        <p:txBody>
          <a:bodyPr wrap="square" lIns="0" tIns="0" rIns="0" bIns="0" rtlCol="0" anchor="ctr"/>
          <a:lstStyle/>
          <a:p>
            <a:pPr algn="r" indent="0" marL="0">
              <a:buNone/>
            </a:pPr>
            <a:r>
              <a:rPr lang="en-US" sz="750" dirty="0">
                <a:solidFill>
                  <a:srgbClr val="5A6472"/>
                </a:solidFill>
              </a:rPr>
              <a:t>9/10</a:t>
            </a:r>
            <a:endParaRPr lang="en-US" sz="750" dirty="0"/>
          </a:p>
        </p:txBody>
      </p:sp>
      <p:sp>
        <p:nvSpPr>
          <p:cNvPr id="46" name="Text 44"/>
          <p:cNvSpPr/>
          <p:nvPr/>
        </p:nvSpPr>
        <p:spPr>
          <a:xfrm>
            <a:off x="3355848" y="2999232"/>
            <a:ext cx="1417320" cy="182880"/>
          </a:xfrm>
          <a:prstGeom prst="rect">
            <a:avLst/>
          </a:prstGeom>
          <a:noFill/>
          <a:ln/>
        </p:spPr>
        <p:txBody>
          <a:bodyPr wrap="square" lIns="0" tIns="0" rIns="0" bIns="0" rtlCol="0" anchor="ctr"/>
          <a:lstStyle/>
          <a:p>
            <a:pPr indent="0" marL="0">
              <a:buNone/>
            </a:pPr>
            <a:r>
              <a:rPr lang="en-US" sz="800" dirty="0">
                <a:solidFill>
                  <a:srgbClr val="111111"/>
                </a:solidFill>
              </a:rPr>
              <a:t>Store network density</a:t>
            </a:r>
            <a:endParaRPr lang="en-US" sz="800" dirty="0"/>
          </a:p>
        </p:txBody>
      </p:sp>
      <p:sp>
        <p:nvSpPr>
          <p:cNvPr id="47" name="Shape 45"/>
          <p:cNvSpPr/>
          <p:nvPr/>
        </p:nvSpPr>
        <p:spPr>
          <a:xfrm>
            <a:off x="4800600" y="3044952"/>
            <a:ext cx="731520" cy="109728"/>
          </a:xfrm>
          <a:prstGeom prst="rect">
            <a:avLst/>
          </a:prstGeom>
          <a:solidFill>
            <a:srgbClr val="E8EDF0"/>
          </a:solidFill>
          <a:ln w="12700">
            <a:solidFill>
              <a:srgbClr val="E8EDF0"/>
            </a:solidFill>
            <a:prstDash val="solid"/>
          </a:ln>
        </p:spPr>
      </p:sp>
      <p:sp>
        <p:nvSpPr>
          <p:cNvPr id="48" name="Shape 46"/>
          <p:cNvSpPr/>
          <p:nvPr/>
        </p:nvSpPr>
        <p:spPr>
          <a:xfrm>
            <a:off x="4800600" y="3044952"/>
            <a:ext cx="621792" cy="109728"/>
          </a:xfrm>
          <a:prstGeom prst="rect">
            <a:avLst/>
          </a:prstGeom>
          <a:solidFill>
            <a:srgbClr val="E63946"/>
          </a:solidFill>
          <a:ln w="12700">
            <a:solidFill>
              <a:srgbClr val="E63946"/>
            </a:solidFill>
            <a:prstDash val="solid"/>
          </a:ln>
        </p:spPr>
      </p:sp>
      <p:sp>
        <p:nvSpPr>
          <p:cNvPr id="49" name="Text 47"/>
          <p:cNvSpPr/>
          <p:nvPr/>
        </p:nvSpPr>
        <p:spPr>
          <a:xfrm>
            <a:off x="5559552" y="2999232"/>
            <a:ext cx="384048" cy="182880"/>
          </a:xfrm>
          <a:prstGeom prst="rect">
            <a:avLst/>
          </a:prstGeom>
          <a:noFill/>
          <a:ln/>
        </p:spPr>
        <p:txBody>
          <a:bodyPr wrap="square" lIns="0" tIns="0" rIns="0" bIns="0" rtlCol="0" anchor="ctr"/>
          <a:lstStyle/>
          <a:p>
            <a:pPr algn="r" indent="0" marL="0">
              <a:buNone/>
            </a:pPr>
            <a:r>
              <a:rPr lang="en-US" sz="750" dirty="0">
                <a:solidFill>
                  <a:srgbClr val="5A6472"/>
                </a:solidFill>
              </a:rPr>
              <a:t>8.5/10</a:t>
            </a:r>
            <a:endParaRPr lang="en-US" sz="750" dirty="0"/>
          </a:p>
        </p:txBody>
      </p:sp>
      <p:sp>
        <p:nvSpPr>
          <p:cNvPr id="50" name="Text 48"/>
          <p:cNvSpPr/>
          <p:nvPr/>
        </p:nvSpPr>
        <p:spPr>
          <a:xfrm>
            <a:off x="3355848" y="3273552"/>
            <a:ext cx="1417320" cy="182880"/>
          </a:xfrm>
          <a:prstGeom prst="rect">
            <a:avLst/>
          </a:prstGeom>
          <a:noFill/>
          <a:ln/>
        </p:spPr>
        <p:txBody>
          <a:bodyPr wrap="square" lIns="0" tIns="0" rIns="0" bIns="0" rtlCol="0" anchor="ctr"/>
          <a:lstStyle/>
          <a:p>
            <a:pPr indent="0" marL="0">
              <a:buNone/>
            </a:pPr>
            <a:r>
              <a:rPr lang="en-US" sz="800" dirty="0">
                <a:solidFill>
                  <a:srgbClr val="111111"/>
                </a:solidFill>
              </a:rPr>
              <a:t>Fixed-price brand trust</a:t>
            </a:r>
            <a:endParaRPr lang="en-US" sz="800" dirty="0"/>
          </a:p>
        </p:txBody>
      </p:sp>
      <p:sp>
        <p:nvSpPr>
          <p:cNvPr id="51" name="Shape 49"/>
          <p:cNvSpPr/>
          <p:nvPr/>
        </p:nvSpPr>
        <p:spPr>
          <a:xfrm>
            <a:off x="4800600" y="3319272"/>
            <a:ext cx="731520" cy="109728"/>
          </a:xfrm>
          <a:prstGeom prst="rect">
            <a:avLst/>
          </a:prstGeom>
          <a:solidFill>
            <a:srgbClr val="E8EDF0"/>
          </a:solidFill>
          <a:ln w="12700">
            <a:solidFill>
              <a:srgbClr val="E8EDF0"/>
            </a:solidFill>
            <a:prstDash val="solid"/>
          </a:ln>
        </p:spPr>
      </p:sp>
      <p:sp>
        <p:nvSpPr>
          <p:cNvPr id="52" name="Shape 50"/>
          <p:cNvSpPr/>
          <p:nvPr/>
        </p:nvSpPr>
        <p:spPr>
          <a:xfrm>
            <a:off x="4800600" y="3319272"/>
            <a:ext cx="585216" cy="109728"/>
          </a:xfrm>
          <a:prstGeom prst="rect">
            <a:avLst/>
          </a:prstGeom>
          <a:solidFill>
            <a:srgbClr val="E63946"/>
          </a:solidFill>
          <a:ln w="12700">
            <a:solidFill>
              <a:srgbClr val="E63946"/>
            </a:solidFill>
            <a:prstDash val="solid"/>
          </a:ln>
        </p:spPr>
      </p:sp>
      <p:sp>
        <p:nvSpPr>
          <p:cNvPr id="53" name="Text 51"/>
          <p:cNvSpPr/>
          <p:nvPr/>
        </p:nvSpPr>
        <p:spPr>
          <a:xfrm>
            <a:off x="5559552" y="3273552"/>
            <a:ext cx="384048" cy="182880"/>
          </a:xfrm>
          <a:prstGeom prst="rect">
            <a:avLst/>
          </a:prstGeom>
          <a:noFill/>
          <a:ln/>
        </p:spPr>
        <p:txBody>
          <a:bodyPr wrap="square" lIns="0" tIns="0" rIns="0" bIns="0" rtlCol="0" anchor="ctr"/>
          <a:lstStyle/>
          <a:p>
            <a:pPr algn="r" indent="0" marL="0">
              <a:buNone/>
            </a:pPr>
            <a:r>
              <a:rPr lang="en-US" sz="750" dirty="0">
                <a:solidFill>
                  <a:srgbClr val="5A6472"/>
                </a:solidFill>
              </a:rPr>
              <a:t>8/10</a:t>
            </a:r>
            <a:endParaRPr lang="en-US" sz="750" dirty="0"/>
          </a:p>
        </p:txBody>
      </p:sp>
      <p:sp>
        <p:nvSpPr>
          <p:cNvPr id="54" name="Text 52"/>
          <p:cNvSpPr/>
          <p:nvPr/>
        </p:nvSpPr>
        <p:spPr>
          <a:xfrm>
            <a:off x="3355848" y="3547872"/>
            <a:ext cx="1417320" cy="182880"/>
          </a:xfrm>
          <a:prstGeom prst="rect">
            <a:avLst/>
          </a:prstGeom>
          <a:noFill/>
          <a:ln/>
        </p:spPr>
        <p:txBody>
          <a:bodyPr wrap="square" lIns="0" tIns="0" rIns="0" bIns="0" rtlCol="0" anchor="ctr"/>
          <a:lstStyle/>
          <a:p>
            <a:pPr indent="0" marL="0">
              <a:buNone/>
            </a:pPr>
            <a:r>
              <a:rPr lang="en-US" sz="800" dirty="0">
                <a:solidFill>
                  <a:srgbClr val="111111"/>
                </a:solidFill>
              </a:rPr>
              <a:t>Private label depth</a:t>
            </a:r>
            <a:endParaRPr lang="en-US" sz="800" dirty="0"/>
          </a:p>
        </p:txBody>
      </p:sp>
      <p:sp>
        <p:nvSpPr>
          <p:cNvPr id="55" name="Shape 53"/>
          <p:cNvSpPr/>
          <p:nvPr/>
        </p:nvSpPr>
        <p:spPr>
          <a:xfrm>
            <a:off x="4800600" y="3593592"/>
            <a:ext cx="731520" cy="109728"/>
          </a:xfrm>
          <a:prstGeom prst="rect">
            <a:avLst/>
          </a:prstGeom>
          <a:solidFill>
            <a:srgbClr val="E8EDF0"/>
          </a:solidFill>
          <a:ln w="12700">
            <a:solidFill>
              <a:srgbClr val="E8EDF0"/>
            </a:solidFill>
            <a:prstDash val="solid"/>
          </a:ln>
        </p:spPr>
      </p:sp>
      <p:sp>
        <p:nvSpPr>
          <p:cNvPr id="56" name="Shape 54"/>
          <p:cNvSpPr/>
          <p:nvPr/>
        </p:nvSpPr>
        <p:spPr>
          <a:xfrm>
            <a:off x="4800600" y="3593592"/>
            <a:ext cx="512064" cy="109728"/>
          </a:xfrm>
          <a:prstGeom prst="rect">
            <a:avLst/>
          </a:prstGeom>
          <a:solidFill>
            <a:srgbClr val="E63946"/>
          </a:solidFill>
          <a:ln w="12700">
            <a:solidFill>
              <a:srgbClr val="E63946"/>
            </a:solidFill>
            <a:prstDash val="solid"/>
          </a:ln>
        </p:spPr>
      </p:sp>
      <p:sp>
        <p:nvSpPr>
          <p:cNvPr id="57" name="Text 55"/>
          <p:cNvSpPr/>
          <p:nvPr/>
        </p:nvSpPr>
        <p:spPr>
          <a:xfrm>
            <a:off x="5559552" y="3547872"/>
            <a:ext cx="384048" cy="182880"/>
          </a:xfrm>
          <a:prstGeom prst="rect">
            <a:avLst/>
          </a:prstGeom>
          <a:noFill/>
          <a:ln/>
        </p:spPr>
        <p:txBody>
          <a:bodyPr wrap="square" lIns="0" tIns="0" rIns="0" bIns="0" rtlCol="0" anchor="ctr"/>
          <a:lstStyle/>
          <a:p>
            <a:pPr algn="r" indent="0" marL="0">
              <a:buNone/>
            </a:pPr>
            <a:r>
              <a:rPr lang="en-US" sz="750" dirty="0">
                <a:solidFill>
                  <a:srgbClr val="5A6472"/>
                </a:solidFill>
              </a:rPr>
              <a:t>7/10</a:t>
            </a:r>
            <a:endParaRPr lang="en-US" sz="750" dirty="0"/>
          </a:p>
        </p:txBody>
      </p:sp>
      <p:sp>
        <p:nvSpPr>
          <p:cNvPr id="58" name="Text 56"/>
          <p:cNvSpPr/>
          <p:nvPr/>
        </p:nvSpPr>
        <p:spPr>
          <a:xfrm>
            <a:off x="3355848" y="3822192"/>
            <a:ext cx="1417320" cy="182880"/>
          </a:xfrm>
          <a:prstGeom prst="rect">
            <a:avLst/>
          </a:prstGeom>
          <a:noFill/>
          <a:ln/>
        </p:spPr>
        <p:txBody>
          <a:bodyPr wrap="square" lIns="0" tIns="0" rIns="0" bIns="0" rtlCol="0" anchor="ctr"/>
          <a:lstStyle/>
          <a:p>
            <a:pPr indent="0" marL="0">
              <a:buNone/>
            </a:pPr>
            <a:r>
              <a:rPr lang="en-US" sz="800" dirty="0">
                <a:solidFill>
                  <a:srgbClr val="111111"/>
                </a:solidFill>
              </a:rPr>
              <a:t>Intl optionality</a:t>
            </a:r>
            <a:endParaRPr lang="en-US" sz="800" dirty="0"/>
          </a:p>
        </p:txBody>
      </p:sp>
      <p:sp>
        <p:nvSpPr>
          <p:cNvPr id="59" name="Shape 57"/>
          <p:cNvSpPr/>
          <p:nvPr/>
        </p:nvSpPr>
        <p:spPr>
          <a:xfrm>
            <a:off x="4800600" y="3867912"/>
            <a:ext cx="731520" cy="109728"/>
          </a:xfrm>
          <a:prstGeom prst="rect">
            <a:avLst/>
          </a:prstGeom>
          <a:solidFill>
            <a:srgbClr val="E8EDF0"/>
          </a:solidFill>
          <a:ln w="12700">
            <a:solidFill>
              <a:srgbClr val="E8EDF0"/>
            </a:solidFill>
            <a:prstDash val="solid"/>
          </a:ln>
        </p:spPr>
      </p:sp>
      <p:sp>
        <p:nvSpPr>
          <p:cNvPr id="60" name="Shape 58"/>
          <p:cNvSpPr/>
          <p:nvPr/>
        </p:nvSpPr>
        <p:spPr>
          <a:xfrm>
            <a:off x="4800600" y="3867912"/>
            <a:ext cx="548640" cy="109728"/>
          </a:xfrm>
          <a:prstGeom prst="rect">
            <a:avLst/>
          </a:prstGeom>
          <a:solidFill>
            <a:srgbClr val="E63946"/>
          </a:solidFill>
          <a:ln w="12700">
            <a:solidFill>
              <a:srgbClr val="E63946"/>
            </a:solidFill>
            <a:prstDash val="solid"/>
          </a:ln>
        </p:spPr>
      </p:sp>
      <p:sp>
        <p:nvSpPr>
          <p:cNvPr id="61" name="Text 59"/>
          <p:cNvSpPr/>
          <p:nvPr/>
        </p:nvSpPr>
        <p:spPr>
          <a:xfrm>
            <a:off x="5559552" y="3822192"/>
            <a:ext cx="384048" cy="182880"/>
          </a:xfrm>
          <a:prstGeom prst="rect">
            <a:avLst/>
          </a:prstGeom>
          <a:noFill/>
          <a:ln/>
        </p:spPr>
        <p:txBody>
          <a:bodyPr wrap="square" lIns="0" tIns="0" rIns="0" bIns="0" rtlCol="0" anchor="ctr"/>
          <a:lstStyle/>
          <a:p>
            <a:pPr algn="r" indent="0" marL="0">
              <a:buNone/>
            </a:pPr>
            <a:r>
              <a:rPr lang="en-US" sz="750" dirty="0">
                <a:solidFill>
                  <a:srgbClr val="5A6472"/>
                </a:solidFill>
              </a:rPr>
              <a:t>7.5/10</a:t>
            </a:r>
            <a:endParaRPr lang="en-US" sz="750" dirty="0"/>
          </a:p>
        </p:txBody>
      </p:sp>
      <p:sp>
        <p:nvSpPr>
          <p:cNvPr id="62" name="Shape 60"/>
          <p:cNvSpPr/>
          <p:nvPr/>
        </p:nvSpPr>
        <p:spPr>
          <a:xfrm>
            <a:off x="6016752" y="932688"/>
            <a:ext cx="2907792" cy="3840480"/>
          </a:xfrm>
          <a:prstGeom prst="rect">
            <a:avLst/>
          </a:prstGeom>
          <a:solidFill>
            <a:srgbClr val="FFFFFF"/>
          </a:solidFill>
          <a:ln w="6350">
            <a:solidFill>
              <a:srgbClr val="E0E0E0"/>
            </a:solidFill>
            <a:prstDash val="solid"/>
          </a:ln>
          <a:effectLst>
            <a:outerShdw sx="100000" sy="100000" kx="0" ky="0" algn="bl" rotWithShape="0" blurRad="88900" dist="25400" dir="8100000">
              <a:srgbClr val="000000">
                <a:alpha val="10000"/>
              </a:srgbClr>
            </a:outerShdw>
          </a:effectLst>
        </p:spPr>
      </p:sp>
      <p:sp>
        <p:nvSpPr>
          <p:cNvPr id="63" name="Shape 61"/>
          <p:cNvSpPr/>
          <p:nvPr/>
        </p:nvSpPr>
        <p:spPr>
          <a:xfrm>
            <a:off x="6016752" y="932688"/>
            <a:ext cx="2907792" cy="50292"/>
          </a:xfrm>
          <a:prstGeom prst="rect">
            <a:avLst/>
          </a:prstGeom>
          <a:solidFill>
            <a:srgbClr val="2A9D8F"/>
          </a:solidFill>
          <a:ln w="12700">
            <a:solidFill>
              <a:srgbClr val="2A9D8F"/>
            </a:solidFill>
            <a:prstDash val="solid"/>
          </a:ln>
        </p:spPr>
      </p:sp>
      <p:sp>
        <p:nvSpPr>
          <p:cNvPr id="64" name="Text 62"/>
          <p:cNvSpPr/>
          <p:nvPr/>
        </p:nvSpPr>
        <p:spPr>
          <a:xfrm>
            <a:off x="6126480" y="1005840"/>
            <a:ext cx="2688336" cy="182880"/>
          </a:xfrm>
          <a:prstGeom prst="rect">
            <a:avLst/>
          </a:prstGeom>
          <a:noFill/>
          <a:ln/>
        </p:spPr>
        <p:txBody>
          <a:bodyPr wrap="square" lIns="0" tIns="0" rIns="0" bIns="0" rtlCol="0" anchor="ctr"/>
          <a:lstStyle/>
          <a:p>
            <a:pPr indent="0" marL="0">
              <a:buNone/>
            </a:pPr>
            <a:r>
              <a:rPr lang="en-US" sz="800" b="1" spc="100" kern="0" dirty="0">
                <a:solidFill>
                  <a:srgbClr val="5A6472"/>
                </a:solidFill>
              </a:rPr>
              <a:t>SHAREHOLDER VALUE CREATION</a:t>
            </a:r>
            <a:endParaRPr lang="en-US" sz="800" dirty="0"/>
          </a:p>
        </p:txBody>
      </p:sp>
      <p:sp>
        <p:nvSpPr>
          <p:cNvPr id="65" name="Text 63"/>
          <p:cNvSpPr/>
          <p:nvPr/>
        </p:nvSpPr>
        <p:spPr>
          <a:xfrm>
            <a:off x="6126480" y="1243584"/>
            <a:ext cx="2688336" cy="457200"/>
          </a:xfrm>
          <a:prstGeom prst="rect">
            <a:avLst/>
          </a:prstGeom>
          <a:noFill/>
          <a:ln/>
        </p:spPr>
        <p:txBody>
          <a:bodyPr wrap="square" lIns="0" tIns="0" rIns="0" bIns="0" rtlCol="0" anchor="ctr"/>
          <a:lstStyle/>
          <a:p>
            <a:pPr indent="0" marL="0">
              <a:buNone/>
            </a:pPr>
            <a:r>
              <a:rPr lang="en-US" sz="2800" b="1" dirty="0">
                <a:solidFill>
                  <a:srgbClr val="1D3557"/>
                </a:solidFill>
                <a:latin typeface="Georgia" pitchFamily="34" charset="0"/>
                <a:ea typeface="Georgia" pitchFamily="34" charset="-122"/>
                <a:cs typeface="Georgia" pitchFamily="34" charset="-120"/>
              </a:rPr>
              <a:t>~27%</a:t>
            </a:r>
            <a:endParaRPr lang="en-US" sz="2800" dirty="0"/>
          </a:p>
        </p:txBody>
      </p:sp>
      <p:sp>
        <p:nvSpPr>
          <p:cNvPr id="66" name="Text 64"/>
          <p:cNvSpPr/>
          <p:nvPr/>
        </p:nvSpPr>
        <p:spPr>
          <a:xfrm>
            <a:off x="6126480" y="1682496"/>
            <a:ext cx="2688336" cy="182880"/>
          </a:xfrm>
          <a:prstGeom prst="rect">
            <a:avLst/>
          </a:prstGeom>
          <a:noFill/>
          <a:ln/>
        </p:spPr>
        <p:txBody>
          <a:bodyPr wrap="square" lIns="0" tIns="0" rIns="0" bIns="0" rtlCol="0" anchor="ctr"/>
          <a:lstStyle/>
          <a:p>
            <a:pPr indent="0" marL="0">
              <a:buNone/>
            </a:pPr>
            <a:r>
              <a:rPr lang="en-US" sz="900" i="1" dirty="0">
                <a:solidFill>
                  <a:srgbClr val="5A6472"/>
                </a:solidFill>
              </a:rPr>
              <a:t>annual CAGR since IPO (Oct 2009)</a:t>
            </a:r>
            <a:endParaRPr lang="en-US" sz="900" dirty="0"/>
          </a:p>
        </p:txBody>
      </p:sp>
      <p:sp>
        <p:nvSpPr>
          <p:cNvPr id="67" name="Shape 65"/>
          <p:cNvSpPr/>
          <p:nvPr/>
        </p:nvSpPr>
        <p:spPr>
          <a:xfrm>
            <a:off x="6126480" y="1938528"/>
            <a:ext cx="2560320" cy="0"/>
          </a:xfrm>
          <a:prstGeom prst="line">
            <a:avLst/>
          </a:prstGeom>
          <a:noFill/>
          <a:ln w="6350">
            <a:solidFill>
              <a:srgbClr val="E0E0E0"/>
            </a:solidFill>
            <a:prstDash val="solid"/>
          </a:ln>
        </p:spPr>
      </p:sp>
      <p:sp>
        <p:nvSpPr>
          <p:cNvPr id="68" name="Text 66"/>
          <p:cNvSpPr/>
          <p:nvPr/>
        </p:nvSpPr>
        <p:spPr>
          <a:xfrm>
            <a:off x="6126480" y="2029968"/>
            <a:ext cx="1828800" cy="228600"/>
          </a:xfrm>
          <a:prstGeom prst="rect">
            <a:avLst/>
          </a:prstGeom>
          <a:noFill/>
          <a:ln/>
        </p:spPr>
        <p:txBody>
          <a:bodyPr wrap="square" lIns="0" tIns="0" rIns="0" bIns="0" rtlCol="0" anchor="ctr"/>
          <a:lstStyle/>
          <a:p>
            <a:pPr indent="0" marL="0">
              <a:buNone/>
            </a:pPr>
            <a:r>
              <a:rPr lang="en-US" sz="850" dirty="0">
                <a:solidFill>
                  <a:srgbClr val="5A6472"/>
                </a:solidFill>
              </a:rPr>
              <a:t>EPS CAGR (FY2022-2026)</a:t>
            </a:r>
            <a:endParaRPr lang="en-US" sz="850" dirty="0"/>
          </a:p>
        </p:txBody>
      </p:sp>
      <p:sp>
        <p:nvSpPr>
          <p:cNvPr id="69" name="Text 67"/>
          <p:cNvSpPr/>
          <p:nvPr/>
        </p:nvSpPr>
        <p:spPr>
          <a:xfrm>
            <a:off x="7827264" y="2029968"/>
            <a:ext cx="1005840" cy="228600"/>
          </a:xfrm>
          <a:prstGeom prst="rect">
            <a:avLst/>
          </a:prstGeom>
          <a:noFill/>
          <a:ln/>
        </p:spPr>
        <p:txBody>
          <a:bodyPr wrap="square" lIns="0" tIns="0" rIns="0" bIns="0" rtlCol="0" anchor="ctr"/>
          <a:lstStyle/>
          <a:p>
            <a:pPr algn="r" indent="0" marL="0">
              <a:buNone/>
            </a:pPr>
            <a:r>
              <a:rPr lang="en-US" sz="950" b="1" dirty="0">
                <a:solidFill>
                  <a:srgbClr val="1D3557"/>
                </a:solidFill>
                <a:latin typeface="Georgia" pitchFamily="34" charset="0"/>
                <a:ea typeface="Georgia" pitchFamily="34" charset="-122"/>
                <a:cs typeface="Georgia" pitchFamily="34" charset="-120"/>
              </a:rPr>
              <a:t>+21%</a:t>
            </a:r>
            <a:endParaRPr lang="en-US" sz="950" dirty="0"/>
          </a:p>
        </p:txBody>
      </p:sp>
      <p:sp>
        <p:nvSpPr>
          <p:cNvPr id="70" name="Text 68"/>
          <p:cNvSpPr/>
          <p:nvPr/>
        </p:nvSpPr>
        <p:spPr>
          <a:xfrm>
            <a:off x="6126480" y="2359152"/>
            <a:ext cx="1828800" cy="228600"/>
          </a:xfrm>
          <a:prstGeom prst="rect">
            <a:avLst/>
          </a:prstGeom>
          <a:noFill/>
          <a:ln/>
        </p:spPr>
        <p:txBody>
          <a:bodyPr wrap="square" lIns="0" tIns="0" rIns="0" bIns="0" rtlCol="0" anchor="ctr"/>
          <a:lstStyle/>
          <a:p>
            <a:pPr indent="0" marL="0">
              <a:buNone/>
            </a:pPr>
            <a:r>
              <a:rPr lang="en-US" sz="850" dirty="0">
                <a:solidFill>
                  <a:srgbClr val="5A6472"/>
                </a:solidFill>
              </a:rPr>
              <a:t>Buyback yield (approx.)</a:t>
            </a:r>
            <a:endParaRPr lang="en-US" sz="850" dirty="0"/>
          </a:p>
        </p:txBody>
      </p:sp>
      <p:sp>
        <p:nvSpPr>
          <p:cNvPr id="71" name="Text 69"/>
          <p:cNvSpPr/>
          <p:nvPr/>
        </p:nvSpPr>
        <p:spPr>
          <a:xfrm>
            <a:off x="7827264" y="2359152"/>
            <a:ext cx="1005840" cy="228600"/>
          </a:xfrm>
          <a:prstGeom prst="rect">
            <a:avLst/>
          </a:prstGeom>
          <a:noFill/>
          <a:ln/>
        </p:spPr>
        <p:txBody>
          <a:bodyPr wrap="square" lIns="0" tIns="0" rIns="0" bIns="0" rtlCol="0" anchor="ctr"/>
          <a:lstStyle/>
          <a:p>
            <a:pPr algn="r" indent="0" marL="0">
              <a:buNone/>
            </a:pPr>
            <a:r>
              <a:rPr lang="en-US" sz="950" b="1" dirty="0">
                <a:solidFill>
                  <a:srgbClr val="1D3557"/>
                </a:solidFill>
                <a:latin typeface="Georgia" pitchFamily="34" charset="0"/>
                <a:ea typeface="Georgia" pitchFamily="34" charset="-122"/>
                <a:cs typeface="Georgia" pitchFamily="34" charset="-120"/>
              </a:rPr>
              <a:t>~3.8%</a:t>
            </a:r>
            <a:endParaRPr lang="en-US" sz="950" dirty="0"/>
          </a:p>
        </p:txBody>
      </p:sp>
      <p:sp>
        <p:nvSpPr>
          <p:cNvPr id="72" name="Text 70"/>
          <p:cNvSpPr/>
          <p:nvPr/>
        </p:nvSpPr>
        <p:spPr>
          <a:xfrm>
            <a:off x="6126480" y="2688336"/>
            <a:ext cx="1828800" cy="228600"/>
          </a:xfrm>
          <a:prstGeom prst="rect">
            <a:avLst/>
          </a:prstGeom>
          <a:noFill/>
          <a:ln/>
        </p:spPr>
        <p:txBody>
          <a:bodyPr wrap="square" lIns="0" tIns="0" rIns="0" bIns="0" rtlCol="0" anchor="ctr"/>
          <a:lstStyle/>
          <a:p>
            <a:pPr indent="0" marL="0">
              <a:buNone/>
            </a:pPr>
            <a:r>
              <a:rPr lang="en-US" sz="850" dirty="0">
                <a:solidFill>
                  <a:srgbClr val="5A6472"/>
                </a:solidFill>
              </a:rPr>
              <a:t>Share count reduction</a:t>
            </a:r>
            <a:endParaRPr lang="en-US" sz="850" dirty="0"/>
          </a:p>
        </p:txBody>
      </p:sp>
      <p:sp>
        <p:nvSpPr>
          <p:cNvPr id="73" name="Text 71"/>
          <p:cNvSpPr/>
          <p:nvPr/>
        </p:nvSpPr>
        <p:spPr>
          <a:xfrm>
            <a:off x="7827264" y="2688336"/>
            <a:ext cx="1005840" cy="228600"/>
          </a:xfrm>
          <a:prstGeom prst="rect">
            <a:avLst/>
          </a:prstGeom>
          <a:noFill/>
          <a:ln/>
        </p:spPr>
        <p:txBody>
          <a:bodyPr wrap="square" lIns="0" tIns="0" rIns="0" bIns="0" rtlCol="0" anchor="ctr"/>
          <a:lstStyle/>
          <a:p>
            <a:pPr algn="r" indent="0" marL="0">
              <a:buNone/>
            </a:pPr>
            <a:r>
              <a:rPr lang="en-US" sz="950" b="1" dirty="0">
                <a:solidFill>
                  <a:srgbClr val="E63946"/>
                </a:solidFill>
                <a:latin typeface="Georgia" pitchFamily="34" charset="0"/>
                <a:ea typeface="Georgia" pitchFamily="34" charset="-122"/>
                <a:cs typeface="Georgia" pitchFamily="34" charset="-120"/>
              </a:rPr>
              <a:t>-12% (5yr)</a:t>
            </a:r>
            <a:endParaRPr lang="en-US" sz="950" dirty="0"/>
          </a:p>
        </p:txBody>
      </p:sp>
      <p:sp>
        <p:nvSpPr>
          <p:cNvPr id="74" name="Text 72"/>
          <p:cNvSpPr/>
          <p:nvPr/>
        </p:nvSpPr>
        <p:spPr>
          <a:xfrm>
            <a:off x="6126480" y="3017520"/>
            <a:ext cx="1828800" cy="228600"/>
          </a:xfrm>
          <a:prstGeom prst="rect">
            <a:avLst/>
          </a:prstGeom>
          <a:noFill/>
          <a:ln/>
        </p:spPr>
        <p:txBody>
          <a:bodyPr wrap="square" lIns="0" tIns="0" rIns="0" bIns="0" rtlCol="0" anchor="ctr"/>
          <a:lstStyle/>
          <a:p>
            <a:pPr indent="0" marL="0">
              <a:buNone/>
            </a:pPr>
            <a:r>
              <a:rPr lang="en-US" sz="850" dirty="0">
                <a:solidFill>
                  <a:srgbClr val="5A6472"/>
                </a:solidFill>
              </a:rPr>
              <a:t>Dividend raise (FY2025)</a:t>
            </a:r>
            <a:endParaRPr lang="en-US" sz="850" dirty="0"/>
          </a:p>
        </p:txBody>
      </p:sp>
      <p:sp>
        <p:nvSpPr>
          <p:cNvPr id="75" name="Text 73"/>
          <p:cNvSpPr/>
          <p:nvPr/>
        </p:nvSpPr>
        <p:spPr>
          <a:xfrm>
            <a:off x="7827264" y="3017520"/>
            <a:ext cx="1005840" cy="228600"/>
          </a:xfrm>
          <a:prstGeom prst="rect">
            <a:avLst/>
          </a:prstGeom>
          <a:noFill/>
          <a:ln/>
        </p:spPr>
        <p:txBody>
          <a:bodyPr wrap="square" lIns="0" tIns="0" rIns="0" bIns="0" rtlCol="0" anchor="ctr"/>
          <a:lstStyle/>
          <a:p>
            <a:pPr algn="r" indent="0" marL="0">
              <a:buNone/>
            </a:pPr>
            <a:r>
              <a:rPr lang="en-US" sz="950" b="1" dirty="0">
                <a:solidFill>
                  <a:srgbClr val="2A9D8F"/>
                </a:solidFill>
                <a:latin typeface="Georgia" pitchFamily="34" charset="0"/>
                <a:ea typeface="Georgia" pitchFamily="34" charset="-122"/>
                <a:cs typeface="Georgia" pitchFamily="34" charset="-120"/>
              </a:rPr>
              <a:t>+15%</a:t>
            </a:r>
            <a:endParaRPr lang="en-US" sz="950" dirty="0"/>
          </a:p>
        </p:txBody>
      </p:sp>
      <p:sp>
        <p:nvSpPr>
          <p:cNvPr id="76" name="Text 74"/>
          <p:cNvSpPr/>
          <p:nvPr/>
        </p:nvSpPr>
        <p:spPr>
          <a:xfrm>
            <a:off x="6126480" y="3346704"/>
            <a:ext cx="1828800" cy="228600"/>
          </a:xfrm>
          <a:prstGeom prst="rect">
            <a:avLst/>
          </a:prstGeom>
          <a:noFill/>
          <a:ln/>
        </p:spPr>
        <p:txBody>
          <a:bodyPr wrap="square" lIns="0" tIns="0" rIns="0" bIns="0" rtlCol="0" anchor="ctr"/>
          <a:lstStyle/>
          <a:p>
            <a:pPr indent="0" marL="0">
              <a:buNone/>
            </a:pPr>
            <a:r>
              <a:rPr lang="en-US" sz="850" dirty="0">
                <a:solidFill>
                  <a:srgbClr val="5A6472"/>
                </a:solidFill>
              </a:rPr>
              <a:t>Total shareholder return</a:t>
            </a:r>
            <a:endParaRPr lang="en-US" sz="850" dirty="0"/>
          </a:p>
        </p:txBody>
      </p:sp>
      <p:sp>
        <p:nvSpPr>
          <p:cNvPr id="77" name="Text 75"/>
          <p:cNvSpPr/>
          <p:nvPr/>
        </p:nvSpPr>
        <p:spPr>
          <a:xfrm>
            <a:off x="7827264" y="3346704"/>
            <a:ext cx="1005840" cy="228600"/>
          </a:xfrm>
          <a:prstGeom prst="rect">
            <a:avLst/>
          </a:prstGeom>
          <a:noFill/>
          <a:ln/>
        </p:spPr>
        <p:txBody>
          <a:bodyPr wrap="square" lIns="0" tIns="0" rIns="0" bIns="0" rtlCol="0" anchor="ctr"/>
          <a:lstStyle/>
          <a:p>
            <a:pPr algn="r" indent="0" marL="0">
              <a:buNone/>
            </a:pPr>
            <a:r>
              <a:rPr lang="en-US" sz="950" b="1" dirty="0">
                <a:solidFill>
                  <a:srgbClr val="2A9D8F"/>
                </a:solidFill>
                <a:latin typeface="Georgia" pitchFamily="34" charset="0"/>
                <a:ea typeface="Georgia" pitchFamily="34" charset="-122"/>
                <a:cs typeface="Georgia" pitchFamily="34" charset="-120"/>
              </a:rPr>
              <a:t>~24%+ annualized</a:t>
            </a:r>
            <a:endParaRPr lang="en-US" sz="950" dirty="0"/>
          </a:p>
        </p:txBody>
      </p:sp>
      <p:sp>
        <p:nvSpPr>
          <p:cNvPr id="78" name="Shape 76"/>
          <p:cNvSpPr/>
          <p:nvPr/>
        </p:nvSpPr>
        <p:spPr>
          <a:xfrm>
            <a:off x="6126480" y="3895344"/>
            <a:ext cx="2560320" cy="0"/>
          </a:xfrm>
          <a:prstGeom prst="line">
            <a:avLst/>
          </a:prstGeom>
          <a:noFill/>
          <a:ln w="6350">
            <a:solidFill>
              <a:srgbClr val="E0E0E0"/>
            </a:solidFill>
            <a:prstDash val="solid"/>
          </a:ln>
        </p:spPr>
      </p:sp>
      <p:sp>
        <p:nvSpPr>
          <p:cNvPr id="79" name="Text 77"/>
          <p:cNvSpPr/>
          <p:nvPr/>
        </p:nvSpPr>
        <p:spPr>
          <a:xfrm>
            <a:off x="6126480" y="3968496"/>
            <a:ext cx="2688336" cy="512064"/>
          </a:xfrm>
          <a:prstGeom prst="rect">
            <a:avLst/>
          </a:prstGeom>
          <a:noFill/>
          <a:ln/>
        </p:spPr>
        <p:txBody>
          <a:bodyPr wrap="square" lIns="0" tIns="0" rIns="0" bIns="0" rtlCol="0" anchor="ctr"/>
          <a:lstStyle/>
          <a:p>
            <a:pPr indent="0" marL="0">
              <a:buNone/>
            </a:pPr>
            <a:r>
              <a:rPr lang="en-US" sz="850" i="1" dirty="0">
                <a:solidFill>
                  <a:srgbClr val="5A6472"/>
                </a:solidFill>
              </a:rPr>
              <a:t>This business earns its premium before we open a DCF model. Shareholder earnings = EPS growth (~21% CAGR) + dividend yield (~1%) = ~22%+ annual compound — exceeds the 10% rubric benchmark every year since IPO.</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8F5"/>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63946"/>
          </a:solidFill>
          <a:ln w="12700">
            <a:solidFill>
              <a:srgbClr val="E63946"/>
            </a:solidFill>
            <a:prstDash val="solid"/>
          </a:ln>
        </p:spPr>
      </p:sp>
      <p:sp>
        <p:nvSpPr>
          <p:cNvPr id="3" name="Text 1"/>
          <p:cNvSpPr/>
          <p:nvPr/>
        </p:nvSpPr>
        <p:spPr>
          <a:xfrm>
            <a:off x="201168" y="4956048"/>
            <a:ext cx="6400800" cy="146304"/>
          </a:xfrm>
          <a:prstGeom prst="rect">
            <a:avLst/>
          </a:prstGeom>
          <a:noFill/>
          <a:ln/>
        </p:spPr>
        <p:txBody>
          <a:bodyPr wrap="square" lIns="0" tIns="0" rIns="0" bIns="0" rtlCol="0" anchor="ctr"/>
          <a:lstStyle/>
          <a:p>
            <a:pPr indent="0" marL="0">
              <a:buNone/>
            </a:pPr>
            <a:r>
              <a:rPr lang="en-US" sz="650" dirty="0">
                <a:solidFill>
                  <a:srgbClr val="AAAAAA"/>
                </a:solidFill>
              </a:rPr>
              <a:t>MBAN5570  |  Soni &amp; Warner 2025  |  Dollarama Inc. (DOL.TO)</a:t>
            </a:r>
            <a:endParaRPr lang="en-US" sz="650" dirty="0"/>
          </a:p>
        </p:txBody>
      </p:sp>
      <p:sp>
        <p:nvSpPr>
          <p:cNvPr id="4" name="Text 2"/>
          <p:cNvSpPr/>
          <p:nvPr/>
        </p:nvSpPr>
        <p:spPr>
          <a:xfrm>
            <a:off x="7772400" y="4956048"/>
            <a:ext cx="1188720" cy="146304"/>
          </a:xfrm>
          <a:prstGeom prst="rect">
            <a:avLst/>
          </a:prstGeom>
          <a:noFill/>
          <a:ln/>
        </p:spPr>
        <p:txBody>
          <a:bodyPr wrap="square" lIns="0" tIns="0" rIns="0" bIns="0" rtlCol="0" anchor="ctr"/>
          <a:lstStyle/>
          <a:p>
            <a:pPr algn="r" indent="0" marL="0">
              <a:buNone/>
            </a:pPr>
            <a:r>
              <a:rPr lang="en-US" sz="650" dirty="0">
                <a:solidFill>
                  <a:srgbClr val="AAAAAA"/>
                </a:solidFill>
              </a:rPr>
              <a:t>Slide 3 / 6</a:t>
            </a:r>
            <a:endParaRPr lang="en-US" sz="650" dirty="0"/>
          </a:p>
        </p:txBody>
      </p:sp>
      <p:sp>
        <p:nvSpPr>
          <p:cNvPr id="5" name="Shape 3"/>
          <p:cNvSpPr/>
          <p:nvPr/>
        </p:nvSpPr>
        <p:spPr>
          <a:xfrm>
            <a:off x="0" y="164592"/>
            <a:ext cx="91440" cy="292608"/>
          </a:xfrm>
          <a:prstGeom prst="rect">
            <a:avLst/>
          </a:prstGeom>
          <a:solidFill>
            <a:srgbClr val="FFFFFF"/>
          </a:solidFill>
          <a:ln w="12700">
            <a:solidFill>
              <a:srgbClr val="FFFFFF"/>
            </a:solidFill>
            <a:prstDash val="solid"/>
          </a:ln>
        </p:spPr>
      </p:sp>
      <p:sp>
        <p:nvSpPr>
          <p:cNvPr id="6" name="Text 4"/>
          <p:cNvSpPr/>
          <p:nvPr/>
        </p:nvSpPr>
        <p:spPr>
          <a:xfrm>
            <a:off x="0" y="164592"/>
            <a:ext cx="91440" cy="292608"/>
          </a:xfrm>
          <a:prstGeom prst="rect">
            <a:avLst/>
          </a:prstGeom>
          <a:noFill/>
          <a:ln/>
        </p:spPr>
        <p:txBody>
          <a:bodyPr wrap="square" lIns="0" tIns="0" rIns="0" bIns="0" rtlCol="0" anchor="ctr"/>
          <a:lstStyle/>
          <a:p>
            <a:pPr algn="ctr" indent="0" marL="0">
              <a:buNone/>
            </a:pPr>
            <a:r>
              <a:rPr lang="en-US" sz="750" b="1" dirty="0">
                <a:solidFill>
                  <a:srgbClr val="E63946"/>
                </a:solidFill>
              </a:rPr>
              <a:t>3</a:t>
            </a:r>
            <a:endParaRPr lang="en-US" sz="750" dirty="0"/>
          </a:p>
        </p:txBody>
      </p:sp>
      <p:sp>
        <p:nvSpPr>
          <p:cNvPr id="7" name="Text 5"/>
          <p:cNvSpPr/>
          <p:nvPr/>
        </p:nvSpPr>
        <p:spPr>
          <a:xfrm>
            <a:off x="201168" y="91440"/>
            <a:ext cx="7680960" cy="457200"/>
          </a:xfrm>
          <a:prstGeom prst="rect">
            <a:avLst/>
          </a:prstGeom>
          <a:noFill/>
          <a:ln/>
        </p:spPr>
        <p:txBody>
          <a:bodyPr wrap="square" lIns="0" tIns="0" rIns="0" bIns="0" rtlCol="0" anchor="ctr"/>
          <a:lstStyle/>
          <a:p>
            <a:pPr indent="0" marL="0">
              <a:buNone/>
            </a:pPr>
            <a:r>
              <a:rPr lang="en-US" sz="2400" b="1" dirty="0">
                <a:solidFill>
                  <a:srgbClr val="1D3557"/>
                </a:solidFill>
                <a:latin typeface="Georgia" pitchFamily="34" charset="0"/>
                <a:ea typeface="Georgia" pitchFamily="34" charset="-122"/>
                <a:cs typeface="Georgia" pitchFamily="34" charset="-120"/>
              </a:rPr>
              <a:t>ROIC ~30% vs WACC 9% — Value Creation Every Year</a:t>
            </a:r>
            <a:endParaRPr lang="en-US" sz="2400" dirty="0"/>
          </a:p>
        </p:txBody>
      </p:sp>
      <p:sp>
        <p:nvSpPr>
          <p:cNvPr id="8" name="Text 6"/>
          <p:cNvSpPr/>
          <p:nvPr/>
        </p:nvSpPr>
        <p:spPr>
          <a:xfrm>
            <a:off x="201168" y="530352"/>
            <a:ext cx="6858000" cy="182880"/>
          </a:xfrm>
          <a:prstGeom prst="rect">
            <a:avLst/>
          </a:prstGeom>
          <a:noFill/>
          <a:ln/>
        </p:spPr>
        <p:txBody>
          <a:bodyPr wrap="square" lIns="0" tIns="0" rIns="0" bIns="0" rtlCol="0" anchor="ctr"/>
          <a:lstStyle/>
          <a:p>
            <a:pPr indent="0" marL="0">
              <a:buNone/>
            </a:pPr>
            <a:r>
              <a:rPr lang="en-US" sz="950" i="1" dirty="0">
                <a:solidFill>
                  <a:srgbClr val="5A6472"/>
                </a:solidFill>
              </a:rPr>
              <a:t>Revenue | EBITDA margin | Earnings quality | Capital allocation | Peer comparison</a:t>
            </a:r>
            <a:endParaRPr lang="en-US" sz="950" dirty="0"/>
          </a:p>
        </p:txBody>
      </p:sp>
      <p:sp>
        <p:nvSpPr>
          <p:cNvPr id="9" name="Shape 7"/>
          <p:cNvSpPr/>
          <p:nvPr/>
        </p:nvSpPr>
        <p:spPr>
          <a:xfrm>
            <a:off x="7973568" y="109728"/>
            <a:ext cx="914400" cy="201168"/>
          </a:xfrm>
          <a:prstGeom prst="rect">
            <a:avLst/>
          </a:prstGeom>
          <a:solidFill>
            <a:srgbClr val="EBF0F5"/>
          </a:solidFill>
          <a:ln w="6350">
            <a:solidFill>
              <a:srgbClr val="457B9D"/>
            </a:solidFill>
            <a:prstDash val="solid"/>
          </a:ln>
        </p:spPr>
      </p:sp>
      <p:sp>
        <p:nvSpPr>
          <p:cNvPr id="10" name="Text 8"/>
          <p:cNvSpPr/>
          <p:nvPr/>
        </p:nvSpPr>
        <p:spPr>
          <a:xfrm>
            <a:off x="7973568" y="109728"/>
            <a:ext cx="914400" cy="201168"/>
          </a:xfrm>
          <a:prstGeom prst="rect">
            <a:avLst/>
          </a:prstGeom>
          <a:noFill/>
          <a:ln/>
        </p:spPr>
        <p:txBody>
          <a:bodyPr wrap="square" lIns="0" tIns="0" rIns="0" bIns="0" rtlCol="0" anchor="ctr"/>
          <a:lstStyle/>
          <a:p>
            <a:pPr algn="ctr" indent="0" marL="0">
              <a:buNone/>
            </a:pPr>
            <a:r>
              <a:rPr lang="en-US" sz="750" dirty="0">
                <a:solidFill>
                  <a:srgbClr val="1D3557"/>
                </a:solidFill>
              </a:rPr>
              <a:t>~1:25</a:t>
            </a:r>
            <a:endParaRPr lang="en-US" sz="750" dirty="0"/>
          </a:p>
        </p:txBody>
      </p:sp>
      <p:sp>
        <p:nvSpPr>
          <p:cNvPr id="11" name="Shape 9"/>
          <p:cNvSpPr/>
          <p:nvPr/>
        </p:nvSpPr>
        <p:spPr>
          <a:xfrm>
            <a:off x="201168" y="768096"/>
            <a:ext cx="8686800" cy="0"/>
          </a:xfrm>
          <a:prstGeom prst="line">
            <a:avLst/>
          </a:prstGeom>
          <a:noFill/>
          <a:ln w="6350">
            <a:solidFill>
              <a:srgbClr val="D0D0D0"/>
            </a:solidFill>
            <a:prstDash val="solid"/>
          </a:ln>
        </p:spPr>
      </p:sp>
      <p:sp>
        <p:nvSpPr>
          <p:cNvPr id="12" name="Shape 10"/>
          <p:cNvSpPr/>
          <p:nvPr/>
        </p:nvSpPr>
        <p:spPr>
          <a:xfrm>
            <a:off x="201168" y="914400"/>
            <a:ext cx="1609344" cy="896112"/>
          </a:xfrm>
          <a:prstGeom prst="rect">
            <a:avLst/>
          </a:prstGeom>
          <a:solidFill>
            <a:srgbClr val="FFFFFF"/>
          </a:solidFill>
          <a:ln w="6350">
            <a:solidFill>
              <a:srgbClr val="E0E0E0"/>
            </a:solidFill>
            <a:prstDash val="solid"/>
          </a:ln>
          <a:effectLst>
            <a:outerShdw sx="100000" sy="100000" kx="0" ky="0" algn="bl" rotWithShape="0" blurRad="88900" dist="25400" dir="8100000">
              <a:srgbClr val="000000">
                <a:alpha val="10000"/>
              </a:srgbClr>
            </a:outerShdw>
          </a:effectLst>
        </p:spPr>
      </p:sp>
      <p:sp>
        <p:nvSpPr>
          <p:cNvPr id="13" name="Shape 11"/>
          <p:cNvSpPr/>
          <p:nvPr/>
        </p:nvSpPr>
        <p:spPr>
          <a:xfrm>
            <a:off x="201168" y="914400"/>
            <a:ext cx="1609344" cy="50292"/>
          </a:xfrm>
          <a:prstGeom prst="rect">
            <a:avLst/>
          </a:prstGeom>
          <a:solidFill>
            <a:srgbClr val="E63946"/>
          </a:solidFill>
          <a:ln w="12700">
            <a:solidFill>
              <a:srgbClr val="E63946"/>
            </a:solidFill>
            <a:prstDash val="solid"/>
          </a:ln>
        </p:spPr>
      </p:sp>
      <p:sp>
        <p:nvSpPr>
          <p:cNvPr id="14" name="Text 12"/>
          <p:cNvSpPr/>
          <p:nvPr/>
        </p:nvSpPr>
        <p:spPr>
          <a:xfrm>
            <a:off x="301752" y="987552"/>
            <a:ext cx="1408176" cy="164592"/>
          </a:xfrm>
          <a:prstGeom prst="rect">
            <a:avLst/>
          </a:prstGeom>
          <a:noFill/>
          <a:ln/>
        </p:spPr>
        <p:txBody>
          <a:bodyPr wrap="square" lIns="0" tIns="0" rIns="0" bIns="0" rtlCol="0" anchor="ctr"/>
          <a:lstStyle/>
          <a:p>
            <a:pPr indent="0" marL="0">
              <a:buNone/>
            </a:pPr>
            <a:r>
              <a:rPr lang="en-US" sz="700" b="1" spc="120" kern="0" dirty="0">
                <a:solidFill>
                  <a:srgbClr val="5A6472"/>
                </a:solidFill>
              </a:rPr>
              <a:t>REVENUE CAGR</a:t>
            </a:r>
            <a:endParaRPr lang="en-US" sz="700" dirty="0"/>
          </a:p>
        </p:txBody>
      </p:sp>
      <p:sp>
        <p:nvSpPr>
          <p:cNvPr id="15" name="Text 13"/>
          <p:cNvSpPr/>
          <p:nvPr/>
        </p:nvSpPr>
        <p:spPr>
          <a:xfrm>
            <a:off x="301752" y="1133856"/>
            <a:ext cx="1408176" cy="384048"/>
          </a:xfrm>
          <a:prstGeom prst="rect">
            <a:avLst/>
          </a:prstGeom>
          <a:noFill/>
          <a:ln/>
        </p:spPr>
        <p:txBody>
          <a:bodyPr wrap="square" lIns="0" tIns="0" rIns="0" bIns="0" rtlCol="0" anchor="ctr"/>
          <a:lstStyle/>
          <a:p>
            <a:pPr indent="0" marL="0">
              <a:buNone/>
            </a:pPr>
            <a:r>
              <a:rPr lang="en-US" sz="2000" b="1" dirty="0">
                <a:solidFill>
                  <a:srgbClr val="1D3557"/>
                </a:solidFill>
                <a:latin typeface="Georgia" pitchFamily="34" charset="0"/>
                <a:ea typeface="Georgia" pitchFamily="34" charset="-122"/>
                <a:cs typeface="Georgia" pitchFamily="34" charset="-120"/>
              </a:rPr>
              <a:t>14%</a:t>
            </a:r>
            <a:endParaRPr lang="en-US" sz="2000" dirty="0"/>
          </a:p>
        </p:txBody>
      </p:sp>
      <p:sp>
        <p:nvSpPr>
          <p:cNvPr id="16" name="Text 14"/>
          <p:cNvSpPr/>
          <p:nvPr/>
        </p:nvSpPr>
        <p:spPr>
          <a:xfrm>
            <a:off x="301752" y="1508760"/>
            <a:ext cx="1408176" cy="164592"/>
          </a:xfrm>
          <a:prstGeom prst="rect">
            <a:avLst/>
          </a:prstGeom>
          <a:noFill/>
          <a:ln/>
        </p:spPr>
        <p:txBody>
          <a:bodyPr wrap="square" lIns="0" tIns="0" rIns="0" bIns="0" rtlCol="0" anchor="ctr"/>
          <a:lstStyle/>
          <a:p>
            <a:pPr indent="0" marL="0">
              <a:buNone/>
            </a:pPr>
            <a:r>
              <a:rPr lang="en-US" sz="800" i="1" dirty="0">
                <a:solidFill>
                  <a:srgbClr val="5A6472"/>
                </a:solidFill>
              </a:rPr>
              <a:t>FY2022-FY2026</a:t>
            </a:r>
            <a:endParaRPr lang="en-US" sz="800" dirty="0"/>
          </a:p>
        </p:txBody>
      </p:sp>
      <p:sp>
        <p:nvSpPr>
          <p:cNvPr id="17" name="Shape 15"/>
          <p:cNvSpPr/>
          <p:nvPr/>
        </p:nvSpPr>
        <p:spPr>
          <a:xfrm>
            <a:off x="1938528" y="914400"/>
            <a:ext cx="1609344" cy="896112"/>
          </a:xfrm>
          <a:prstGeom prst="rect">
            <a:avLst/>
          </a:prstGeom>
          <a:solidFill>
            <a:srgbClr val="FFFFFF"/>
          </a:solidFill>
          <a:ln w="6350">
            <a:solidFill>
              <a:srgbClr val="E0E0E0"/>
            </a:solidFill>
            <a:prstDash val="solid"/>
          </a:ln>
          <a:effectLst>
            <a:outerShdw sx="100000" sy="100000" kx="0" ky="0" algn="bl" rotWithShape="0" blurRad="88900" dist="25400" dir="8100000">
              <a:srgbClr val="000000">
                <a:alpha val="10000"/>
              </a:srgbClr>
            </a:outerShdw>
          </a:effectLst>
        </p:spPr>
      </p:sp>
      <p:sp>
        <p:nvSpPr>
          <p:cNvPr id="18" name="Shape 16"/>
          <p:cNvSpPr/>
          <p:nvPr/>
        </p:nvSpPr>
        <p:spPr>
          <a:xfrm>
            <a:off x="1938528" y="914400"/>
            <a:ext cx="1609344" cy="50292"/>
          </a:xfrm>
          <a:prstGeom prst="rect">
            <a:avLst/>
          </a:prstGeom>
          <a:solidFill>
            <a:srgbClr val="1D3557"/>
          </a:solidFill>
          <a:ln w="12700">
            <a:solidFill>
              <a:srgbClr val="1D3557"/>
            </a:solidFill>
            <a:prstDash val="solid"/>
          </a:ln>
        </p:spPr>
      </p:sp>
      <p:sp>
        <p:nvSpPr>
          <p:cNvPr id="19" name="Text 17"/>
          <p:cNvSpPr/>
          <p:nvPr/>
        </p:nvSpPr>
        <p:spPr>
          <a:xfrm>
            <a:off x="2039112" y="987552"/>
            <a:ext cx="1408176" cy="164592"/>
          </a:xfrm>
          <a:prstGeom prst="rect">
            <a:avLst/>
          </a:prstGeom>
          <a:noFill/>
          <a:ln/>
        </p:spPr>
        <p:txBody>
          <a:bodyPr wrap="square" lIns="0" tIns="0" rIns="0" bIns="0" rtlCol="0" anchor="ctr"/>
          <a:lstStyle/>
          <a:p>
            <a:pPr indent="0" marL="0">
              <a:buNone/>
            </a:pPr>
            <a:r>
              <a:rPr lang="en-US" sz="700" b="1" spc="120" kern="0" dirty="0">
                <a:solidFill>
                  <a:srgbClr val="5A6472"/>
                </a:solidFill>
              </a:rPr>
              <a:t>EPS CAGR</a:t>
            </a:r>
            <a:endParaRPr lang="en-US" sz="700" dirty="0"/>
          </a:p>
        </p:txBody>
      </p:sp>
      <p:sp>
        <p:nvSpPr>
          <p:cNvPr id="20" name="Text 18"/>
          <p:cNvSpPr/>
          <p:nvPr/>
        </p:nvSpPr>
        <p:spPr>
          <a:xfrm>
            <a:off x="2039112" y="1133856"/>
            <a:ext cx="1408176" cy="384048"/>
          </a:xfrm>
          <a:prstGeom prst="rect">
            <a:avLst/>
          </a:prstGeom>
          <a:noFill/>
          <a:ln/>
        </p:spPr>
        <p:txBody>
          <a:bodyPr wrap="square" lIns="0" tIns="0" rIns="0" bIns="0" rtlCol="0" anchor="ctr"/>
          <a:lstStyle/>
          <a:p>
            <a:pPr indent="0" marL="0">
              <a:buNone/>
            </a:pPr>
            <a:r>
              <a:rPr lang="en-US" sz="2000" b="1" dirty="0">
                <a:solidFill>
                  <a:srgbClr val="1D3557"/>
                </a:solidFill>
                <a:latin typeface="Georgia" pitchFamily="34" charset="0"/>
                <a:ea typeface="Georgia" pitchFamily="34" charset="-122"/>
                <a:cs typeface="Georgia" pitchFamily="34" charset="-120"/>
              </a:rPr>
              <a:t>21%</a:t>
            </a:r>
            <a:endParaRPr lang="en-US" sz="2000" dirty="0"/>
          </a:p>
        </p:txBody>
      </p:sp>
      <p:sp>
        <p:nvSpPr>
          <p:cNvPr id="21" name="Text 19"/>
          <p:cNvSpPr/>
          <p:nvPr/>
        </p:nvSpPr>
        <p:spPr>
          <a:xfrm>
            <a:off x="2039112" y="1508760"/>
            <a:ext cx="1408176" cy="164592"/>
          </a:xfrm>
          <a:prstGeom prst="rect">
            <a:avLst/>
          </a:prstGeom>
          <a:noFill/>
          <a:ln/>
        </p:spPr>
        <p:txBody>
          <a:bodyPr wrap="square" lIns="0" tIns="0" rIns="0" bIns="0" rtlCol="0" anchor="ctr"/>
          <a:lstStyle/>
          <a:p>
            <a:pPr indent="0" marL="0">
              <a:buNone/>
            </a:pPr>
            <a:r>
              <a:rPr lang="en-US" sz="800" i="1" dirty="0">
                <a:solidFill>
                  <a:srgbClr val="5A6472"/>
                </a:solidFill>
              </a:rPr>
              <a:t>FY2022-FY2026</a:t>
            </a:r>
            <a:endParaRPr lang="en-US" sz="800" dirty="0"/>
          </a:p>
        </p:txBody>
      </p:sp>
      <p:sp>
        <p:nvSpPr>
          <p:cNvPr id="22" name="Shape 20"/>
          <p:cNvSpPr/>
          <p:nvPr/>
        </p:nvSpPr>
        <p:spPr>
          <a:xfrm>
            <a:off x="3675888" y="914400"/>
            <a:ext cx="1609344" cy="896112"/>
          </a:xfrm>
          <a:prstGeom prst="rect">
            <a:avLst/>
          </a:prstGeom>
          <a:solidFill>
            <a:srgbClr val="FFFFFF"/>
          </a:solidFill>
          <a:ln w="6350">
            <a:solidFill>
              <a:srgbClr val="E0E0E0"/>
            </a:solidFill>
            <a:prstDash val="solid"/>
          </a:ln>
          <a:effectLst>
            <a:outerShdw sx="100000" sy="100000" kx="0" ky="0" algn="bl" rotWithShape="0" blurRad="88900" dist="25400" dir="8100000">
              <a:srgbClr val="000000">
                <a:alpha val="10000"/>
              </a:srgbClr>
            </a:outerShdw>
          </a:effectLst>
        </p:spPr>
      </p:sp>
      <p:sp>
        <p:nvSpPr>
          <p:cNvPr id="23" name="Shape 21"/>
          <p:cNvSpPr/>
          <p:nvPr/>
        </p:nvSpPr>
        <p:spPr>
          <a:xfrm>
            <a:off x="3675888" y="914400"/>
            <a:ext cx="1609344" cy="50292"/>
          </a:xfrm>
          <a:prstGeom prst="rect">
            <a:avLst/>
          </a:prstGeom>
          <a:solidFill>
            <a:srgbClr val="2A9D8F"/>
          </a:solidFill>
          <a:ln w="12700">
            <a:solidFill>
              <a:srgbClr val="2A9D8F"/>
            </a:solidFill>
            <a:prstDash val="solid"/>
          </a:ln>
        </p:spPr>
      </p:sp>
      <p:sp>
        <p:nvSpPr>
          <p:cNvPr id="24" name="Text 22"/>
          <p:cNvSpPr/>
          <p:nvPr/>
        </p:nvSpPr>
        <p:spPr>
          <a:xfrm>
            <a:off x="3776472" y="987552"/>
            <a:ext cx="1408176" cy="164592"/>
          </a:xfrm>
          <a:prstGeom prst="rect">
            <a:avLst/>
          </a:prstGeom>
          <a:noFill/>
          <a:ln/>
        </p:spPr>
        <p:txBody>
          <a:bodyPr wrap="square" lIns="0" tIns="0" rIns="0" bIns="0" rtlCol="0" anchor="ctr"/>
          <a:lstStyle/>
          <a:p>
            <a:pPr indent="0" marL="0">
              <a:buNone/>
            </a:pPr>
            <a:r>
              <a:rPr lang="en-US" sz="700" b="1" spc="120" kern="0" dirty="0">
                <a:solidFill>
                  <a:srgbClr val="5A6472"/>
                </a:solidFill>
              </a:rPr>
              <a:t>EBITDA MARGIN (FY2025)</a:t>
            </a:r>
            <a:endParaRPr lang="en-US" sz="700" dirty="0"/>
          </a:p>
        </p:txBody>
      </p:sp>
      <p:sp>
        <p:nvSpPr>
          <p:cNvPr id="25" name="Text 23"/>
          <p:cNvSpPr/>
          <p:nvPr/>
        </p:nvSpPr>
        <p:spPr>
          <a:xfrm>
            <a:off x="3776472" y="1133856"/>
            <a:ext cx="1408176" cy="384048"/>
          </a:xfrm>
          <a:prstGeom prst="rect">
            <a:avLst/>
          </a:prstGeom>
          <a:noFill/>
          <a:ln/>
        </p:spPr>
        <p:txBody>
          <a:bodyPr wrap="square" lIns="0" tIns="0" rIns="0" bIns="0" rtlCol="0" anchor="ctr"/>
          <a:lstStyle/>
          <a:p>
            <a:pPr indent="0" marL="0">
              <a:buNone/>
            </a:pPr>
            <a:r>
              <a:rPr lang="en-US" sz="2000" b="1" dirty="0">
                <a:solidFill>
                  <a:srgbClr val="1D3557"/>
                </a:solidFill>
                <a:latin typeface="Georgia" pitchFamily="34" charset="0"/>
                <a:ea typeface="Georgia" pitchFamily="34" charset="-122"/>
                <a:cs typeface="Georgia" pitchFamily="34" charset="-120"/>
              </a:rPr>
              <a:t>~33%</a:t>
            </a:r>
            <a:endParaRPr lang="en-US" sz="2000" dirty="0"/>
          </a:p>
        </p:txBody>
      </p:sp>
      <p:sp>
        <p:nvSpPr>
          <p:cNvPr id="26" name="Text 24"/>
          <p:cNvSpPr/>
          <p:nvPr/>
        </p:nvSpPr>
        <p:spPr>
          <a:xfrm>
            <a:off x="3776472" y="1508760"/>
            <a:ext cx="1408176" cy="164592"/>
          </a:xfrm>
          <a:prstGeom prst="rect">
            <a:avLst/>
          </a:prstGeom>
          <a:noFill/>
          <a:ln/>
        </p:spPr>
        <p:txBody>
          <a:bodyPr wrap="square" lIns="0" tIns="0" rIns="0" bIns="0" rtlCol="0" anchor="ctr"/>
          <a:lstStyle/>
          <a:p>
            <a:pPr indent="0" marL="0">
              <a:buNone/>
            </a:pPr>
            <a:r>
              <a:rPr lang="en-US" sz="800" i="1" dirty="0">
                <a:solidFill>
                  <a:srgbClr val="5A6472"/>
                </a:solidFill>
              </a:rPr>
              <a:t>vs peers 10-12%</a:t>
            </a:r>
            <a:endParaRPr lang="en-US" sz="800" dirty="0"/>
          </a:p>
        </p:txBody>
      </p:sp>
      <p:sp>
        <p:nvSpPr>
          <p:cNvPr id="27" name="Shape 25"/>
          <p:cNvSpPr/>
          <p:nvPr/>
        </p:nvSpPr>
        <p:spPr>
          <a:xfrm>
            <a:off x="5413248" y="914400"/>
            <a:ext cx="1609344" cy="896112"/>
          </a:xfrm>
          <a:prstGeom prst="rect">
            <a:avLst/>
          </a:prstGeom>
          <a:solidFill>
            <a:srgbClr val="FFFFFF"/>
          </a:solidFill>
          <a:ln w="6350">
            <a:solidFill>
              <a:srgbClr val="E0E0E0"/>
            </a:solidFill>
            <a:prstDash val="solid"/>
          </a:ln>
          <a:effectLst>
            <a:outerShdw sx="100000" sy="100000" kx="0" ky="0" algn="bl" rotWithShape="0" blurRad="88900" dist="25400" dir="8100000">
              <a:srgbClr val="000000">
                <a:alpha val="10000"/>
              </a:srgbClr>
            </a:outerShdw>
          </a:effectLst>
        </p:spPr>
      </p:sp>
      <p:sp>
        <p:nvSpPr>
          <p:cNvPr id="28" name="Shape 26"/>
          <p:cNvSpPr/>
          <p:nvPr/>
        </p:nvSpPr>
        <p:spPr>
          <a:xfrm>
            <a:off x="5413248" y="914400"/>
            <a:ext cx="1609344" cy="50292"/>
          </a:xfrm>
          <a:prstGeom prst="rect">
            <a:avLst/>
          </a:prstGeom>
          <a:solidFill>
            <a:srgbClr val="E63946"/>
          </a:solidFill>
          <a:ln w="12700">
            <a:solidFill>
              <a:srgbClr val="E63946"/>
            </a:solidFill>
            <a:prstDash val="solid"/>
          </a:ln>
        </p:spPr>
      </p:sp>
      <p:sp>
        <p:nvSpPr>
          <p:cNvPr id="29" name="Text 27"/>
          <p:cNvSpPr/>
          <p:nvPr/>
        </p:nvSpPr>
        <p:spPr>
          <a:xfrm>
            <a:off x="5513832" y="987552"/>
            <a:ext cx="1408176" cy="164592"/>
          </a:xfrm>
          <a:prstGeom prst="rect">
            <a:avLst/>
          </a:prstGeom>
          <a:noFill/>
          <a:ln/>
        </p:spPr>
        <p:txBody>
          <a:bodyPr wrap="square" lIns="0" tIns="0" rIns="0" bIns="0" rtlCol="0" anchor="ctr"/>
          <a:lstStyle/>
          <a:p>
            <a:pPr indent="0" marL="0">
              <a:buNone/>
            </a:pPr>
            <a:r>
              <a:rPr lang="en-US" sz="700" b="1" spc="120" kern="0" dirty="0">
                <a:solidFill>
                  <a:srgbClr val="5A6472"/>
                </a:solidFill>
              </a:rPr>
              <a:t>ROIC</a:t>
            </a:r>
            <a:endParaRPr lang="en-US" sz="700" dirty="0"/>
          </a:p>
        </p:txBody>
      </p:sp>
      <p:sp>
        <p:nvSpPr>
          <p:cNvPr id="30" name="Text 28"/>
          <p:cNvSpPr/>
          <p:nvPr/>
        </p:nvSpPr>
        <p:spPr>
          <a:xfrm>
            <a:off x="5513832" y="1133856"/>
            <a:ext cx="1408176" cy="384048"/>
          </a:xfrm>
          <a:prstGeom prst="rect">
            <a:avLst/>
          </a:prstGeom>
          <a:noFill/>
          <a:ln/>
        </p:spPr>
        <p:txBody>
          <a:bodyPr wrap="square" lIns="0" tIns="0" rIns="0" bIns="0" rtlCol="0" anchor="ctr"/>
          <a:lstStyle/>
          <a:p>
            <a:pPr indent="0" marL="0">
              <a:buNone/>
            </a:pPr>
            <a:r>
              <a:rPr lang="en-US" sz="2000" b="1" dirty="0">
                <a:solidFill>
                  <a:srgbClr val="1D3557"/>
                </a:solidFill>
                <a:latin typeface="Georgia" pitchFamily="34" charset="0"/>
                <a:ea typeface="Georgia" pitchFamily="34" charset="-122"/>
                <a:cs typeface="Georgia" pitchFamily="34" charset="-120"/>
              </a:rPr>
              <a:t>~30%</a:t>
            </a:r>
            <a:endParaRPr lang="en-US" sz="2000" dirty="0"/>
          </a:p>
        </p:txBody>
      </p:sp>
      <p:sp>
        <p:nvSpPr>
          <p:cNvPr id="31" name="Text 29"/>
          <p:cNvSpPr/>
          <p:nvPr/>
        </p:nvSpPr>
        <p:spPr>
          <a:xfrm>
            <a:off x="5513832" y="1508760"/>
            <a:ext cx="1408176" cy="164592"/>
          </a:xfrm>
          <a:prstGeom prst="rect">
            <a:avLst/>
          </a:prstGeom>
          <a:noFill/>
          <a:ln/>
        </p:spPr>
        <p:txBody>
          <a:bodyPr wrap="square" lIns="0" tIns="0" rIns="0" bIns="0" rtlCol="0" anchor="ctr"/>
          <a:lstStyle/>
          <a:p>
            <a:pPr indent="0" marL="0">
              <a:buNone/>
            </a:pPr>
            <a:r>
              <a:rPr lang="en-US" sz="800" i="1" dirty="0">
                <a:solidFill>
                  <a:srgbClr val="5A6472"/>
                </a:solidFill>
              </a:rPr>
              <a:t>vs 9% WACC</a:t>
            </a:r>
            <a:endParaRPr lang="en-US" sz="800" dirty="0"/>
          </a:p>
        </p:txBody>
      </p:sp>
      <p:sp>
        <p:nvSpPr>
          <p:cNvPr id="32" name="Shape 30"/>
          <p:cNvSpPr/>
          <p:nvPr/>
        </p:nvSpPr>
        <p:spPr>
          <a:xfrm>
            <a:off x="7150608" y="914400"/>
            <a:ext cx="1609344" cy="896112"/>
          </a:xfrm>
          <a:prstGeom prst="rect">
            <a:avLst/>
          </a:prstGeom>
          <a:solidFill>
            <a:srgbClr val="FFFFFF"/>
          </a:solidFill>
          <a:ln w="6350">
            <a:solidFill>
              <a:srgbClr val="E0E0E0"/>
            </a:solidFill>
            <a:prstDash val="solid"/>
          </a:ln>
          <a:effectLst>
            <a:outerShdw sx="100000" sy="100000" kx="0" ky="0" algn="bl" rotWithShape="0" blurRad="88900" dist="25400" dir="8100000">
              <a:srgbClr val="000000">
                <a:alpha val="10000"/>
              </a:srgbClr>
            </a:outerShdw>
          </a:effectLst>
        </p:spPr>
      </p:sp>
      <p:sp>
        <p:nvSpPr>
          <p:cNvPr id="33" name="Shape 31"/>
          <p:cNvSpPr/>
          <p:nvPr/>
        </p:nvSpPr>
        <p:spPr>
          <a:xfrm>
            <a:off x="7150608" y="914400"/>
            <a:ext cx="1609344" cy="50292"/>
          </a:xfrm>
          <a:prstGeom prst="rect">
            <a:avLst/>
          </a:prstGeom>
          <a:solidFill>
            <a:srgbClr val="1D3557"/>
          </a:solidFill>
          <a:ln w="12700">
            <a:solidFill>
              <a:srgbClr val="1D3557"/>
            </a:solidFill>
            <a:prstDash val="solid"/>
          </a:ln>
        </p:spPr>
      </p:sp>
      <p:sp>
        <p:nvSpPr>
          <p:cNvPr id="34" name="Text 32"/>
          <p:cNvSpPr/>
          <p:nvPr/>
        </p:nvSpPr>
        <p:spPr>
          <a:xfrm>
            <a:off x="7251192" y="987552"/>
            <a:ext cx="1408176" cy="164592"/>
          </a:xfrm>
          <a:prstGeom prst="rect">
            <a:avLst/>
          </a:prstGeom>
          <a:noFill/>
          <a:ln/>
        </p:spPr>
        <p:txBody>
          <a:bodyPr wrap="square" lIns="0" tIns="0" rIns="0" bIns="0" rtlCol="0" anchor="ctr"/>
          <a:lstStyle/>
          <a:p>
            <a:pPr indent="0" marL="0">
              <a:buNone/>
            </a:pPr>
            <a:r>
              <a:rPr lang="en-US" sz="700" b="1" spc="120" kern="0" dirty="0">
                <a:solidFill>
                  <a:srgbClr val="5A6472"/>
                </a:solidFill>
              </a:rPr>
              <a:t>NET DEBT/EBITDA</a:t>
            </a:r>
            <a:endParaRPr lang="en-US" sz="700" dirty="0"/>
          </a:p>
        </p:txBody>
      </p:sp>
      <p:sp>
        <p:nvSpPr>
          <p:cNvPr id="35" name="Text 33"/>
          <p:cNvSpPr/>
          <p:nvPr/>
        </p:nvSpPr>
        <p:spPr>
          <a:xfrm>
            <a:off x="7251192" y="1133856"/>
            <a:ext cx="1408176" cy="384048"/>
          </a:xfrm>
          <a:prstGeom prst="rect">
            <a:avLst/>
          </a:prstGeom>
          <a:noFill/>
          <a:ln/>
        </p:spPr>
        <p:txBody>
          <a:bodyPr wrap="square" lIns="0" tIns="0" rIns="0" bIns="0" rtlCol="0" anchor="ctr"/>
          <a:lstStyle/>
          <a:p>
            <a:pPr indent="0" marL="0">
              <a:buNone/>
            </a:pPr>
            <a:r>
              <a:rPr lang="en-US" sz="2000" b="1" dirty="0">
                <a:solidFill>
                  <a:srgbClr val="1D3557"/>
                </a:solidFill>
                <a:latin typeface="Georgia" pitchFamily="34" charset="0"/>
                <a:ea typeface="Georgia" pitchFamily="34" charset="-122"/>
                <a:cs typeface="Georgia" pitchFamily="34" charset="-120"/>
              </a:rPr>
              <a:t>1.1x</a:t>
            </a:r>
            <a:endParaRPr lang="en-US" sz="2000" dirty="0"/>
          </a:p>
        </p:txBody>
      </p:sp>
      <p:sp>
        <p:nvSpPr>
          <p:cNvPr id="36" name="Text 34"/>
          <p:cNvSpPr/>
          <p:nvPr/>
        </p:nvSpPr>
        <p:spPr>
          <a:xfrm>
            <a:off x="7251192" y="1508760"/>
            <a:ext cx="1408176" cy="164592"/>
          </a:xfrm>
          <a:prstGeom prst="rect">
            <a:avLst/>
          </a:prstGeom>
          <a:noFill/>
          <a:ln/>
        </p:spPr>
        <p:txBody>
          <a:bodyPr wrap="square" lIns="0" tIns="0" rIns="0" bIns="0" rtlCol="0" anchor="ctr"/>
          <a:lstStyle/>
          <a:p>
            <a:pPr indent="0" marL="0">
              <a:buNone/>
            </a:pPr>
            <a:r>
              <a:rPr lang="en-US" sz="800" i="1" dirty="0">
                <a:solidFill>
                  <a:srgbClr val="5A6472"/>
                </a:solidFill>
              </a:rPr>
              <a:t>Manageable leverage</a:t>
            </a:r>
            <a:endParaRPr lang="en-US" sz="800" dirty="0"/>
          </a:p>
        </p:txBody>
      </p:sp>
      <p:graphicFrame>
        <p:nvGraphicFramePr>
          <p:cNvPr id="37" name="Chart 0" descr=""/>
          <p:cNvGraphicFramePr/>
          <p:nvPr/>
        </p:nvGraphicFramePr>
        <p:xfrm>
          <a:off x="201168" y="1920240"/>
          <a:ext cx="4114800" cy="2523744"/>
        </p:xfrm>
        <a:graphic xmlns:a="http://schemas.openxmlformats.org/drawingml/2006/main">
          <a:graphicData uri="http://schemas.openxmlformats.org/drawingml/2006/chart">
            <c:chart xmlns:c="http://schemas.openxmlformats.org/drawingml/2006/chart" r:id="rId1"/>
          </a:graphicData>
        </a:graphic>
      </p:graphicFrame>
      <p:sp>
        <p:nvSpPr>
          <p:cNvPr id="38" name="Shape 35"/>
          <p:cNvSpPr/>
          <p:nvPr/>
        </p:nvSpPr>
        <p:spPr>
          <a:xfrm>
            <a:off x="4498848" y="1920240"/>
            <a:ext cx="4425696" cy="2523744"/>
          </a:xfrm>
          <a:prstGeom prst="rect">
            <a:avLst/>
          </a:prstGeom>
          <a:solidFill>
            <a:srgbClr val="FFFFFF"/>
          </a:solidFill>
          <a:ln w="6350">
            <a:solidFill>
              <a:srgbClr val="E0E0E0"/>
            </a:solidFill>
            <a:prstDash val="solid"/>
          </a:ln>
          <a:effectLst>
            <a:outerShdw sx="100000" sy="100000" kx="0" ky="0" algn="bl" rotWithShape="0" blurRad="88900" dist="25400" dir="8100000">
              <a:srgbClr val="000000">
                <a:alpha val="10000"/>
              </a:srgbClr>
            </a:outerShdw>
          </a:effectLst>
        </p:spPr>
      </p:sp>
      <p:sp>
        <p:nvSpPr>
          <p:cNvPr id="39" name="Shape 36"/>
          <p:cNvSpPr/>
          <p:nvPr/>
        </p:nvSpPr>
        <p:spPr>
          <a:xfrm>
            <a:off x="4498848" y="1920240"/>
            <a:ext cx="4425696" cy="50292"/>
          </a:xfrm>
          <a:prstGeom prst="rect">
            <a:avLst/>
          </a:prstGeom>
          <a:solidFill>
            <a:srgbClr val="E63946"/>
          </a:solidFill>
          <a:ln w="12700">
            <a:solidFill>
              <a:srgbClr val="E63946"/>
            </a:solidFill>
            <a:prstDash val="solid"/>
          </a:ln>
        </p:spPr>
      </p:sp>
      <p:sp>
        <p:nvSpPr>
          <p:cNvPr id="40" name="Text 37"/>
          <p:cNvSpPr/>
          <p:nvPr/>
        </p:nvSpPr>
        <p:spPr>
          <a:xfrm>
            <a:off x="4608576" y="1993392"/>
            <a:ext cx="4206240" cy="182880"/>
          </a:xfrm>
          <a:prstGeom prst="rect">
            <a:avLst/>
          </a:prstGeom>
          <a:noFill/>
          <a:ln/>
        </p:spPr>
        <p:txBody>
          <a:bodyPr wrap="square" lIns="0" tIns="0" rIns="0" bIns="0" rtlCol="0" anchor="ctr"/>
          <a:lstStyle/>
          <a:p>
            <a:pPr indent="0" marL="0">
              <a:buNone/>
            </a:pPr>
            <a:r>
              <a:rPr lang="en-US" sz="800" b="1" spc="100" kern="0" dirty="0">
                <a:solidFill>
                  <a:srgbClr val="5A6472"/>
                </a:solidFill>
              </a:rPr>
              <a:t>PEER COMPARISON &amp; ROIC/WACC SPREAD</a:t>
            </a:r>
            <a:endParaRPr lang="en-US" sz="800" dirty="0"/>
          </a:p>
        </p:txBody>
      </p:sp>
      <p:sp>
        <p:nvSpPr>
          <p:cNvPr id="41" name="Shape 38"/>
          <p:cNvSpPr/>
          <p:nvPr/>
        </p:nvSpPr>
        <p:spPr>
          <a:xfrm>
            <a:off x="4498848" y="2231136"/>
            <a:ext cx="1106424" cy="219456"/>
          </a:xfrm>
          <a:prstGeom prst="rect">
            <a:avLst/>
          </a:prstGeom>
          <a:solidFill>
            <a:srgbClr val="E63946"/>
          </a:solidFill>
          <a:ln w="12700">
            <a:solidFill>
              <a:srgbClr val="E63946"/>
            </a:solidFill>
            <a:prstDash val="solid"/>
          </a:ln>
        </p:spPr>
      </p:sp>
      <p:sp>
        <p:nvSpPr>
          <p:cNvPr id="42" name="Text 39"/>
          <p:cNvSpPr/>
          <p:nvPr/>
        </p:nvSpPr>
        <p:spPr>
          <a:xfrm>
            <a:off x="4498848" y="2231136"/>
            <a:ext cx="1106424" cy="219456"/>
          </a:xfrm>
          <a:prstGeom prst="rect">
            <a:avLst/>
          </a:prstGeom>
          <a:noFill/>
          <a:ln/>
        </p:spPr>
        <p:txBody>
          <a:bodyPr wrap="square" lIns="0" tIns="0" rIns="0" bIns="0" rtlCol="0" anchor="ctr"/>
          <a:lstStyle/>
          <a:p>
            <a:pPr algn="ctr" indent="0" marL="0">
              <a:buNone/>
            </a:pPr>
            <a:r>
              <a:rPr lang="en-US" sz="800" b="1" dirty="0">
                <a:solidFill>
                  <a:srgbClr val="FFFFFF"/>
                </a:solidFill>
              </a:rPr>
              <a:t>Metric</a:t>
            </a:r>
            <a:endParaRPr lang="en-US" sz="800" dirty="0"/>
          </a:p>
        </p:txBody>
      </p:sp>
      <p:sp>
        <p:nvSpPr>
          <p:cNvPr id="43" name="Shape 40"/>
          <p:cNvSpPr/>
          <p:nvPr/>
        </p:nvSpPr>
        <p:spPr>
          <a:xfrm>
            <a:off x="5605272" y="2231136"/>
            <a:ext cx="1106424" cy="219456"/>
          </a:xfrm>
          <a:prstGeom prst="rect">
            <a:avLst/>
          </a:prstGeom>
          <a:solidFill>
            <a:srgbClr val="1D3557"/>
          </a:solidFill>
          <a:ln w="12700">
            <a:solidFill>
              <a:srgbClr val="1D3557"/>
            </a:solidFill>
            <a:prstDash val="solid"/>
          </a:ln>
        </p:spPr>
      </p:sp>
      <p:sp>
        <p:nvSpPr>
          <p:cNvPr id="44" name="Text 41"/>
          <p:cNvSpPr/>
          <p:nvPr/>
        </p:nvSpPr>
        <p:spPr>
          <a:xfrm>
            <a:off x="5605272" y="2231136"/>
            <a:ext cx="1106424" cy="219456"/>
          </a:xfrm>
          <a:prstGeom prst="rect">
            <a:avLst/>
          </a:prstGeom>
          <a:noFill/>
          <a:ln/>
        </p:spPr>
        <p:txBody>
          <a:bodyPr wrap="square" lIns="0" tIns="0" rIns="0" bIns="0" rtlCol="0" anchor="ctr"/>
          <a:lstStyle/>
          <a:p>
            <a:pPr algn="ctr" indent="0" marL="0">
              <a:buNone/>
            </a:pPr>
            <a:r>
              <a:rPr lang="en-US" sz="800" b="1" dirty="0">
                <a:solidFill>
                  <a:srgbClr val="FFFFFF"/>
                </a:solidFill>
              </a:rPr>
              <a:t>DOL.TO</a:t>
            </a:r>
            <a:endParaRPr lang="en-US" sz="800" dirty="0"/>
          </a:p>
        </p:txBody>
      </p:sp>
      <p:sp>
        <p:nvSpPr>
          <p:cNvPr id="45" name="Shape 42"/>
          <p:cNvSpPr/>
          <p:nvPr/>
        </p:nvSpPr>
        <p:spPr>
          <a:xfrm>
            <a:off x="6711696" y="2231136"/>
            <a:ext cx="1106424" cy="219456"/>
          </a:xfrm>
          <a:prstGeom prst="rect">
            <a:avLst/>
          </a:prstGeom>
          <a:solidFill>
            <a:srgbClr val="1D3557"/>
          </a:solidFill>
          <a:ln w="12700">
            <a:solidFill>
              <a:srgbClr val="1D3557"/>
            </a:solidFill>
            <a:prstDash val="solid"/>
          </a:ln>
        </p:spPr>
      </p:sp>
      <p:sp>
        <p:nvSpPr>
          <p:cNvPr id="46" name="Text 43"/>
          <p:cNvSpPr/>
          <p:nvPr/>
        </p:nvSpPr>
        <p:spPr>
          <a:xfrm>
            <a:off x="6711696" y="2231136"/>
            <a:ext cx="1106424" cy="219456"/>
          </a:xfrm>
          <a:prstGeom prst="rect">
            <a:avLst/>
          </a:prstGeom>
          <a:noFill/>
          <a:ln/>
        </p:spPr>
        <p:txBody>
          <a:bodyPr wrap="square" lIns="0" tIns="0" rIns="0" bIns="0" rtlCol="0" anchor="ctr"/>
          <a:lstStyle/>
          <a:p>
            <a:pPr algn="ctr" indent="0" marL="0">
              <a:buNone/>
            </a:pPr>
            <a:r>
              <a:rPr lang="en-US" sz="800" b="1" dirty="0">
                <a:solidFill>
                  <a:srgbClr val="FFFFFF"/>
                </a:solidFill>
              </a:rPr>
              <a:t>DLTR</a:t>
            </a:r>
            <a:endParaRPr lang="en-US" sz="800" dirty="0"/>
          </a:p>
        </p:txBody>
      </p:sp>
      <p:sp>
        <p:nvSpPr>
          <p:cNvPr id="47" name="Shape 44"/>
          <p:cNvSpPr/>
          <p:nvPr/>
        </p:nvSpPr>
        <p:spPr>
          <a:xfrm>
            <a:off x="7818120" y="2231136"/>
            <a:ext cx="1106424" cy="219456"/>
          </a:xfrm>
          <a:prstGeom prst="rect">
            <a:avLst/>
          </a:prstGeom>
          <a:solidFill>
            <a:srgbClr val="1D3557"/>
          </a:solidFill>
          <a:ln w="12700">
            <a:solidFill>
              <a:srgbClr val="1D3557"/>
            </a:solidFill>
            <a:prstDash val="solid"/>
          </a:ln>
        </p:spPr>
      </p:sp>
      <p:sp>
        <p:nvSpPr>
          <p:cNvPr id="48" name="Text 45"/>
          <p:cNvSpPr/>
          <p:nvPr/>
        </p:nvSpPr>
        <p:spPr>
          <a:xfrm>
            <a:off x="7818120" y="2231136"/>
            <a:ext cx="1106424" cy="219456"/>
          </a:xfrm>
          <a:prstGeom prst="rect">
            <a:avLst/>
          </a:prstGeom>
          <a:noFill/>
          <a:ln/>
        </p:spPr>
        <p:txBody>
          <a:bodyPr wrap="square" lIns="0" tIns="0" rIns="0" bIns="0" rtlCol="0" anchor="ctr"/>
          <a:lstStyle/>
          <a:p>
            <a:pPr algn="ctr" indent="0" marL="0">
              <a:buNone/>
            </a:pPr>
            <a:r>
              <a:rPr lang="en-US" sz="800" b="1" dirty="0">
                <a:solidFill>
                  <a:srgbClr val="FFFFFF"/>
                </a:solidFill>
              </a:rPr>
              <a:t>DG</a:t>
            </a:r>
            <a:endParaRPr lang="en-US" sz="800" dirty="0"/>
          </a:p>
        </p:txBody>
      </p:sp>
      <p:sp>
        <p:nvSpPr>
          <p:cNvPr id="49" name="Shape 46"/>
          <p:cNvSpPr/>
          <p:nvPr/>
        </p:nvSpPr>
        <p:spPr>
          <a:xfrm>
            <a:off x="4498848" y="2505456"/>
            <a:ext cx="1106424" cy="274320"/>
          </a:xfrm>
          <a:prstGeom prst="rect">
            <a:avLst/>
          </a:prstGeom>
          <a:solidFill>
            <a:srgbClr val="F5F8FA"/>
          </a:solidFill>
          <a:ln w="3810">
            <a:solidFill>
              <a:srgbClr val="EEEEEE"/>
            </a:solidFill>
            <a:prstDash val="solid"/>
          </a:ln>
        </p:spPr>
      </p:sp>
      <p:sp>
        <p:nvSpPr>
          <p:cNvPr id="50" name="Text 47"/>
          <p:cNvSpPr/>
          <p:nvPr/>
        </p:nvSpPr>
        <p:spPr>
          <a:xfrm>
            <a:off x="4498848" y="2551176"/>
            <a:ext cx="1106424" cy="182880"/>
          </a:xfrm>
          <a:prstGeom prst="rect">
            <a:avLst/>
          </a:prstGeom>
          <a:noFill/>
          <a:ln/>
        </p:spPr>
        <p:txBody>
          <a:bodyPr wrap="square" lIns="50800" tIns="50800" rIns="50800" bIns="50800" rtlCol="0" anchor="ctr"/>
          <a:lstStyle/>
          <a:p>
            <a:pPr algn="l" indent="0" marL="0">
              <a:buNone/>
            </a:pPr>
            <a:r>
              <a:rPr lang="en-US" sz="800" dirty="0">
                <a:solidFill>
                  <a:srgbClr val="5A6472"/>
                </a:solidFill>
              </a:rPr>
              <a:t>EBITDA Margin</a:t>
            </a:r>
            <a:endParaRPr lang="en-US" sz="800" dirty="0"/>
          </a:p>
        </p:txBody>
      </p:sp>
      <p:sp>
        <p:nvSpPr>
          <p:cNvPr id="51" name="Shape 48"/>
          <p:cNvSpPr/>
          <p:nvPr/>
        </p:nvSpPr>
        <p:spPr>
          <a:xfrm>
            <a:off x="5605272" y="2505456"/>
            <a:ext cx="1106424" cy="274320"/>
          </a:xfrm>
          <a:prstGeom prst="rect">
            <a:avLst/>
          </a:prstGeom>
          <a:solidFill>
            <a:srgbClr val="EBF5EE"/>
          </a:solidFill>
          <a:ln w="3810">
            <a:solidFill>
              <a:srgbClr val="EEEEEE"/>
            </a:solidFill>
            <a:prstDash val="solid"/>
          </a:ln>
        </p:spPr>
      </p:sp>
      <p:sp>
        <p:nvSpPr>
          <p:cNvPr id="52" name="Text 49"/>
          <p:cNvSpPr/>
          <p:nvPr/>
        </p:nvSpPr>
        <p:spPr>
          <a:xfrm>
            <a:off x="5605272" y="2551176"/>
            <a:ext cx="1106424" cy="182880"/>
          </a:xfrm>
          <a:prstGeom prst="rect">
            <a:avLst/>
          </a:prstGeom>
          <a:noFill/>
          <a:ln/>
        </p:spPr>
        <p:txBody>
          <a:bodyPr wrap="square" lIns="0" tIns="0" rIns="0" bIns="0" rtlCol="0" anchor="ctr"/>
          <a:lstStyle/>
          <a:p>
            <a:pPr algn="ctr" indent="0" marL="0">
              <a:buNone/>
            </a:pPr>
            <a:r>
              <a:rPr lang="en-US" sz="900" b="1" dirty="0">
                <a:solidFill>
                  <a:srgbClr val="1D3557"/>
                </a:solidFill>
              </a:rPr>
              <a:t>~33%</a:t>
            </a:r>
            <a:endParaRPr lang="en-US" sz="900" dirty="0"/>
          </a:p>
        </p:txBody>
      </p:sp>
      <p:sp>
        <p:nvSpPr>
          <p:cNvPr id="53" name="Shape 50"/>
          <p:cNvSpPr/>
          <p:nvPr/>
        </p:nvSpPr>
        <p:spPr>
          <a:xfrm>
            <a:off x="6711696" y="2505456"/>
            <a:ext cx="1106424" cy="274320"/>
          </a:xfrm>
          <a:prstGeom prst="rect">
            <a:avLst/>
          </a:prstGeom>
          <a:solidFill>
            <a:srgbClr val="F5F8FA"/>
          </a:solidFill>
          <a:ln w="3810">
            <a:solidFill>
              <a:srgbClr val="EEEEEE"/>
            </a:solidFill>
            <a:prstDash val="solid"/>
          </a:ln>
        </p:spPr>
      </p:sp>
      <p:sp>
        <p:nvSpPr>
          <p:cNvPr id="54" name="Text 51"/>
          <p:cNvSpPr/>
          <p:nvPr/>
        </p:nvSpPr>
        <p:spPr>
          <a:xfrm>
            <a:off x="6711696" y="2551176"/>
            <a:ext cx="1106424" cy="182880"/>
          </a:xfrm>
          <a:prstGeom prst="rect">
            <a:avLst/>
          </a:prstGeom>
          <a:noFill/>
          <a:ln/>
        </p:spPr>
        <p:txBody>
          <a:bodyPr wrap="square" lIns="0" tIns="0" rIns="0" bIns="0" rtlCol="0" anchor="ctr"/>
          <a:lstStyle/>
          <a:p>
            <a:pPr algn="ctr" indent="0" marL="0">
              <a:buNone/>
            </a:pPr>
            <a:r>
              <a:rPr lang="en-US" sz="900" dirty="0">
                <a:solidFill>
                  <a:srgbClr val="457B9D"/>
                </a:solidFill>
              </a:rPr>
              <a:t>11.9%</a:t>
            </a:r>
            <a:endParaRPr lang="en-US" sz="900" dirty="0"/>
          </a:p>
        </p:txBody>
      </p:sp>
      <p:sp>
        <p:nvSpPr>
          <p:cNvPr id="55" name="Shape 52"/>
          <p:cNvSpPr/>
          <p:nvPr/>
        </p:nvSpPr>
        <p:spPr>
          <a:xfrm>
            <a:off x="7818120" y="2505456"/>
            <a:ext cx="1106424" cy="274320"/>
          </a:xfrm>
          <a:prstGeom prst="rect">
            <a:avLst/>
          </a:prstGeom>
          <a:solidFill>
            <a:srgbClr val="F5F8FA"/>
          </a:solidFill>
          <a:ln w="3810">
            <a:solidFill>
              <a:srgbClr val="EEEEEE"/>
            </a:solidFill>
            <a:prstDash val="solid"/>
          </a:ln>
        </p:spPr>
      </p:sp>
      <p:sp>
        <p:nvSpPr>
          <p:cNvPr id="56" name="Text 53"/>
          <p:cNvSpPr/>
          <p:nvPr/>
        </p:nvSpPr>
        <p:spPr>
          <a:xfrm>
            <a:off x="7818120" y="2551176"/>
            <a:ext cx="1106424" cy="182880"/>
          </a:xfrm>
          <a:prstGeom prst="rect">
            <a:avLst/>
          </a:prstGeom>
          <a:noFill/>
          <a:ln/>
        </p:spPr>
        <p:txBody>
          <a:bodyPr wrap="square" lIns="0" tIns="0" rIns="0" bIns="0" rtlCol="0" anchor="ctr"/>
          <a:lstStyle/>
          <a:p>
            <a:pPr algn="ctr" indent="0" marL="0">
              <a:buNone/>
            </a:pPr>
            <a:r>
              <a:rPr lang="en-US" sz="900" dirty="0">
                <a:solidFill>
                  <a:srgbClr val="457B9D"/>
                </a:solidFill>
              </a:rPr>
              <a:t>9.6%</a:t>
            </a:r>
            <a:endParaRPr lang="en-US" sz="900" dirty="0"/>
          </a:p>
        </p:txBody>
      </p:sp>
      <p:sp>
        <p:nvSpPr>
          <p:cNvPr id="57" name="Shape 54"/>
          <p:cNvSpPr/>
          <p:nvPr/>
        </p:nvSpPr>
        <p:spPr>
          <a:xfrm>
            <a:off x="4498848" y="2807208"/>
            <a:ext cx="1106424" cy="274320"/>
          </a:xfrm>
          <a:prstGeom prst="rect">
            <a:avLst/>
          </a:prstGeom>
          <a:solidFill>
            <a:srgbClr val="FFFFFF"/>
          </a:solidFill>
          <a:ln w="3810">
            <a:solidFill>
              <a:srgbClr val="EEEEEE"/>
            </a:solidFill>
            <a:prstDash val="solid"/>
          </a:ln>
        </p:spPr>
      </p:sp>
      <p:sp>
        <p:nvSpPr>
          <p:cNvPr id="58" name="Text 55"/>
          <p:cNvSpPr/>
          <p:nvPr/>
        </p:nvSpPr>
        <p:spPr>
          <a:xfrm>
            <a:off x="4498848" y="2852928"/>
            <a:ext cx="1106424" cy="182880"/>
          </a:xfrm>
          <a:prstGeom prst="rect">
            <a:avLst/>
          </a:prstGeom>
          <a:noFill/>
          <a:ln/>
        </p:spPr>
        <p:txBody>
          <a:bodyPr wrap="square" lIns="50800" tIns="50800" rIns="50800" bIns="50800" rtlCol="0" anchor="ctr"/>
          <a:lstStyle/>
          <a:p>
            <a:pPr algn="l" indent="0" marL="0">
              <a:buNone/>
            </a:pPr>
            <a:r>
              <a:rPr lang="en-US" sz="800" dirty="0">
                <a:solidFill>
                  <a:srgbClr val="5A6472"/>
                </a:solidFill>
              </a:rPr>
              <a:t>ROIC</a:t>
            </a:r>
            <a:endParaRPr lang="en-US" sz="800" dirty="0"/>
          </a:p>
        </p:txBody>
      </p:sp>
      <p:sp>
        <p:nvSpPr>
          <p:cNvPr id="59" name="Shape 56"/>
          <p:cNvSpPr/>
          <p:nvPr/>
        </p:nvSpPr>
        <p:spPr>
          <a:xfrm>
            <a:off x="5605272" y="2807208"/>
            <a:ext cx="1106424" cy="274320"/>
          </a:xfrm>
          <a:prstGeom prst="rect">
            <a:avLst/>
          </a:prstGeom>
          <a:solidFill>
            <a:srgbClr val="EBF5EE"/>
          </a:solidFill>
          <a:ln w="3810">
            <a:solidFill>
              <a:srgbClr val="EEEEEE"/>
            </a:solidFill>
            <a:prstDash val="solid"/>
          </a:ln>
        </p:spPr>
      </p:sp>
      <p:sp>
        <p:nvSpPr>
          <p:cNvPr id="60" name="Text 57"/>
          <p:cNvSpPr/>
          <p:nvPr/>
        </p:nvSpPr>
        <p:spPr>
          <a:xfrm>
            <a:off x="5605272" y="2852928"/>
            <a:ext cx="1106424" cy="182880"/>
          </a:xfrm>
          <a:prstGeom prst="rect">
            <a:avLst/>
          </a:prstGeom>
          <a:noFill/>
          <a:ln/>
        </p:spPr>
        <p:txBody>
          <a:bodyPr wrap="square" lIns="0" tIns="0" rIns="0" bIns="0" rtlCol="0" anchor="ctr"/>
          <a:lstStyle/>
          <a:p>
            <a:pPr algn="ctr" indent="0" marL="0">
              <a:buNone/>
            </a:pPr>
            <a:r>
              <a:rPr lang="en-US" sz="900" b="1" dirty="0">
                <a:solidFill>
                  <a:srgbClr val="1D3557"/>
                </a:solidFill>
              </a:rPr>
              <a:t>&gt;30%</a:t>
            </a:r>
            <a:endParaRPr lang="en-US" sz="900" dirty="0"/>
          </a:p>
        </p:txBody>
      </p:sp>
      <p:sp>
        <p:nvSpPr>
          <p:cNvPr id="61" name="Shape 58"/>
          <p:cNvSpPr/>
          <p:nvPr/>
        </p:nvSpPr>
        <p:spPr>
          <a:xfrm>
            <a:off x="6711696" y="2807208"/>
            <a:ext cx="1106424" cy="274320"/>
          </a:xfrm>
          <a:prstGeom prst="rect">
            <a:avLst/>
          </a:prstGeom>
          <a:solidFill>
            <a:srgbClr val="FFFFFF"/>
          </a:solidFill>
          <a:ln w="3810">
            <a:solidFill>
              <a:srgbClr val="EEEEEE"/>
            </a:solidFill>
            <a:prstDash val="solid"/>
          </a:ln>
        </p:spPr>
      </p:sp>
      <p:sp>
        <p:nvSpPr>
          <p:cNvPr id="62" name="Text 59"/>
          <p:cNvSpPr/>
          <p:nvPr/>
        </p:nvSpPr>
        <p:spPr>
          <a:xfrm>
            <a:off x="6711696" y="2852928"/>
            <a:ext cx="1106424" cy="182880"/>
          </a:xfrm>
          <a:prstGeom prst="rect">
            <a:avLst/>
          </a:prstGeom>
          <a:noFill/>
          <a:ln/>
        </p:spPr>
        <p:txBody>
          <a:bodyPr wrap="square" lIns="0" tIns="0" rIns="0" bIns="0" rtlCol="0" anchor="ctr"/>
          <a:lstStyle/>
          <a:p>
            <a:pPr algn="ctr" indent="0" marL="0">
              <a:buNone/>
            </a:pPr>
            <a:r>
              <a:rPr lang="en-US" sz="900" dirty="0">
                <a:solidFill>
                  <a:srgbClr val="457B9D"/>
                </a:solidFill>
              </a:rPr>
              <a:t>13.6%</a:t>
            </a:r>
            <a:endParaRPr lang="en-US" sz="900" dirty="0"/>
          </a:p>
        </p:txBody>
      </p:sp>
      <p:sp>
        <p:nvSpPr>
          <p:cNvPr id="63" name="Shape 60"/>
          <p:cNvSpPr/>
          <p:nvPr/>
        </p:nvSpPr>
        <p:spPr>
          <a:xfrm>
            <a:off x="7818120" y="2807208"/>
            <a:ext cx="1106424" cy="274320"/>
          </a:xfrm>
          <a:prstGeom prst="rect">
            <a:avLst/>
          </a:prstGeom>
          <a:solidFill>
            <a:srgbClr val="FFFFFF"/>
          </a:solidFill>
          <a:ln w="3810">
            <a:solidFill>
              <a:srgbClr val="EEEEEE"/>
            </a:solidFill>
            <a:prstDash val="solid"/>
          </a:ln>
        </p:spPr>
      </p:sp>
      <p:sp>
        <p:nvSpPr>
          <p:cNvPr id="64" name="Text 61"/>
          <p:cNvSpPr/>
          <p:nvPr/>
        </p:nvSpPr>
        <p:spPr>
          <a:xfrm>
            <a:off x="7818120" y="2852928"/>
            <a:ext cx="1106424" cy="182880"/>
          </a:xfrm>
          <a:prstGeom prst="rect">
            <a:avLst/>
          </a:prstGeom>
          <a:noFill/>
          <a:ln/>
        </p:spPr>
        <p:txBody>
          <a:bodyPr wrap="square" lIns="0" tIns="0" rIns="0" bIns="0" rtlCol="0" anchor="ctr"/>
          <a:lstStyle/>
          <a:p>
            <a:pPr algn="ctr" indent="0" marL="0">
              <a:buNone/>
            </a:pPr>
            <a:r>
              <a:rPr lang="en-US" sz="900" dirty="0">
                <a:solidFill>
                  <a:srgbClr val="457B9D"/>
                </a:solidFill>
              </a:rPr>
              <a:t>15.2%</a:t>
            </a:r>
            <a:endParaRPr lang="en-US" sz="900" dirty="0"/>
          </a:p>
        </p:txBody>
      </p:sp>
      <p:sp>
        <p:nvSpPr>
          <p:cNvPr id="65" name="Shape 62"/>
          <p:cNvSpPr/>
          <p:nvPr/>
        </p:nvSpPr>
        <p:spPr>
          <a:xfrm>
            <a:off x="4498848" y="3108960"/>
            <a:ext cx="1106424" cy="274320"/>
          </a:xfrm>
          <a:prstGeom prst="rect">
            <a:avLst/>
          </a:prstGeom>
          <a:solidFill>
            <a:srgbClr val="F5F8FA"/>
          </a:solidFill>
          <a:ln w="3810">
            <a:solidFill>
              <a:srgbClr val="EEEEEE"/>
            </a:solidFill>
            <a:prstDash val="solid"/>
          </a:ln>
        </p:spPr>
      </p:sp>
      <p:sp>
        <p:nvSpPr>
          <p:cNvPr id="66" name="Text 63"/>
          <p:cNvSpPr/>
          <p:nvPr/>
        </p:nvSpPr>
        <p:spPr>
          <a:xfrm>
            <a:off x="4498848" y="3154680"/>
            <a:ext cx="1106424" cy="182880"/>
          </a:xfrm>
          <a:prstGeom prst="rect">
            <a:avLst/>
          </a:prstGeom>
          <a:noFill/>
          <a:ln/>
        </p:spPr>
        <p:txBody>
          <a:bodyPr wrap="square" lIns="50800" tIns="50800" rIns="50800" bIns="50800" rtlCol="0" anchor="ctr"/>
          <a:lstStyle/>
          <a:p>
            <a:pPr algn="l" indent="0" marL="0">
              <a:buNone/>
            </a:pPr>
            <a:r>
              <a:rPr lang="en-US" sz="800" dirty="0">
                <a:solidFill>
                  <a:srgbClr val="5A6472"/>
                </a:solidFill>
              </a:rPr>
              <a:t>EV/EBITDA</a:t>
            </a:r>
            <a:endParaRPr lang="en-US" sz="800" dirty="0"/>
          </a:p>
        </p:txBody>
      </p:sp>
      <p:sp>
        <p:nvSpPr>
          <p:cNvPr id="67" name="Shape 64"/>
          <p:cNvSpPr/>
          <p:nvPr/>
        </p:nvSpPr>
        <p:spPr>
          <a:xfrm>
            <a:off x="5605272" y="3108960"/>
            <a:ext cx="1106424" cy="274320"/>
          </a:xfrm>
          <a:prstGeom prst="rect">
            <a:avLst/>
          </a:prstGeom>
          <a:solidFill>
            <a:srgbClr val="EBF5EE"/>
          </a:solidFill>
          <a:ln w="3810">
            <a:solidFill>
              <a:srgbClr val="EEEEEE"/>
            </a:solidFill>
            <a:prstDash val="solid"/>
          </a:ln>
        </p:spPr>
      </p:sp>
      <p:sp>
        <p:nvSpPr>
          <p:cNvPr id="68" name="Text 65"/>
          <p:cNvSpPr/>
          <p:nvPr/>
        </p:nvSpPr>
        <p:spPr>
          <a:xfrm>
            <a:off x="5605272" y="3154680"/>
            <a:ext cx="1106424" cy="182880"/>
          </a:xfrm>
          <a:prstGeom prst="rect">
            <a:avLst/>
          </a:prstGeom>
          <a:noFill/>
          <a:ln/>
        </p:spPr>
        <p:txBody>
          <a:bodyPr wrap="square" lIns="0" tIns="0" rIns="0" bIns="0" rtlCol="0" anchor="ctr"/>
          <a:lstStyle/>
          <a:p>
            <a:pPr algn="ctr" indent="0" marL="0">
              <a:buNone/>
            </a:pPr>
            <a:r>
              <a:rPr lang="en-US" sz="900" b="1" dirty="0">
                <a:solidFill>
                  <a:srgbClr val="1D3557"/>
                </a:solidFill>
              </a:rPr>
              <a:t>~29x</a:t>
            </a:r>
            <a:endParaRPr lang="en-US" sz="900" dirty="0"/>
          </a:p>
        </p:txBody>
      </p:sp>
      <p:sp>
        <p:nvSpPr>
          <p:cNvPr id="69" name="Shape 66"/>
          <p:cNvSpPr/>
          <p:nvPr/>
        </p:nvSpPr>
        <p:spPr>
          <a:xfrm>
            <a:off x="6711696" y="3108960"/>
            <a:ext cx="1106424" cy="274320"/>
          </a:xfrm>
          <a:prstGeom prst="rect">
            <a:avLst/>
          </a:prstGeom>
          <a:solidFill>
            <a:srgbClr val="F5F8FA"/>
          </a:solidFill>
          <a:ln w="3810">
            <a:solidFill>
              <a:srgbClr val="EEEEEE"/>
            </a:solidFill>
            <a:prstDash val="solid"/>
          </a:ln>
        </p:spPr>
      </p:sp>
      <p:sp>
        <p:nvSpPr>
          <p:cNvPr id="70" name="Text 67"/>
          <p:cNvSpPr/>
          <p:nvPr/>
        </p:nvSpPr>
        <p:spPr>
          <a:xfrm>
            <a:off x="6711696" y="3154680"/>
            <a:ext cx="1106424" cy="182880"/>
          </a:xfrm>
          <a:prstGeom prst="rect">
            <a:avLst/>
          </a:prstGeom>
          <a:noFill/>
          <a:ln/>
        </p:spPr>
        <p:txBody>
          <a:bodyPr wrap="square" lIns="0" tIns="0" rIns="0" bIns="0" rtlCol="0" anchor="ctr"/>
          <a:lstStyle/>
          <a:p>
            <a:pPr algn="ctr" indent="0" marL="0">
              <a:buNone/>
            </a:pPr>
            <a:r>
              <a:rPr lang="en-US" sz="900" dirty="0">
                <a:solidFill>
                  <a:srgbClr val="457B9D"/>
                </a:solidFill>
              </a:rPr>
              <a:t>6.5x</a:t>
            </a:r>
            <a:endParaRPr lang="en-US" sz="900" dirty="0"/>
          </a:p>
        </p:txBody>
      </p:sp>
      <p:sp>
        <p:nvSpPr>
          <p:cNvPr id="71" name="Shape 68"/>
          <p:cNvSpPr/>
          <p:nvPr/>
        </p:nvSpPr>
        <p:spPr>
          <a:xfrm>
            <a:off x="7818120" y="3108960"/>
            <a:ext cx="1106424" cy="274320"/>
          </a:xfrm>
          <a:prstGeom prst="rect">
            <a:avLst/>
          </a:prstGeom>
          <a:solidFill>
            <a:srgbClr val="F5F8FA"/>
          </a:solidFill>
          <a:ln w="3810">
            <a:solidFill>
              <a:srgbClr val="EEEEEE"/>
            </a:solidFill>
            <a:prstDash val="solid"/>
          </a:ln>
        </p:spPr>
      </p:sp>
      <p:sp>
        <p:nvSpPr>
          <p:cNvPr id="72" name="Text 69"/>
          <p:cNvSpPr/>
          <p:nvPr/>
        </p:nvSpPr>
        <p:spPr>
          <a:xfrm>
            <a:off x="7818120" y="3154680"/>
            <a:ext cx="1106424" cy="182880"/>
          </a:xfrm>
          <a:prstGeom prst="rect">
            <a:avLst/>
          </a:prstGeom>
          <a:noFill/>
          <a:ln/>
        </p:spPr>
        <p:txBody>
          <a:bodyPr wrap="square" lIns="0" tIns="0" rIns="0" bIns="0" rtlCol="0" anchor="ctr"/>
          <a:lstStyle/>
          <a:p>
            <a:pPr algn="ctr" indent="0" marL="0">
              <a:buNone/>
            </a:pPr>
            <a:r>
              <a:rPr lang="en-US" sz="900" dirty="0">
                <a:solidFill>
                  <a:srgbClr val="457B9D"/>
                </a:solidFill>
              </a:rPr>
              <a:t>7.4x</a:t>
            </a:r>
            <a:endParaRPr lang="en-US" sz="900" dirty="0"/>
          </a:p>
        </p:txBody>
      </p:sp>
      <p:sp>
        <p:nvSpPr>
          <p:cNvPr id="73" name="Shape 70"/>
          <p:cNvSpPr/>
          <p:nvPr/>
        </p:nvSpPr>
        <p:spPr>
          <a:xfrm>
            <a:off x="4498848" y="3410712"/>
            <a:ext cx="1106424" cy="274320"/>
          </a:xfrm>
          <a:prstGeom prst="rect">
            <a:avLst/>
          </a:prstGeom>
          <a:solidFill>
            <a:srgbClr val="FFFFFF"/>
          </a:solidFill>
          <a:ln w="3810">
            <a:solidFill>
              <a:srgbClr val="EEEEEE"/>
            </a:solidFill>
            <a:prstDash val="solid"/>
          </a:ln>
        </p:spPr>
      </p:sp>
      <p:sp>
        <p:nvSpPr>
          <p:cNvPr id="74" name="Text 71"/>
          <p:cNvSpPr/>
          <p:nvPr/>
        </p:nvSpPr>
        <p:spPr>
          <a:xfrm>
            <a:off x="4498848" y="3456432"/>
            <a:ext cx="1106424" cy="182880"/>
          </a:xfrm>
          <a:prstGeom prst="rect">
            <a:avLst/>
          </a:prstGeom>
          <a:noFill/>
          <a:ln/>
        </p:spPr>
        <p:txBody>
          <a:bodyPr wrap="square" lIns="50800" tIns="50800" rIns="50800" bIns="50800" rtlCol="0" anchor="ctr"/>
          <a:lstStyle/>
          <a:p>
            <a:pPr algn="l" indent="0" marL="0">
              <a:buNone/>
            </a:pPr>
            <a:r>
              <a:rPr lang="en-US" sz="800" dirty="0">
                <a:solidFill>
                  <a:srgbClr val="5A6472"/>
                </a:solidFill>
              </a:rPr>
              <a:t>Rev Growth</a:t>
            </a:r>
            <a:endParaRPr lang="en-US" sz="800" dirty="0"/>
          </a:p>
        </p:txBody>
      </p:sp>
      <p:sp>
        <p:nvSpPr>
          <p:cNvPr id="75" name="Shape 72"/>
          <p:cNvSpPr/>
          <p:nvPr/>
        </p:nvSpPr>
        <p:spPr>
          <a:xfrm>
            <a:off x="5605272" y="3410712"/>
            <a:ext cx="1106424" cy="274320"/>
          </a:xfrm>
          <a:prstGeom prst="rect">
            <a:avLst/>
          </a:prstGeom>
          <a:solidFill>
            <a:srgbClr val="EBF5EE"/>
          </a:solidFill>
          <a:ln w="3810">
            <a:solidFill>
              <a:srgbClr val="EEEEEE"/>
            </a:solidFill>
            <a:prstDash val="solid"/>
          </a:ln>
        </p:spPr>
      </p:sp>
      <p:sp>
        <p:nvSpPr>
          <p:cNvPr id="76" name="Text 73"/>
          <p:cNvSpPr/>
          <p:nvPr/>
        </p:nvSpPr>
        <p:spPr>
          <a:xfrm>
            <a:off x="5605272" y="3456432"/>
            <a:ext cx="1106424" cy="182880"/>
          </a:xfrm>
          <a:prstGeom prst="rect">
            <a:avLst/>
          </a:prstGeom>
          <a:noFill/>
          <a:ln/>
        </p:spPr>
        <p:txBody>
          <a:bodyPr wrap="square" lIns="0" tIns="0" rIns="0" bIns="0" rtlCol="0" anchor="ctr"/>
          <a:lstStyle/>
          <a:p>
            <a:pPr algn="ctr" indent="0" marL="0">
              <a:buNone/>
            </a:pPr>
            <a:r>
              <a:rPr lang="en-US" sz="900" b="1" dirty="0">
                <a:solidFill>
                  <a:srgbClr val="1D3557"/>
                </a:solidFill>
              </a:rPr>
              <a:t>+13.1%</a:t>
            </a:r>
            <a:endParaRPr lang="en-US" sz="900" dirty="0"/>
          </a:p>
        </p:txBody>
      </p:sp>
      <p:sp>
        <p:nvSpPr>
          <p:cNvPr id="77" name="Shape 74"/>
          <p:cNvSpPr/>
          <p:nvPr/>
        </p:nvSpPr>
        <p:spPr>
          <a:xfrm>
            <a:off x="6711696" y="3410712"/>
            <a:ext cx="1106424" cy="274320"/>
          </a:xfrm>
          <a:prstGeom prst="rect">
            <a:avLst/>
          </a:prstGeom>
          <a:solidFill>
            <a:srgbClr val="FFFFFF"/>
          </a:solidFill>
          <a:ln w="3810">
            <a:solidFill>
              <a:srgbClr val="EEEEEE"/>
            </a:solidFill>
            <a:prstDash val="solid"/>
          </a:ln>
        </p:spPr>
      </p:sp>
      <p:sp>
        <p:nvSpPr>
          <p:cNvPr id="78" name="Text 75"/>
          <p:cNvSpPr/>
          <p:nvPr/>
        </p:nvSpPr>
        <p:spPr>
          <a:xfrm>
            <a:off x="6711696" y="3456432"/>
            <a:ext cx="1106424" cy="182880"/>
          </a:xfrm>
          <a:prstGeom prst="rect">
            <a:avLst/>
          </a:prstGeom>
          <a:noFill/>
          <a:ln/>
        </p:spPr>
        <p:txBody>
          <a:bodyPr wrap="square" lIns="0" tIns="0" rIns="0" bIns="0" rtlCol="0" anchor="ctr"/>
          <a:lstStyle/>
          <a:p>
            <a:pPr algn="ctr" indent="0" marL="0">
              <a:buNone/>
            </a:pPr>
            <a:r>
              <a:rPr lang="en-US" sz="900" dirty="0">
                <a:solidFill>
                  <a:srgbClr val="457B9D"/>
                </a:solidFill>
              </a:rPr>
              <a:t>+2.1%</a:t>
            </a:r>
            <a:endParaRPr lang="en-US" sz="900" dirty="0"/>
          </a:p>
        </p:txBody>
      </p:sp>
      <p:sp>
        <p:nvSpPr>
          <p:cNvPr id="79" name="Shape 76"/>
          <p:cNvSpPr/>
          <p:nvPr/>
        </p:nvSpPr>
        <p:spPr>
          <a:xfrm>
            <a:off x="7818120" y="3410712"/>
            <a:ext cx="1106424" cy="274320"/>
          </a:xfrm>
          <a:prstGeom prst="rect">
            <a:avLst/>
          </a:prstGeom>
          <a:solidFill>
            <a:srgbClr val="FFFFFF"/>
          </a:solidFill>
          <a:ln w="3810">
            <a:solidFill>
              <a:srgbClr val="EEEEEE"/>
            </a:solidFill>
            <a:prstDash val="solid"/>
          </a:ln>
        </p:spPr>
      </p:sp>
      <p:sp>
        <p:nvSpPr>
          <p:cNvPr id="80" name="Text 77"/>
          <p:cNvSpPr/>
          <p:nvPr/>
        </p:nvSpPr>
        <p:spPr>
          <a:xfrm>
            <a:off x="7818120" y="3456432"/>
            <a:ext cx="1106424" cy="182880"/>
          </a:xfrm>
          <a:prstGeom prst="rect">
            <a:avLst/>
          </a:prstGeom>
          <a:noFill/>
          <a:ln/>
        </p:spPr>
        <p:txBody>
          <a:bodyPr wrap="square" lIns="0" tIns="0" rIns="0" bIns="0" rtlCol="0" anchor="ctr"/>
          <a:lstStyle/>
          <a:p>
            <a:pPr algn="ctr" indent="0" marL="0">
              <a:buNone/>
            </a:pPr>
            <a:r>
              <a:rPr lang="en-US" sz="900" dirty="0">
                <a:solidFill>
                  <a:srgbClr val="457B9D"/>
                </a:solidFill>
              </a:rPr>
              <a:t>+4.8%</a:t>
            </a:r>
            <a:endParaRPr lang="en-US" sz="900" dirty="0"/>
          </a:p>
        </p:txBody>
      </p:sp>
      <p:sp>
        <p:nvSpPr>
          <p:cNvPr id="81" name="Shape 78"/>
          <p:cNvSpPr/>
          <p:nvPr/>
        </p:nvSpPr>
        <p:spPr>
          <a:xfrm>
            <a:off x="4498848" y="3712464"/>
            <a:ext cx="1106424" cy="274320"/>
          </a:xfrm>
          <a:prstGeom prst="rect">
            <a:avLst/>
          </a:prstGeom>
          <a:solidFill>
            <a:srgbClr val="F5F8FA"/>
          </a:solidFill>
          <a:ln w="3810">
            <a:solidFill>
              <a:srgbClr val="EEEEEE"/>
            </a:solidFill>
            <a:prstDash val="solid"/>
          </a:ln>
        </p:spPr>
      </p:sp>
      <p:sp>
        <p:nvSpPr>
          <p:cNvPr id="82" name="Text 79"/>
          <p:cNvSpPr/>
          <p:nvPr/>
        </p:nvSpPr>
        <p:spPr>
          <a:xfrm>
            <a:off x="4498848" y="3758184"/>
            <a:ext cx="1106424" cy="182880"/>
          </a:xfrm>
          <a:prstGeom prst="rect">
            <a:avLst/>
          </a:prstGeom>
          <a:noFill/>
          <a:ln/>
        </p:spPr>
        <p:txBody>
          <a:bodyPr wrap="square" lIns="50800" tIns="50800" rIns="50800" bIns="50800" rtlCol="0" anchor="ctr"/>
          <a:lstStyle/>
          <a:p>
            <a:pPr algn="l" indent="0" marL="0">
              <a:buNone/>
            </a:pPr>
            <a:r>
              <a:rPr lang="en-US" sz="800" dirty="0">
                <a:solidFill>
                  <a:srgbClr val="5A6472"/>
                </a:solidFill>
              </a:rPr>
              <a:t>Net Debt/EBITDA</a:t>
            </a:r>
            <a:endParaRPr lang="en-US" sz="800" dirty="0"/>
          </a:p>
        </p:txBody>
      </p:sp>
      <p:sp>
        <p:nvSpPr>
          <p:cNvPr id="83" name="Shape 80"/>
          <p:cNvSpPr/>
          <p:nvPr/>
        </p:nvSpPr>
        <p:spPr>
          <a:xfrm>
            <a:off x="5605272" y="3712464"/>
            <a:ext cx="1106424" cy="274320"/>
          </a:xfrm>
          <a:prstGeom prst="rect">
            <a:avLst/>
          </a:prstGeom>
          <a:solidFill>
            <a:srgbClr val="EBF5EE"/>
          </a:solidFill>
          <a:ln w="3810">
            <a:solidFill>
              <a:srgbClr val="EEEEEE"/>
            </a:solidFill>
            <a:prstDash val="solid"/>
          </a:ln>
        </p:spPr>
      </p:sp>
      <p:sp>
        <p:nvSpPr>
          <p:cNvPr id="84" name="Text 81"/>
          <p:cNvSpPr/>
          <p:nvPr/>
        </p:nvSpPr>
        <p:spPr>
          <a:xfrm>
            <a:off x="5605272" y="3758184"/>
            <a:ext cx="1106424" cy="182880"/>
          </a:xfrm>
          <a:prstGeom prst="rect">
            <a:avLst/>
          </a:prstGeom>
          <a:noFill/>
          <a:ln/>
        </p:spPr>
        <p:txBody>
          <a:bodyPr wrap="square" lIns="0" tIns="0" rIns="0" bIns="0" rtlCol="0" anchor="ctr"/>
          <a:lstStyle/>
          <a:p>
            <a:pPr algn="ctr" indent="0" marL="0">
              <a:buNone/>
            </a:pPr>
            <a:r>
              <a:rPr lang="en-US" sz="900" b="1" dirty="0">
                <a:solidFill>
                  <a:srgbClr val="1D3557"/>
                </a:solidFill>
              </a:rPr>
              <a:t>1.1x</a:t>
            </a:r>
            <a:endParaRPr lang="en-US" sz="900" dirty="0"/>
          </a:p>
        </p:txBody>
      </p:sp>
      <p:sp>
        <p:nvSpPr>
          <p:cNvPr id="85" name="Shape 82"/>
          <p:cNvSpPr/>
          <p:nvPr/>
        </p:nvSpPr>
        <p:spPr>
          <a:xfrm>
            <a:off x="6711696" y="3712464"/>
            <a:ext cx="1106424" cy="274320"/>
          </a:xfrm>
          <a:prstGeom prst="rect">
            <a:avLst/>
          </a:prstGeom>
          <a:solidFill>
            <a:srgbClr val="F5F8FA"/>
          </a:solidFill>
          <a:ln w="3810">
            <a:solidFill>
              <a:srgbClr val="EEEEEE"/>
            </a:solidFill>
            <a:prstDash val="solid"/>
          </a:ln>
        </p:spPr>
      </p:sp>
      <p:sp>
        <p:nvSpPr>
          <p:cNvPr id="86" name="Text 83"/>
          <p:cNvSpPr/>
          <p:nvPr/>
        </p:nvSpPr>
        <p:spPr>
          <a:xfrm>
            <a:off x="6711696" y="3758184"/>
            <a:ext cx="1106424" cy="182880"/>
          </a:xfrm>
          <a:prstGeom prst="rect">
            <a:avLst/>
          </a:prstGeom>
          <a:noFill/>
          <a:ln/>
        </p:spPr>
        <p:txBody>
          <a:bodyPr wrap="square" lIns="0" tIns="0" rIns="0" bIns="0" rtlCol="0" anchor="ctr"/>
          <a:lstStyle/>
          <a:p>
            <a:pPr algn="ctr" indent="0" marL="0">
              <a:buNone/>
            </a:pPr>
            <a:r>
              <a:rPr lang="en-US" sz="900" dirty="0">
                <a:solidFill>
                  <a:srgbClr val="457B9D"/>
                </a:solidFill>
              </a:rPr>
              <a:t>n/m</a:t>
            </a:r>
            <a:endParaRPr lang="en-US" sz="900" dirty="0"/>
          </a:p>
        </p:txBody>
      </p:sp>
      <p:sp>
        <p:nvSpPr>
          <p:cNvPr id="87" name="Shape 84"/>
          <p:cNvSpPr/>
          <p:nvPr/>
        </p:nvSpPr>
        <p:spPr>
          <a:xfrm>
            <a:off x="7818120" y="3712464"/>
            <a:ext cx="1106424" cy="274320"/>
          </a:xfrm>
          <a:prstGeom prst="rect">
            <a:avLst/>
          </a:prstGeom>
          <a:solidFill>
            <a:srgbClr val="F5F8FA"/>
          </a:solidFill>
          <a:ln w="3810">
            <a:solidFill>
              <a:srgbClr val="EEEEEE"/>
            </a:solidFill>
            <a:prstDash val="solid"/>
          </a:ln>
        </p:spPr>
      </p:sp>
      <p:sp>
        <p:nvSpPr>
          <p:cNvPr id="88" name="Text 85"/>
          <p:cNvSpPr/>
          <p:nvPr/>
        </p:nvSpPr>
        <p:spPr>
          <a:xfrm>
            <a:off x="7818120" y="3758184"/>
            <a:ext cx="1106424" cy="182880"/>
          </a:xfrm>
          <a:prstGeom prst="rect">
            <a:avLst/>
          </a:prstGeom>
          <a:noFill/>
          <a:ln/>
        </p:spPr>
        <p:txBody>
          <a:bodyPr wrap="square" lIns="0" tIns="0" rIns="0" bIns="0" rtlCol="0" anchor="ctr"/>
          <a:lstStyle/>
          <a:p>
            <a:pPr algn="ctr" indent="0" marL="0">
              <a:buNone/>
            </a:pPr>
            <a:r>
              <a:rPr lang="en-US" sz="900" dirty="0">
                <a:solidFill>
                  <a:srgbClr val="457B9D"/>
                </a:solidFill>
              </a:rPr>
              <a:t>2.8x</a:t>
            </a:r>
            <a:endParaRPr lang="en-US" sz="900" dirty="0"/>
          </a:p>
        </p:txBody>
      </p:sp>
      <p:sp>
        <p:nvSpPr>
          <p:cNvPr id="89" name="Shape 86"/>
          <p:cNvSpPr/>
          <p:nvPr/>
        </p:nvSpPr>
        <p:spPr>
          <a:xfrm>
            <a:off x="4498848" y="4480560"/>
            <a:ext cx="4425696" cy="219456"/>
          </a:xfrm>
          <a:prstGeom prst="rect">
            <a:avLst/>
          </a:prstGeom>
          <a:solidFill>
            <a:srgbClr val="1D3557"/>
          </a:solidFill>
          <a:ln w="12700">
            <a:solidFill>
              <a:srgbClr val="1D3557"/>
            </a:solidFill>
            <a:prstDash val="solid"/>
          </a:ln>
        </p:spPr>
      </p:sp>
      <p:sp>
        <p:nvSpPr>
          <p:cNvPr id="90" name="Text 87"/>
          <p:cNvSpPr/>
          <p:nvPr/>
        </p:nvSpPr>
        <p:spPr>
          <a:xfrm>
            <a:off x="4608576" y="4507992"/>
            <a:ext cx="4206240" cy="164592"/>
          </a:xfrm>
          <a:prstGeom prst="rect">
            <a:avLst/>
          </a:prstGeom>
          <a:noFill/>
          <a:ln/>
        </p:spPr>
        <p:txBody>
          <a:bodyPr wrap="square" lIns="0" tIns="0" rIns="0" bIns="0" rtlCol="0" anchor="ctr"/>
          <a:lstStyle/>
          <a:p>
            <a:pPr indent="0" marL="0">
              <a:buNone/>
            </a:pPr>
            <a:r>
              <a:rPr lang="en-US" sz="800" dirty="0">
                <a:solidFill>
                  <a:srgbClr val="FFFFFF"/>
                </a:solidFill>
              </a:rPr>
              <a:t>DOL earns 3x the margin and 2x the ROIC at 3x the growth rate. The premium reflects quality, not speculation. Note: FY2026 EBITDA = $2.39B (EBIT $1.91B + D&amp;A $0.47B); margin dip reflects Reject Shop acquisition mix dilution.</a:t>
            </a:r>
            <a:endParaRPr lang="en-US" sz="800" dirty="0"/>
          </a:p>
        </p:txBody>
      </p:sp>
      <p:sp>
        <p:nvSpPr>
          <p:cNvPr id="91" name="Shape 88"/>
          <p:cNvSpPr/>
          <p:nvPr/>
        </p:nvSpPr>
        <p:spPr>
          <a:xfrm>
            <a:off x="201168" y="4517136"/>
            <a:ext cx="4114800" cy="402336"/>
          </a:xfrm>
          <a:prstGeom prst="rect">
            <a:avLst/>
          </a:prstGeom>
          <a:solidFill>
            <a:srgbClr val="EBF0F5"/>
          </a:solidFill>
          <a:ln w="6350">
            <a:solidFill>
              <a:srgbClr val="457B9D"/>
            </a:solidFill>
            <a:prstDash val="solid"/>
          </a:ln>
        </p:spPr>
      </p:sp>
      <p:sp>
        <p:nvSpPr>
          <p:cNvPr id="92" name="Text 89"/>
          <p:cNvSpPr/>
          <p:nvPr/>
        </p:nvSpPr>
        <p:spPr>
          <a:xfrm>
            <a:off x="310896" y="4608576"/>
            <a:ext cx="3895344" cy="219456"/>
          </a:xfrm>
          <a:prstGeom prst="rect">
            <a:avLst/>
          </a:prstGeom>
          <a:noFill/>
          <a:ln/>
        </p:spPr>
        <p:txBody>
          <a:bodyPr wrap="square" lIns="0" tIns="0" rIns="0" bIns="0" rtlCol="0" anchor="ctr"/>
          <a:lstStyle/>
          <a:p>
            <a:pPr indent="0" marL="0">
              <a:buNone/>
            </a:pPr>
            <a:r>
              <a:rPr lang="en-US" sz="750" dirty="0">
                <a:solidFill>
                  <a:srgbClr val="5A6472"/>
                </a:solidFill>
              </a:rPr>
              <a:t>BALANCE SHEET  |  Net Debt/EBITDA: 1.1x  |  Interest coverage: 14x  |  No goodwill impairment risk  |  Negative book equity = buybacks, not distress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8F5"/>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63946"/>
          </a:solidFill>
          <a:ln w="12700">
            <a:solidFill>
              <a:srgbClr val="E63946"/>
            </a:solidFill>
            <a:prstDash val="solid"/>
          </a:ln>
        </p:spPr>
      </p:sp>
      <p:sp>
        <p:nvSpPr>
          <p:cNvPr id="3" name="Text 1"/>
          <p:cNvSpPr/>
          <p:nvPr/>
        </p:nvSpPr>
        <p:spPr>
          <a:xfrm>
            <a:off x="201168" y="4956048"/>
            <a:ext cx="6400800" cy="146304"/>
          </a:xfrm>
          <a:prstGeom prst="rect">
            <a:avLst/>
          </a:prstGeom>
          <a:noFill/>
          <a:ln/>
        </p:spPr>
        <p:txBody>
          <a:bodyPr wrap="square" lIns="0" tIns="0" rIns="0" bIns="0" rtlCol="0" anchor="ctr"/>
          <a:lstStyle/>
          <a:p>
            <a:pPr indent="0" marL="0">
              <a:buNone/>
            </a:pPr>
            <a:r>
              <a:rPr lang="en-US" sz="650" dirty="0">
                <a:solidFill>
                  <a:srgbClr val="AAAAAA"/>
                </a:solidFill>
              </a:rPr>
              <a:t>MBAN5570  |  Soni &amp; Warner 2025  |  Dollarama Inc. (DOL.TO)</a:t>
            </a:r>
            <a:endParaRPr lang="en-US" sz="650" dirty="0"/>
          </a:p>
        </p:txBody>
      </p:sp>
      <p:sp>
        <p:nvSpPr>
          <p:cNvPr id="4" name="Text 2"/>
          <p:cNvSpPr/>
          <p:nvPr/>
        </p:nvSpPr>
        <p:spPr>
          <a:xfrm>
            <a:off x="7772400" y="4956048"/>
            <a:ext cx="1188720" cy="146304"/>
          </a:xfrm>
          <a:prstGeom prst="rect">
            <a:avLst/>
          </a:prstGeom>
          <a:noFill/>
          <a:ln/>
        </p:spPr>
        <p:txBody>
          <a:bodyPr wrap="square" lIns="0" tIns="0" rIns="0" bIns="0" rtlCol="0" anchor="ctr"/>
          <a:lstStyle/>
          <a:p>
            <a:pPr algn="r" indent="0" marL="0">
              <a:buNone/>
            </a:pPr>
            <a:r>
              <a:rPr lang="en-US" sz="650" dirty="0">
                <a:solidFill>
                  <a:srgbClr val="AAAAAA"/>
                </a:solidFill>
              </a:rPr>
              <a:t>Slide 4 / 6</a:t>
            </a:r>
            <a:endParaRPr lang="en-US" sz="650" dirty="0"/>
          </a:p>
        </p:txBody>
      </p:sp>
      <p:sp>
        <p:nvSpPr>
          <p:cNvPr id="5" name="Shape 3"/>
          <p:cNvSpPr/>
          <p:nvPr/>
        </p:nvSpPr>
        <p:spPr>
          <a:xfrm>
            <a:off x="0" y="164592"/>
            <a:ext cx="91440" cy="292608"/>
          </a:xfrm>
          <a:prstGeom prst="rect">
            <a:avLst/>
          </a:prstGeom>
          <a:solidFill>
            <a:srgbClr val="FFFFFF"/>
          </a:solidFill>
          <a:ln w="12700">
            <a:solidFill>
              <a:srgbClr val="FFFFFF"/>
            </a:solidFill>
            <a:prstDash val="solid"/>
          </a:ln>
        </p:spPr>
      </p:sp>
      <p:sp>
        <p:nvSpPr>
          <p:cNvPr id="6" name="Text 4"/>
          <p:cNvSpPr/>
          <p:nvPr/>
        </p:nvSpPr>
        <p:spPr>
          <a:xfrm>
            <a:off x="0" y="164592"/>
            <a:ext cx="91440" cy="292608"/>
          </a:xfrm>
          <a:prstGeom prst="rect">
            <a:avLst/>
          </a:prstGeom>
          <a:noFill/>
          <a:ln/>
        </p:spPr>
        <p:txBody>
          <a:bodyPr wrap="square" lIns="0" tIns="0" rIns="0" bIns="0" rtlCol="0" anchor="ctr"/>
          <a:lstStyle/>
          <a:p>
            <a:pPr algn="ctr" indent="0" marL="0">
              <a:buNone/>
            </a:pPr>
            <a:r>
              <a:rPr lang="en-US" sz="750" b="1" dirty="0">
                <a:solidFill>
                  <a:srgbClr val="E63946"/>
                </a:solidFill>
              </a:rPr>
              <a:t>4</a:t>
            </a:r>
            <a:endParaRPr lang="en-US" sz="750" dirty="0"/>
          </a:p>
        </p:txBody>
      </p:sp>
      <p:sp>
        <p:nvSpPr>
          <p:cNvPr id="7" name="Text 5"/>
          <p:cNvSpPr/>
          <p:nvPr/>
        </p:nvSpPr>
        <p:spPr>
          <a:xfrm>
            <a:off x="201168" y="91440"/>
            <a:ext cx="7680960" cy="457200"/>
          </a:xfrm>
          <a:prstGeom prst="rect">
            <a:avLst/>
          </a:prstGeom>
          <a:noFill/>
          <a:ln/>
        </p:spPr>
        <p:txBody>
          <a:bodyPr wrap="square" lIns="0" tIns="0" rIns="0" bIns="0" rtlCol="0" anchor="ctr"/>
          <a:lstStyle/>
          <a:p>
            <a:pPr indent="0" marL="0">
              <a:buNone/>
            </a:pPr>
            <a:r>
              <a:rPr lang="en-US" sz="2400" b="1" dirty="0">
                <a:solidFill>
                  <a:srgbClr val="1D3557"/>
                </a:solidFill>
                <a:latin typeface="Georgia" pitchFamily="34" charset="0"/>
                <a:ea typeface="Georgia" pitchFamily="34" charset="-122"/>
                <a:cs typeface="Georgia" pitchFamily="34" charset="-120"/>
              </a:rPr>
              <a:t>Intrinsic Value $212 — Quality Justifies the Premium</a:t>
            </a:r>
            <a:endParaRPr lang="en-US" sz="2400" dirty="0"/>
          </a:p>
        </p:txBody>
      </p:sp>
      <p:sp>
        <p:nvSpPr>
          <p:cNvPr id="8" name="Text 6"/>
          <p:cNvSpPr/>
          <p:nvPr/>
        </p:nvSpPr>
        <p:spPr>
          <a:xfrm>
            <a:off x="201168" y="530352"/>
            <a:ext cx="6858000" cy="182880"/>
          </a:xfrm>
          <a:prstGeom prst="rect">
            <a:avLst/>
          </a:prstGeom>
          <a:noFill/>
          <a:ln/>
        </p:spPr>
        <p:txBody>
          <a:bodyPr wrap="square" lIns="0" tIns="0" rIns="0" bIns="0" rtlCol="0" anchor="ctr"/>
          <a:lstStyle/>
          <a:p>
            <a:pPr indent="0" marL="0">
              <a:buNone/>
            </a:pPr>
            <a:r>
              <a:rPr lang="en-US" sz="950" i="1" dirty="0">
                <a:solidFill>
                  <a:srgbClr val="5A6472"/>
                </a:solidFill>
              </a:rPr>
              <a:t>DCF (WACC 9%, TGR 2.5%) | CAPM derivation | Sensitivity | Monte Carlo | Live dashboard demo</a:t>
            </a:r>
            <a:endParaRPr lang="en-US" sz="950" dirty="0"/>
          </a:p>
        </p:txBody>
      </p:sp>
      <p:sp>
        <p:nvSpPr>
          <p:cNvPr id="9" name="Shape 7"/>
          <p:cNvSpPr/>
          <p:nvPr/>
        </p:nvSpPr>
        <p:spPr>
          <a:xfrm>
            <a:off x="7973568" y="109728"/>
            <a:ext cx="914400" cy="201168"/>
          </a:xfrm>
          <a:prstGeom prst="rect">
            <a:avLst/>
          </a:prstGeom>
          <a:solidFill>
            <a:srgbClr val="EBF0F5"/>
          </a:solidFill>
          <a:ln w="6350">
            <a:solidFill>
              <a:srgbClr val="457B9D"/>
            </a:solidFill>
            <a:prstDash val="solid"/>
          </a:ln>
        </p:spPr>
      </p:sp>
      <p:sp>
        <p:nvSpPr>
          <p:cNvPr id="10" name="Text 8"/>
          <p:cNvSpPr/>
          <p:nvPr/>
        </p:nvSpPr>
        <p:spPr>
          <a:xfrm>
            <a:off x="7973568" y="109728"/>
            <a:ext cx="914400" cy="201168"/>
          </a:xfrm>
          <a:prstGeom prst="rect">
            <a:avLst/>
          </a:prstGeom>
          <a:noFill/>
          <a:ln/>
        </p:spPr>
        <p:txBody>
          <a:bodyPr wrap="square" lIns="0" tIns="0" rIns="0" bIns="0" rtlCol="0" anchor="ctr"/>
          <a:lstStyle/>
          <a:p>
            <a:pPr algn="ctr" indent="0" marL="0">
              <a:buNone/>
            </a:pPr>
            <a:r>
              <a:rPr lang="en-US" sz="750" dirty="0">
                <a:solidFill>
                  <a:srgbClr val="1D3557"/>
                </a:solidFill>
              </a:rPr>
              <a:t>~1:40</a:t>
            </a:r>
            <a:endParaRPr lang="en-US" sz="750" dirty="0"/>
          </a:p>
        </p:txBody>
      </p:sp>
      <p:sp>
        <p:nvSpPr>
          <p:cNvPr id="11" name="Shape 9"/>
          <p:cNvSpPr/>
          <p:nvPr/>
        </p:nvSpPr>
        <p:spPr>
          <a:xfrm>
            <a:off x="201168" y="768096"/>
            <a:ext cx="8686800" cy="0"/>
          </a:xfrm>
          <a:prstGeom prst="line">
            <a:avLst/>
          </a:prstGeom>
          <a:noFill/>
          <a:ln w="6350">
            <a:solidFill>
              <a:srgbClr val="D0D0D0"/>
            </a:solidFill>
            <a:prstDash val="solid"/>
          </a:ln>
        </p:spPr>
      </p:sp>
      <p:sp>
        <p:nvSpPr>
          <p:cNvPr id="12" name="Shape 10"/>
          <p:cNvSpPr/>
          <p:nvPr/>
        </p:nvSpPr>
        <p:spPr>
          <a:xfrm>
            <a:off x="201168" y="932688"/>
            <a:ext cx="2907792" cy="3291840"/>
          </a:xfrm>
          <a:prstGeom prst="rect">
            <a:avLst/>
          </a:prstGeom>
          <a:solidFill>
            <a:srgbClr val="FFFFFF"/>
          </a:solidFill>
          <a:ln w="6350">
            <a:solidFill>
              <a:srgbClr val="E0E0E0"/>
            </a:solidFill>
            <a:prstDash val="solid"/>
          </a:ln>
          <a:effectLst>
            <a:outerShdw sx="100000" sy="100000" kx="0" ky="0" algn="bl" rotWithShape="0" blurRad="88900" dist="25400" dir="8100000">
              <a:srgbClr val="000000">
                <a:alpha val="10000"/>
              </a:srgbClr>
            </a:outerShdw>
          </a:effectLst>
        </p:spPr>
      </p:sp>
      <p:sp>
        <p:nvSpPr>
          <p:cNvPr id="13" name="Shape 11"/>
          <p:cNvSpPr/>
          <p:nvPr/>
        </p:nvSpPr>
        <p:spPr>
          <a:xfrm>
            <a:off x="201168" y="932688"/>
            <a:ext cx="2907792" cy="50292"/>
          </a:xfrm>
          <a:prstGeom prst="rect">
            <a:avLst/>
          </a:prstGeom>
          <a:solidFill>
            <a:srgbClr val="1D3557"/>
          </a:solidFill>
          <a:ln w="12700">
            <a:solidFill>
              <a:srgbClr val="1D3557"/>
            </a:solidFill>
            <a:prstDash val="solid"/>
          </a:ln>
        </p:spPr>
      </p:sp>
      <p:sp>
        <p:nvSpPr>
          <p:cNvPr id="14" name="Text 12"/>
          <p:cNvSpPr/>
          <p:nvPr/>
        </p:nvSpPr>
        <p:spPr>
          <a:xfrm>
            <a:off x="310896" y="1005840"/>
            <a:ext cx="2688336" cy="182880"/>
          </a:xfrm>
          <a:prstGeom prst="rect">
            <a:avLst/>
          </a:prstGeom>
          <a:noFill/>
          <a:ln/>
        </p:spPr>
        <p:txBody>
          <a:bodyPr wrap="square" lIns="0" tIns="0" rIns="0" bIns="0" rtlCol="0" anchor="ctr"/>
          <a:lstStyle/>
          <a:p>
            <a:pPr indent="0" marL="0">
              <a:buNone/>
            </a:pPr>
            <a:r>
              <a:rPr lang="en-US" sz="800" b="1" spc="130" kern="0" dirty="0">
                <a:solidFill>
                  <a:srgbClr val="5A6472"/>
                </a:solidFill>
              </a:rPr>
              <a:t>CAPM / WACC DERIVATION</a:t>
            </a:r>
            <a:endParaRPr lang="en-US" sz="800" dirty="0"/>
          </a:p>
        </p:txBody>
      </p:sp>
      <p:sp>
        <p:nvSpPr>
          <p:cNvPr id="15" name="Shape 13"/>
          <p:cNvSpPr/>
          <p:nvPr/>
        </p:nvSpPr>
        <p:spPr>
          <a:xfrm>
            <a:off x="201168" y="1243584"/>
            <a:ext cx="2907792" cy="274320"/>
          </a:xfrm>
          <a:prstGeom prst="rect">
            <a:avLst/>
          </a:prstGeom>
          <a:solidFill>
            <a:srgbClr val="F5F8FA"/>
          </a:solidFill>
          <a:ln w="12700">
            <a:solidFill>
              <a:srgbClr val="F5F8FA"/>
            </a:solidFill>
            <a:prstDash val="solid"/>
          </a:ln>
        </p:spPr>
      </p:sp>
      <p:sp>
        <p:nvSpPr>
          <p:cNvPr id="16" name="Text 14"/>
          <p:cNvSpPr/>
          <p:nvPr/>
        </p:nvSpPr>
        <p:spPr>
          <a:xfrm>
            <a:off x="310896" y="1261872"/>
            <a:ext cx="1143000" cy="201168"/>
          </a:xfrm>
          <a:prstGeom prst="rect">
            <a:avLst/>
          </a:prstGeom>
          <a:noFill/>
          <a:ln/>
        </p:spPr>
        <p:txBody>
          <a:bodyPr wrap="square" lIns="0" tIns="0" rIns="0" bIns="0" rtlCol="0" anchor="ctr"/>
          <a:lstStyle/>
          <a:p>
            <a:pPr indent="0" marL="0">
              <a:buNone/>
            </a:pPr>
            <a:r>
              <a:rPr lang="en-US" sz="850" dirty="0">
                <a:solidFill>
                  <a:srgbClr val="111111"/>
                </a:solidFill>
              </a:rPr>
              <a:t>Risk-free rate (Rf)</a:t>
            </a:r>
            <a:endParaRPr lang="en-US" sz="850" dirty="0"/>
          </a:p>
        </p:txBody>
      </p:sp>
      <p:sp>
        <p:nvSpPr>
          <p:cNvPr id="17" name="Text 15"/>
          <p:cNvSpPr/>
          <p:nvPr/>
        </p:nvSpPr>
        <p:spPr>
          <a:xfrm>
            <a:off x="1463040" y="1261872"/>
            <a:ext cx="502920" cy="201168"/>
          </a:xfrm>
          <a:prstGeom prst="rect">
            <a:avLst/>
          </a:prstGeom>
          <a:noFill/>
          <a:ln/>
        </p:spPr>
        <p:txBody>
          <a:bodyPr wrap="square" lIns="0" tIns="0" rIns="0" bIns="0" rtlCol="0" anchor="ctr"/>
          <a:lstStyle/>
          <a:p>
            <a:pPr algn="ctr" indent="0" marL="0">
              <a:buNone/>
            </a:pPr>
            <a:r>
              <a:rPr lang="en-US" sz="900" b="1" dirty="0">
                <a:solidFill>
                  <a:srgbClr val="2A9D8F"/>
                </a:solidFill>
                <a:latin typeface="Georgia" pitchFamily="34" charset="0"/>
                <a:ea typeface="Georgia" pitchFamily="34" charset="-122"/>
                <a:cs typeface="Georgia" pitchFamily="34" charset="-120"/>
              </a:rPr>
              <a:t>3.50%</a:t>
            </a:r>
            <a:endParaRPr lang="en-US" sz="900" dirty="0"/>
          </a:p>
        </p:txBody>
      </p:sp>
      <p:sp>
        <p:nvSpPr>
          <p:cNvPr id="18" name="Text 16"/>
          <p:cNvSpPr/>
          <p:nvPr/>
        </p:nvSpPr>
        <p:spPr>
          <a:xfrm>
            <a:off x="1993392" y="1261872"/>
            <a:ext cx="1042416" cy="201168"/>
          </a:xfrm>
          <a:prstGeom prst="rect">
            <a:avLst/>
          </a:prstGeom>
          <a:noFill/>
          <a:ln/>
        </p:spPr>
        <p:txBody>
          <a:bodyPr wrap="square" lIns="0" tIns="0" rIns="0" bIns="0" rtlCol="0" anchor="ctr"/>
          <a:lstStyle/>
          <a:p>
            <a:pPr indent="0" marL="0">
              <a:buNone/>
            </a:pPr>
            <a:r>
              <a:rPr lang="en-US" sz="700" i="1" dirty="0">
                <a:solidFill>
                  <a:srgbClr val="5A6472"/>
                </a:solidFill>
              </a:rPr>
              <a:t>10yr GoC bond Mar 2026</a:t>
            </a:r>
            <a:endParaRPr lang="en-US" sz="700" dirty="0"/>
          </a:p>
        </p:txBody>
      </p:sp>
      <p:sp>
        <p:nvSpPr>
          <p:cNvPr id="19" name="Text 17"/>
          <p:cNvSpPr/>
          <p:nvPr/>
        </p:nvSpPr>
        <p:spPr>
          <a:xfrm>
            <a:off x="310896" y="1554480"/>
            <a:ext cx="1143000" cy="201168"/>
          </a:xfrm>
          <a:prstGeom prst="rect">
            <a:avLst/>
          </a:prstGeom>
          <a:noFill/>
          <a:ln/>
        </p:spPr>
        <p:txBody>
          <a:bodyPr wrap="square" lIns="0" tIns="0" rIns="0" bIns="0" rtlCol="0" anchor="ctr"/>
          <a:lstStyle/>
          <a:p>
            <a:pPr indent="0" marL="0">
              <a:buNone/>
            </a:pPr>
            <a:r>
              <a:rPr lang="en-US" sz="850" dirty="0">
                <a:solidFill>
                  <a:srgbClr val="111111"/>
                </a:solidFill>
              </a:rPr>
              <a:t>Beta</a:t>
            </a:r>
            <a:endParaRPr lang="en-US" sz="850" dirty="0"/>
          </a:p>
        </p:txBody>
      </p:sp>
      <p:sp>
        <p:nvSpPr>
          <p:cNvPr id="20" name="Text 18"/>
          <p:cNvSpPr/>
          <p:nvPr/>
        </p:nvSpPr>
        <p:spPr>
          <a:xfrm>
            <a:off x="1463040" y="1554480"/>
            <a:ext cx="502920" cy="201168"/>
          </a:xfrm>
          <a:prstGeom prst="rect">
            <a:avLst/>
          </a:prstGeom>
          <a:noFill/>
          <a:ln/>
        </p:spPr>
        <p:txBody>
          <a:bodyPr wrap="square" lIns="0" tIns="0" rIns="0" bIns="0" rtlCol="0" anchor="ctr"/>
          <a:lstStyle/>
          <a:p>
            <a:pPr algn="ctr" indent="0" marL="0">
              <a:buNone/>
            </a:pPr>
            <a:r>
              <a:rPr lang="en-US" sz="900" b="1" dirty="0">
                <a:solidFill>
                  <a:srgbClr val="2A9D8F"/>
                </a:solidFill>
                <a:latin typeface="Georgia" pitchFamily="34" charset="0"/>
                <a:ea typeface="Georgia" pitchFamily="34" charset="-122"/>
                <a:cs typeface="Georgia" pitchFamily="34" charset="-120"/>
              </a:rPr>
              <a:t>0.26</a:t>
            </a:r>
            <a:endParaRPr lang="en-US" sz="900" dirty="0"/>
          </a:p>
        </p:txBody>
      </p:sp>
      <p:sp>
        <p:nvSpPr>
          <p:cNvPr id="21" name="Text 19"/>
          <p:cNvSpPr/>
          <p:nvPr/>
        </p:nvSpPr>
        <p:spPr>
          <a:xfrm>
            <a:off x="1993392" y="1554480"/>
            <a:ext cx="1042416" cy="201168"/>
          </a:xfrm>
          <a:prstGeom prst="rect">
            <a:avLst/>
          </a:prstGeom>
          <a:noFill/>
          <a:ln/>
        </p:spPr>
        <p:txBody>
          <a:bodyPr wrap="square" lIns="0" tIns="0" rIns="0" bIns="0" rtlCol="0" anchor="ctr"/>
          <a:lstStyle/>
          <a:p>
            <a:pPr indent="0" marL="0">
              <a:buNone/>
            </a:pPr>
            <a:r>
              <a:rPr lang="en-US" sz="700" i="1" dirty="0">
                <a:solidFill>
                  <a:srgbClr val="5A6472"/>
                </a:solidFill>
              </a:rPr>
              <a:t>Yahoo Finance 5yr monthly</a:t>
            </a:r>
            <a:endParaRPr lang="en-US" sz="700" dirty="0"/>
          </a:p>
        </p:txBody>
      </p:sp>
      <p:sp>
        <p:nvSpPr>
          <p:cNvPr id="22" name="Shape 20"/>
          <p:cNvSpPr/>
          <p:nvPr/>
        </p:nvSpPr>
        <p:spPr>
          <a:xfrm>
            <a:off x="201168" y="1828800"/>
            <a:ext cx="2907792" cy="274320"/>
          </a:xfrm>
          <a:prstGeom prst="rect">
            <a:avLst/>
          </a:prstGeom>
          <a:solidFill>
            <a:srgbClr val="F5F8FA"/>
          </a:solidFill>
          <a:ln w="12700">
            <a:solidFill>
              <a:srgbClr val="F5F8FA"/>
            </a:solidFill>
            <a:prstDash val="solid"/>
          </a:ln>
        </p:spPr>
      </p:sp>
      <p:sp>
        <p:nvSpPr>
          <p:cNvPr id="23" name="Text 21"/>
          <p:cNvSpPr/>
          <p:nvPr/>
        </p:nvSpPr>
        <p:spPr>
          <a:xfrm>
            <a:off x="310896" y="1847088"/>
            <a:ext cx="1143000" cy="201168"/>
          </a:xfrm>
          <a:prstGeom prst="rect">
            <a:avLst/>
          </a:prstGeom>
          <a:noFill/>
          <a:ln/>
        </p:spPr>
        <p:txBody>
          <a:bodyPr wrap="square" lIns="0" tIns="0" rIns="0" bIns="0" rtlCol="0" anchor="ctr"/>
          <a:lstStyle/>
          <a:p>
            <a:pPr indent="0" marL="0">
              <a:buNone/>
            </a:pPr>
            <a:r>
              <a:rPr lang="en-US" sz="850" dirty="0">
                <a:solidFill>
                  <a:srgbClr val="111111"/>
                </a:solidFill>
              </a:rPr>
              <a:t>Equity risk premium</a:t>
            </a:r>
            <a:endParaRPr lang="en-US" sz="850" dirty="0"/>
          </a:p>
        </p:txBody>
      </p:sp>
      <p:sp>
        <p:nvSpPr>
          <p:cNvPr id="24" name="Text 22"/>
          <p:cNvSpPr/>
          <p:nvPr/>
        </p:nvSpPr>
        <p:spPr>
          <a:xfrm>
            <a:off x="1463040" y="1847088"/>
            <a:ext cx="502920" cy="201168"/>
          </a:xfrm>
          <a:prstGeom prst="rect">
            <a:avLst/>
          </a:prstGeom>
          <a:noFill/>
          <a:ln/>
        </p:spPr>
        <p:txBody>
          <a:bodyPr wrap="square" lIns="0" tIns="0" rIns="0" bIns="0" rtlCol="0" anchor="ctr"/>
          <a:lstStyle/>
          <a:p>
            <a:pPr algn="ctr" indent="0" marL="0">
              <a:buNone/>
            </a:pPr>
            <a:r>
              <a:rPr lang="en-US" sz="900" b="1" dirty="0">
                <a:solidFill>
                  <a:srgbClr val="2A9D8F"/>
                </a:solidFill>
                <a:latin typeface="Georgia" pitchFamily="34" charset="0"/>
                <a:ea typeface="Georgia" pitchFamily="34" charset="-122"/>
                <a:cs typeface="Georgia" pitchFamily="34" charset="-120"/>
              </a:rPr>
              <a:t>6.50%</a:t>
            </a:r>
            <a:endParaRPr lang="en-US" sz="900" dirty="0"/>
          </a:p>
        </p:txBody>
      </p:sp>
      <p:sp>
        <p:nvSpPr>
          <p:cNvPr id="25" name="Text 23"/>
          <p:cNvSpPr/>
          <p:nvPr/>
        </p:nvSpPr>
        <p:spPr>
          <a:xfrm>
            <a:off x="1993392" y="1847088"/>
            <a:ext cx="1042416" cy="201168"/>
          </a:xfrm>
          <a:prstGeom prst="rect">
            <a:avLst/>
          </a:prstGeom>
          <a:noFill/>
          <a:ln/>
        </p:spPr>
        <p:txBody>
          <a:bodyPr wrap="square" lIns="0" tIns="0" rIns="0" bIns="0" rtlCol="0" anchor="ctr"/>
          <a:lstStyle/>
          <a:p>
            <a:pPr indent="0" marL="0">
              <a:buNone/>
            </a:pPr>
            <a:r>
              <a:rPr lang="en-US" sz="700" i="1" dirty="0">
                <a:solidFill>
                  <a:srgbClr val="5A6472"/>
                </a:solidFill>
              </a:rPr>
              <a:t>Canadian market</a:t>
            </a:r>
            <a:endParaRPr lang="en-US" sz="700" dirty="0"/>
          </a:p>
        </p:txBody>
      </p:sp>
      <p:sp>
        <p:nvSpPr>
          <p:cNvPr id="26" name="Text 24"/>
          <p:cNvSpPr/>
          <p:nvPr/>
        </p:nvSpPr>
        <p:spPr>
          <a:xfrm>
            <a:off x="310896" y="2139696"/>
            <a:ext cx="1143000" cy="201168"/>
          </a:xfrm>
          <a:prstGeom prst="rect">
            <a:avLst/>
          </a:prstGeom>
          <a:noFill/>
          <a:ln/>
        </p:spPr>
        <p:txBody>
          <a:bodyPr wrap="square" lIns="0" tIns="0" rIns="0" bIns="0" rtlCol="0" anchor="ctr"/>
          <a:lstStyle/>
          <a:p>
            <a:pPr indent="0" marL="0">
              <a:buNone/>
            </a:pPr>
            <a:r>
              <a:rPr lang="en-US" sz="850" dirty="0">
                <a:solidFill>
                  <a:srgbClr val="111111"/>
                </a:solidFill>
              </a:rPr>
              <a:t>Cost of equity</a:t>
            </a:r>
            <a:endParaRPr lang="en-US" sz="850" dirty="0"/>
          </a:p>
        </p:txBody>
      </p:sp>
      <p:sp>
        <p:nvSpPr>
          <p:cNvPr id="27" name="Text 25"/>
          <p:cNvSpPr/>
          <p:nvPr/>
        </p:nvSpPr>
        <p:spPr>
          <a:xfrm>
            <a:off x="1463040" y="2139696"/>
            <a:ext cx="502920" cy="201168"/>
          </a:xfrm>
          <a:prstGeom prst="rect">
            <a:avLst/>
          </a:prstGeom>
          <a:noFill/>
          <a:ln/>
        </p:spPr>
        <p:txBody>
          <a:bodyPr wrap="square" lIns="0" tIns="0" rIns="0" bIns="0" rtlCol="0" anchor="ctr"/>
          <a:lstStyle/>
          <a:p>
            <a:pPr algn="ctr" indent="0" marL="0">
              <a:buNone/>
            </a:pPr>
            <a:r>
              <a:rPr lang="en-US" sz="900" b="1" dirty="0">
                <a:solidFill>
                  <a:srgbClr val="2A9D8F"/>
                </a:solidFill>
                <a:latin typeface="Georgia" pitchFamily="34" charset="0"/>
                <a:ea typeface="Georgia" pitchFamily="34" charset="-122"/>
                <a:cs typeface="Georgia" pitchFamily="34" charset="-120"/>
              </a:rPr>
              <a:t>5.19%</a:t>
            </a:r>
            <a:endParaRPr lang="en-US" sz="900" dirty="0"/>
          </a:p>
        </p:txBody>
      </p:sp>
      <p:sp>
        <p:nvSpPr>
          <p:cNvPr id="28" name="Text 26"/>
          <p:cNvSpPr/>
          <p:nvPr/>
        </p:nvSpPr>
        <p:spPr>
          <a:xfrm>
            <a:off x="1993392" y="2139696"/>
            <a:ext cx="1042416" cy="201168"/>
          </a:xfrm>
          <a:prstGeom prst="rect">
            <a:avLst/>
          </a:prstGeom>
          <a:noFill/>
          <a:ln/>
        </p:spPr>
        <p:txBody>
          <a:bodyPr wrap="square" lIns="0" tIns="0" rIns="0" bIns="0" rtlCol="0" anchor="ctr"/>
          <a:lstStyle/>
          <a:p>
            <a:pPr indent="0" marL="0">
              <a:buNone/>
            </a:pPr>
            <a:r>
              <a:rPr lang="en-US" sz="700" i="1" dirty="0">
                <a:solidFill>
                  <a:srgbClr val="5A6472"/>
                </a:solidFill>
              </a:rPr>
              <a:t>Rf + beta x ERP</a:t>
            </a:r>
            <a:endParaRPr lang="en-US" sz="700" dirty="0"/>
          </a:p>
        </p:txBody>
      </p:sp>
      <p:sp>
        <p:nvSpPr>
          <p:cNvPr id="29" name="Shape 27"/>
          <p:cNvSpPr/>
          <p:nvPr/>
        </p:nvSpPr>
        <p:spPr>
          <a:xfrm>
            <a:off x="201168" y="2414016"/>
            <a:ext cx="2907792" cy="274320"/>
          </a:xfrm>
          <a:prstGeom prst="rect">
            <a:avLst/>
          </a:prstGeom>
          <a:solidFill>
            <a:srgbClr val="F5F8FA"/>
          </a:solidFill>
          <a:ln w="12700">
            <a:solidFill>
              <a:srgbClr val="F5F8FA"/>
            </a:solidFill>
            <a:prstDash val="solid"/>
          </a:ln>
        </p:spPr>
      </p:sp>
      <p:sp>
        <p:nvSpPr>
          <p:cNvPr id="30" name="Text 28"/>
          <p:cNvSpPr/>
          <p:nvPr/>
        </p:nvSpPr>
        <p:spPr>
          <a:xfrm>
            <a:off x="310896" y="2432304"/>
            <a:ext cx="1143000" cy="201168"/>
          </a:xfrm>
          <a:prstGeom prst="rect">
            <a:avLst/>
          </a:prstGeom>
          <a:noFill/>
          <a:ln/>
        </p:spPr>
        <p:txBody>
          <a:bodyPr wrap="square" lIns="0" tIns="0" rIns="0" bIns="0" rtlCol="0" anchor="ctr"/>
          <a:lstStyle/>
          <a:p>
            <a:pPr indent="0" marL="0">
              <a:buNone/>
            </a:pPr>
            <a:r>
              <a:rPr lang="en-US" sz="850" dirty="0">
                <a:solidFill>
                  <a:srgbClr val="111111"/>
                </a:solidFill>
              </a:rPr>
              <a:t>Cost of debt (post-tax)</a:t>
            </a:r>
            <a:endParaRPr lang="en-US" sz="850" dirty="0"/>
          </a:p>
        </p:txBody>
      </p:sp>
      <p:sp>
        <p:nvSpPr>
          <p:cNvPr id="31" name="Text 29"/>
          <p:cNvSpPr/>
          <p:nvPr/>
        </p:nvSpPr>
        <p:spPr>
          <a:xfrm>
            <a:off x="1463040" y="2432304"/>
            <a:ext cx="502920" cy="201168"/>
          </a:xfrm>
          <a:prstGeom prst="rect">
            <a:avLst/>
          </a:prstGeom>
          <a:noFill/>
          <a:ln/>
        </p:spPr>
        <p:txBody>
          <a:bodyPr wrap="square" lIns="0" tIns="0" rIns="0" bIns="0" rtlCol="0" anchor="ctr"/>
          <a:lstStyle/>
          <a:p>
            <a:pPr algn="ctr" indent="0" marL="0">
              <a:buNone/>
            </a:pPr>
            <a:r>
              <a:rPr lang="en-US" sz="900" b="1" dirty="0">
                <a:solidFill>
                  <a:srgbClr val="2A9D8F"/>
                </a:solidFill>
                <a:latin typeface="Georgia" pitchFamily="34" charset="0"/>
                <a:ea typeface="Georgia" pitchFamily="34" charset="-122"/>
                <a:cs typeface="Georgia" pitchFamily="34" charset="-120"/>
              </a:rPr>
              <a:t>3.12%</a:t>
            </a:r>
            <a:endParaRPr lang="en-US" sz="900" dirty="0"/>
          </a:p>
        </p:txBody>
      </p:sp>
      <p:sp>
        <p:nvSpPr>
          <p:cNvPr id="32" name="Text 30"/>
          <p:cNvSpPr/>
          <p:nvPr/>
        </p:nvSpPr>
        <p:spPr>
          <a:xfrm>
            <a:off x="1993392" y="2432304"/>
            <a:ext cx="1042416" cy="201168"/>
          </a:xfrm>
          <a:prstGeom prst="rect">
            <a:avLst/>
          </a:prstGeom>
          <a:noFill/>
          <a:ln/>
        </p:spPr>
        <p:txBody>
          <a:bodyPr wrap="square" lIns="0" tIns="0" rIns="0" bIns="0" rtlCol="0" anchor="ctr"/>
          <a:lstStyle/>
          <a:p>
            <a:pPr indent="0" marL="0">
              <a:buNone/>
            </a:pPr>
            <a:r>
              <a:rPr lang="en-US" sz="700" i="1" dirty="0">
                <a:solidFill>
                  <a:srgbClr val="5A6472"/>
                </a:solidFill>
              </a:rPr>
              <a:t>4.25% x (1-26.5%)</a:t>
            </a:r>
            <a:endParaRPr lang="en-US" sz="700" dirty="0"/>
          </a:p>
        </p:txBody>
      </p:sp>
      <p:sp>
        <p:nvSpPr>
          <p:cNvPr id="33" name="Text 31"/>
          <p:cNvSpPr/>
          <p:nvPr/>
        </p:nvSpPr>
        <p:spPr>
          <a:xfrm>
            <a:off x="310896" y="2724912"/>
            <a:ext cx="1143000" cy="201168"/>
          </a:xfrm>
          <a:prstGeom prst="rect">
            <a:avLst/>
          </a:prstGeom>
          <a:noFill/>
          <a:ln/>
        </p:spPr>
        <p:txBody>
          <a:bodyPr wrap="square" lIns="0" tIns="0" rIns="0" bIns="0" rtlCol="0" anchor="ctr"/>
          <a:lstStyle/>
          <a:p>
            <a:pPr indent="0" marL="0">
              <a:buNone/>
            </a:pPr>
            <a:r>
              <a:rPr lang="en-US" sz="850" dirty="0">
                <a:solidFill>
                  <a:srgbClr val="111111"/>
                </a:solidFill>
              </a:rPr>
              <a:t>Debt / equity weights</a:t>
            </a:r>
            <a:endParaRPr lang="en-US" sz="850" dirty="0"/>
          </a:p>
        </p:txBody>
      </p:sp>
      <p:sp>
        <p:nvSpPr>
          <p:cNvPr id="34" name="Text 32"/>
          <p:cNvSpPr/>
          <p:nvPr/>
        </p:nvSpPr>
        <p:spPr>
          <a:xfrm>
            <a:off x="1463040" y="2724912"/>
            <a:ext cx="502920" cy="201168"/>
          </a:xfrm>
          <a:prstGeom prst="rect">
            <a:avLst/>
          </a:prstGeom>
          <a:noFill/>
          <a:ln/>
        </p:spPr>
        <p:txBody>
          <a:bodyPr wrap="square" lIns="0" tIns="0" rIns="0" bIns="0" rtlCol="0" anchor="ctr"/>
          <a:lstStyle/>
          <a:p>
            <a:pPr algn="ctr" indent="0" marL="0">
              <a:buNone/>
            </a:pPr>
            <a:r>
              <a:rPr lang="en-US" sz="900" b="1" dirty="0">
                <a:solidFill>
                  <a:srgbClr val="2A9D8F"/>
                </a:solidFill>
                <a:latin typeface="Georgia" pitchFamily="34" charset="0"/>
                <a:ea typeface="Georgia" pitchFamily="34" charset="-122"/>
                <a:cs typeface="Georgia" pitchFamily="34" charset="-120"/>
              </a:rPr>
              <a:t>12% / 88%</a:t>
            </a:r>
            <a:endParaRPr lang="en-US" sz="900" dirty="0"/>
          </a:p>
        </p:txBody>
      </p:sp>
      <p:sp>
        <p:nvSpPr>
          <p:cNvPr id="35" name="Text 33"/>
          <p:cNvSpPr/>
          <p:nvPr/>
        </p:nvSpPr>
        <p:spPr>
          <a:xfrm>
            <a:off x="1993392" y="2724912"/>
            <a:ext cx="1042416" cy="201168"/>
          </a:xfrm>
          <a:prstGeom prst="rect">
            <a:avLst/>
          </a:prstGeom>
          <a:noFill/>
          <a:ln/>
        </p:spPr>
        <p:txBody>
          <a:bodyPr wrap="square" lIns="0" tIns="0" rIns="0" bIns="0" rtlCol="0" anchor="ctr"/>
          <a:lstStyle/>
          <a:p>
            <a:pPr indent="0" marL="0">
              <a:buNone/>
            </a:pPr>
            <a:r>
              <a:rPr lang="en-US" sz="700" i="1" dirty="0">
                <a:solidFill>
                  <a:srgbClr val="5A6472"/>
                </a:solidFill>
              </a:rPr>
              <a:t>FY2025 balance sheet</a:t>
            </a:r>
            <a:endParaRPr lang="en-US" sz="700" dirty="0"/>
          </a:p>
        </p:txBody>
      </p:sp>
      <p:sp>
        <p:nvSpPr>
          <p:cNvPr id="36" name="Shape 34"/>
          <p:cNvSpPr/>
          <p:nvPr/>
        </p:nvSpPr>
        <p:spPr>
          <a:xfrm>
            <a:off x="201168" y="2999232"/>
            <a:ext cx="2907792" cy="274320"/>
          </a:xfrm>
          <a:prstGeom prst="rect">
            <a:avLst/>
          </a:prstGeom>
          <a:solidFill>
            <a:srgbClr val="F5F8FA"/>
          </a:solidFill>
          <a:ln w="12700">
            <a:solidFill>
              <a:srgbClr val="F5F8FA"/>
            </a:solidFill>
            <a:prstDash val="solid"/>
          </a:ln>
        </p:spPr>
      </p:sp>
      <p:sp>
        <p:nvSpPr>
          <p:cNvPr id="37" name="Shape 35"/>
          <p:cNvSpPr/>
          <p:nvPr/>
        </p:nvSpPr>
        <p:spPr>
          <a:xfrm>
            <a:off x="201168" y="2999232"/>
            <a:ext cx="2907792" cy="292608"/>
          </a:xfrm>
          <a:prstGeom prst="rect">
            <a:avLst/>
          </a:prstGeom>
          <a:solidFill>
            <a:srgbClr val="1D3557"/>
          </a:solidFill>
          <a:ln w="12700">
            <a:solidFill>
              <a:srgbClr val="1D3557"/>
            </a:solidFill>
            <a:prstDash val="solid"/>
          </a:ln>
        </p:spPr>
      </p:sp>
      <p:sp>
        <p:nvSpPr>
          <p:cNvPr id="38" name="Text 36"/>
          <p:cNvSpPr/>
          <p:nvPr/>
        </p:nvSpPr>
        <p:spPr>
          <a:xfrm>
            <a:off x="310896" y="3017520"/>
            <a:ext cx="1143000" cy="201168"/>
          </a:xfrm>
          <a:prstGeom prst="rect">
            <a:avLst/>
          </a:prstGeom>
          <a:noFill/>
          <a:ln/>
        </p:spPr>
        <p:txBody>
          <a:bodyPr wrap="square" lIns="0" tIns="0" rIns="0" bIns="0" rtlCol="0" anchor="ctr"/>
          <a:lstStyle/>
          <a:p>
            <a:pPr indent="0" marL="0">
              <a:buNone/>
            </a:pPr>
            <a:r>
              <a:rPr lang="en-US" sz="950" b="1" dirty="0">
                <a:solidFill>
                  <a:srgbClr val="FFFFFF"/>
                </a:solidFill>
              </a:rPr>
              <a:t>WACC</a:t>
            </a:r>
            <a:endParaRPr lang="en-US" sz="950" dirty="0"/>
          </a:p>
        </p:txBody>
      </p:sp>
      <p:sp>
        <p:nvSpPr>
          <p:cNvPr id="39" name="Text 37"/>
          <p:cNvSpPr/>
          <p:nvPr/>
        </p:nvSpPr>
        <p:spPr>
          <a:xfrm>
            <a:off x="1463040" y="3017520"/>
            <a:ext cx="502920" cy="201168"/>
          </a:xfrm>
          <a:prstGeom prst="rect">
            <a:avLst/>
          </a:prstGeom>
          <a:noFill/>
          <a:ln/>
        </p:spPr>
        <p:txBody>
          <a:bodyPr wrap="square" lIns="0" tIns="0" rIns="0" bIns="0" rtlCol="0" anchor="ctr"/>
          <a:lstStyle/>
          <a:p>
            <a:pPr algn="ctr" indent="0" marL="0">
              <a:buNone/>
            </a:pPr>
            <a:r>
              <a:rPr lang="en-US" sz="1000" b="1" dirty="0">
                <a:solidFill>
                  <a:srgbClr val="E63946"/>
                </a:solidFill>
                <a:latin typeface="Georgia" pitchFamily="34" charset="0"/>
                <a:ea typeface="Georgia" pitchFamily="34" charset="-122"/>
                <a:cs typeface="Georgia" pitchFamily="34" charset="-120"/>
              </a:rPr>
              <a:t>9.0%</a:t>
            </a:r>
            <a:endParaRPr lang="en-US" sz="1000" dirty="0"/>
          </a:p>
        </p:txBody>
      </p:sp>
      <p:sp>
        <p:nvSpPr>
          <p:cNvPr id="40" name="Text 38"/>
          <p:cNvSpPr/>
          <p:nvPr/>
        </p:nvSpPr>
        <p:spPr>
          <a:xfrm>
            <a:off x="1993392" y="3017520"/>
            <a:ext cx="1042416" cy="201168"/>
          </a:xfrm>
          <a:prstGeom prst="rect">
            <a:avLst/>
          </a:prstGeom>
          <a:noFill/>
          <a:ln/>
        </p:spPr>
        <p:txBody>
          <a:bodyPr wrap="square" lIns="0" tIns="0" rIns="0" bIns="0" rtlCol="0" anchor="ctr"/>
          <a:lstStyle/>
          <a:p>
            <a:pPr indent="0" marL="0">
              <a:buNone/>
            </a:pPr>
            <a:r>
              <a:rPr lang="en-US" sz="700" i="1" dirty="0">
                <a:solidFill>
                  <a:srgbClr val="8AADC8"/>
                </a:solidFill>
              </a:rPr>
              <a:t>Conservative vs 6-7% mkt est.</a:t>
            </a:r>
            <a:endParaRPr lang="en-US" sz="700" dirty="0"/>
          </a:p>
        </p:txBody>
      </p:sp>
      <p:sp>
        <p:nvSpPr>
          <p:cNvPr id="41" name="Shape 39"/>
          <p:cNvSpPr/>
          <p:nvPr/>
        </p:nvSpPr>
        <p:spPr>
          <a:xfrm>
            <a:off x="201168" y="4279392"/>
            <a:ext cx="2907792" cy="877824"/>
          </a:xfrm>
          <a:prstGeom prst="rect">
            <a:avLst/>
          </a:prstGeom>
          <a:solidFill>
            <a:srgbClr val="1D3557"/>
          </a:solidFill>
          <a:ln w="12700">
            <a:solidFill>
              <a:srgbClr val="1D3557"/>
            </a:solidFill>
            <a:prstDash val="solid"/>
          </a:ln>
        </p:spPr>
      </p:sp>
      <p:sp>
        <p:nvSpPr>
          <p:cNvPr id="42" name="Text 40"/>
          <p:cNvSpPr/>
          <p:nvPr/>
        </p:nvSpPr>
        <p:spPr>
          <a:xfrm>
            <a:off x="310896" y="4343400"/>
            <a:ext cx="2688336" cy="164592"/>
          </a:xfrm>
          <a:prstGeom prst="rect">
            <a:avLst/>
          </a:prstGeom>
          <a:noFill/>
          <a:ln/>
        </p:spPr>
        <p:txBody>
          <a:bodyPr wrap="square" lIns="0" tIns="0" rIns="0" bIns="0" rtlCol="0" anchor="ctr"/>
          <a:lstStyle/>
          <a:p>
            <a:pPr indent="0" marL="0">
              <a:buNone/>
            </a:pPr>
            <a:r>
              <a:rPr lang="en-US" sz="800" b="1" spc="100" kern="0" dirty="0">
                <a:solidFill>
                  <a:srgbClr val="8AADC8"/>
                </a:solidFill>
              </a:rPr>
              <a:t>DCF INTRINSIC VALUE</a:t>
            </a:r>
            <a:endParaRPr lang="en-US" sz="800" dirty="0"/>
          </a:p>
        </p:txBody>
      </p:sp>
      <p:sp>
        <p:nvSpPr>
          <p:cNvPr id="43" name="Text 41"/>
          <p:cNvSpPr/>
          <p:nvPr/>
        </p:nvSpPr>
        <p:spPr>
          <a:xfrm>
            <a:off x="310896" y="4480560"/>
            <a:ext cx="2688336" cy="457200"/>
          </a:xfrm>
          <a:prstGeom prst="rect">
            <a:avLst/>
          </a:prstGeom>
          <a:noFill/>
          <a:ln/>
        </p:spPr>
        <p:txBody>
          <a:bodyPr wrap="square" lIns="0" tIns="0" rIns="0" bIns="0" rtlCol="0" anchor="ctr"/>
          <a:lstStyle/>
          <a:p>
            <a:pPr indent="0" marL="0">
              <a:buNone/>
            </a:pPr>
            <a:r>
              <a:rPr lang="en-US" sz="2800" b="1" dirty="0">
                <a:solidFill>
                  <a:srgbClr val="E63946"/>
                </a:solidFill>
                <a:latin typeface="Georgia" pitchFamily="34" charset="0"/>
                <a:ea typeface="Georgia" pitchFamily="34" charset="-122"/>
                <a:cs typeface="Georgia" pitchFamily="34" charset="-120"/>
              </a:rPr>
              <a:t>$212 CAD</a:t>
            </a:r>
            <a:endParaRPr lang="en-US" sz="2800" dirty="0"/>
          </a:p>
        </p:txBody>
      </p:sp>
      <p:sp>
        <p:nvSpPr>
          <p:cNvPr id="44" name="Text 42"/>
          <p:cNvSpPr/>
          <p:nvPr/>
        </p:nvSpPr>
        <p:spPr>
          <a:xfrm>
            <a:off x="310896" y="4800600"/>
            <a:ext cx="2688336" cy="182880"/>
          </a:xfrm>
          <a:prstGeom prst="rect">
            <a:avLst/>
          </a:prstGeom>
          <a:noFill/>
          <a:ln/>
        </p:spPr>
        <p:txBody>
          <a:bodyPr wrap="square" lIns="0" tIns="0" rIns="0" bIns="0" rtlCol="0" anchor="ctr"/>
          <a:lstStyle/>
          <a:p>
            <a:pPr indent="0" marL="0">
              <a:buNone/>
            </a:pPr>
            <a:r>
              <a:rPr lang="en-US" sz="800" i="1" dirty="0">
                <a:solidFill>
                  <a:srgbClr val="6A8FA8"/>
                </a:solidFill>
              </a:rPr>
              <a:t>~25% above current price  |  WACC 9%  |  TGR 2.5%</a:t>
            </a:r>
            <a:endParaRPr lang="en-US" sz="800" dirty="0"/>
          </a:p>
        </p:txBody>
      </p:sp>
      <p:sp>
        <p:nvSpPr>
          <p:cNvPr id="45" name="Shape 43"/>
          <p:cNvSpPr/>
          <p:nvPr/>
        </p:nvSpPr>
        <p:spPr>
          <a:xfrm>
            <a:off x="3273552" y="932688"/>
            <a:ext cx="2560320" cy="2212848"/>
          </a:xfrm>
          <a:prstGeom prst="rect">
            <a:avLst/>
          </a:prstGeom>
          <a:solidFill>
            <a:srgbClr val="FFFFFF"/>
          </a:solidFill>
          <a:ln w="6350">
            <a:solidFill>
              <a:srgbClr val="E0E0E0"/>
            </a:solidFill>
            <a:prstDash val="solid"/>
          </a:ln>
          <a:effectLst>
            <a:outerShdw sx="100000" sy="100000" kx="0" ky="0" algn="bl" rotWithShape="0" blurRad="88900" dist="25400" dir="8100000">
              <a:srgbClr val="000000">
                <a:alpha val="10000"/>
              </a:srgbClr>
            </a:outerShdw>
          </a:effectLst>
        </p:spPr>
      </p:sp>
      <p:sp>
        <p:nvSpPr>
          <p:cNvPr id="46" name="Shape 44"/>
          <p:cNvSpPr/>
          <p:nvPr/>
        </p:nvSpPr>
        <p:spPr>
          <a:xfrm>
            <a:off x="3273552" y="932688"/>
            <a:ext cx="2560320" cy="50292"/>
          </a:xfrm>
          <a:prstGeom prst="rect">
            <a:avLst/>
          </a:prstGeom>
          <a:solidFill>
            <a:srgbClr val="E63946"/>
          </a:solidFill>
          <a:ln w="12700">
            <a:solidFill>
              <a:srgbClr val="E63946"/>
            </a:solidFill>
            <a:prstDash val="solid"/>
          </a:ln>
        </p:spPr>
      </p:sp>
      <p:sp>
        <p:nvSpPr>
          <p:cNvPr id="47" name="Text 45"/>
          <p:cNvSpPr/>
          <p:nvPr/>
        </p:nvSpPr>
        <p:spPr>
          <a:xfrm>
            <a:off x="3383280" y="1005840"/>
            <a:ext cx="2340864" cy="182880"/>
          </a:xfrm>
          <a:prstGeom prst="rect">
            <a:avLst/>
          </a:prstGeom>
          <a:noFill/>
          <a:ln/>
        </p:spPr>
        <p:txBody>
          <a:bodyPr wrap="square" lIns="0" tIns="0" rIns="0" bIns="0" rtlCol="0" anchor="ctr"/>
          <a:lstStyle/>
          <a:p>
            <a:pPr indent="0" marL="0">
              <a:buNone/>
            </a:pPr>
            <a:r>
              <a:rPr lang="en-US" sz="800" b="1" spc="130" kern="0" dirty="0">
                <a:solidFill>
                  <a:srgbClr val="5A6472"/>
                </a:solidFill>
              </a:rPr>
              <a:t>DCF MODEL INPUTS</a:t>
            </a:r>
            <a:endParaRPr lang="en-US" sz="800" dirty="0"/>
          </a:p>
        </p:txBody>
      </p:sp>
      <p:sp>
        <p:nvSpPr>
          <p:cNvPr id="48" name="Text 46"/>
          <p:cNvSpPr/>
          <p:nvPr/>
        </p:nvSpPr>
        <p:spPr>
          <a:xfrm>
            <a:off x="3383280" y="1261872"/>
            <a:ext cx="1554480" cy="201168"/>
          </a:xfrm>
          <a:prstGeom prst="rect">
            <a:avLst/>
          </a:prstGeom>
          <a:noFill/>
          <a:ln/>
        </p:spPr>
        <p:txBody>
          <a:bodyPr wrap="square" lIns="0" tIns="0" rIns="0" bIns="0" rtlCol="0" anchor="ctr"/>
          <a:lstStyle/>
          <a:p>
            <a:pPr indent="0" marL="0">
              <a:buNone/>
            </a:pPr>
            <a:r>
              <a:rPr lang="en-US" sz="850" dirty="0">
                <a:solidFill>
                  <a:srgbClr val="5A6472"/>
                </a:solidFill>
              </a:rPr>
              <a:t>Base FCF (FY2025 actual)</a:t>
            </a:r>
            <a:endParaRPr lang="en-US" sz="850" dirty="0"/>
          </a:p>
        </p:txBody>
      </p:sp>
      <p:sp>
        <p:nvSpPr>
          <p:cNvPr id="49" name="Text 47"/>
          <p:cNvSpPr/>
          <p:nvPr/>
        </p:nvSpPr>
        <p:spPr>
          <a:xfrm>
            <a:off x="4846320" y="1261872"/>
            <a:ext cx="896112" cy="201168"/>
          </a:xfrm>
          <a:prstGeom prst="rect">
            <a:avLst/>
          </a:prstGeom>
          <a:noFill/>
          <a:ln/>
        </p:spPr>
        <p:txBody>
          <a:bodyPr wrap="square" lIns="0" tIns="0" rIns="0" bIns="0" rtlCol="0" anchor="ctr"/>
          <a:lstStyle/>
          <a:p>
            <a:pPr algn="r" indent="0" marL="0">
              <a:buNone/>
            </a:pPr>
            <a:r>
              <a:rPr lang="en-US" sz="900" b="1" dirty="0">
                <a:solidFill>
                  <a:srgbClr val="1D3557"/>
                </a:solidFill>
              </a:rPr>
              <a:t>$1.40B</a:t>
            </a:r>
            <a:endParaRPr lang="en-US" sz="900" dirty="0"/>
          </a:p>
        </p:txBody>
      </p:sp>
      <p:sp>
        <p:nvSpPr>
          <p:cNvPr id="50" name="Text 48"/>
          <p:cNvSpPr/>
          <p:nvPr/>
        </p:nvSpPr>
        <p:spPr>
          <a:xfrm>
            <a:off x="3383280" y="1536192"/>
            <a:ext cx="1554480" cy="201168"/>
          </a:xfrm>
          <a:prstGeom prst="rect">
            <a:avLst/>
          </a:prstGeom>
          <a:noFill/>
          <a:ln/>
        </p:spPr>
        <p:txBody>
          <a:bodyPr wrap="square" lIns="0" tIns="0" rIns="0" bIns="0" rtlCol="0" anchor="ctr"/>
          <a:lstStyle/>
          <a:p>
            <a:pPr indent="0" marL="0">
              <a:buNone/>
            </a:pPr>
            <a:r>
              <a:rPr lang="en-US" sz="850" dirty="0">
                <a:solidFill>
                  <a:srgbClr val="5A6472"/>
                </a:solidFill>
              </a:rPr>
              <a:t>Stage 1 FCF growth</a:t>
            </a:r>
            <a:endParaRPr lang="en-US" sz="850" dirty="0"/>
          </a:p>
        </p:txBody>
      </p:sp>
      <p:sp>
        <p:nvSpPr>
          <p:cNvPr id="51" name="Text 49"/>
          <p:cNvSpPr/>
          <p:nvPr/>
        </p:nvSpPr>
        <p:spPr>
          <a:xfrm>
            <a:off x="4846320" y="1536192"/>
            <a:ext cx="896112" cy="201168"/>
          </a:xfrm>
          <a:prstGeom prst="rect">
            <a:avLst/>
          </a:prstGeom>
          <a:noFill/>
          <a:ln/>
        </p:spPr>
        <p:txBody>
          <a:bodyPr wrap="square" lIns="0" tIns="0" rIns="0" bIns="0" rtlCol="0" anchor="ctr"/>
          <a:lstStyle/>
          <a:p>
            <a:pPr algn="r" indent="0" marL="0">
              <a:buNone/>
            </a:pPr>
            <a:r>
              <a:rPr lang="en-US" sz="900" b="1" dirty="0">
                <a:solidFill>
                  <a:srgbClr val="1D3557"/>
                </a:solidFill>
              </a:rPr>
              <a:t>Capped hist. CAGR</a:t>
            </a:r>
            <a:endParaRPr lang="en-US" sz="900" dirty="0"/>
          </a:p>
        </p:txBody>
      </p:sp>
      <p:sp>
        <p:nvSpPr>
          <p:cNvPr id="52" name="Text 50"/>
          <p:cNvSpPr/>
          <p:nvPr/>
        </p:nvSpPr>
        <p:spPr>
          <a:xfrm>
            <a:off x="3383280" y="1810512"/>
            <a:ext cx="1554480" cy="201168"/>
          </a:xfrm>
          <a:prstGeom prst="rect">
            <a:avLst/>
          </a:prstGeom>
          <a:noFill/>
          <a:ln/>
        </p:spPr>
        <p:txBody>
          <a:bodyPr wrap="square" lIns="0" tIns="0" rIns="0" bIns="0" rtlCol="0" anchor="ctr"/>
          <a:lstStyle/>
          <a:p>
            <a:pPr indent="0" marL="0">
              <a:buNone/>
            </a:pPr>
            <a:r>
              <a:rPr lang="en-US" sz="850" dirty="0">
                <a:solidFill>
                  <a:srgbClr val="5A6472"/>
                </a:solidFill>
              </a:rPr>
              <a:t>Forecast horizon</a:t>
            </a:r>
            <a:endParaRPr lang="en-US" sz="850" dirty="0"/>
          </a:p>
        </p:txBody>
      </p:sp>
      <p:sp>
        <p:nvSpPr>
          <p:cNvPr id="53" name="Text 51"/>
          <p:cNvSpPr/>
          <p:nvPr/>
        </p:nvSpPr>
        <p:spPr>
          <a:xfrm>
            <a:off x="4846320" y="1810512"/>
            <a:ext cx="896112" cy="201168"/>
          </a:xfrm>
          <a:prstGeom prst="rect">
            <a:avLst/>
          </a:prstGeom>
          <a:noFill/>
          <a:ln/>
        </p:spPr>
        <p:txBody>
          <a:bodyPr wrap="square" lIns="0" tIns="0" rIns="0" bIns="0" rtlCol="0" anchor="ctr"/>
          <a:lstStyle/>
          <a:p>
            <a:pPr algn="r" indent="0" marL="0">
              <a:buNone/>
            </a:pPr>
            <a:r>
              <a:rPr lang="en-US" sz="900" b="1" dirty="0">
                <a:solidFill>
                  <a:srgbClr val="1D3557"/>
                </a:solidFill>
              </a:rPr>
              <a:t>5 years</a:t>
            </a:r>
            <a:endParaRPr lang="en-US" sz="900" dirty="0"/>
          </a:p>
        </p:txBody>
      </p:sp>
      <p:sp>
        <p:nvSpPr>
          <p:cNvPr id="54" name="Text 52"/>
          <p:cNvSpPr/>
          <p:nvPr/>
        </p:nvSpPr>
        <p:spPr>
          <a:xfrm>
            <a:off x="3383280" y="2084832"/>
            <a:ext cx="1554480" cy="201168"/>
          </a:xfrm>
          <a:prstGeom prst="rect">
            <a:avLst/>
          </a:prstGeom>
          <a:noFill/>
          <a:ln/>
        </p:spPr>
        <p:txBody>
          <a:bodyPr wrap="square" lIns="0" tIns="0" rIns="0" bIns="0" rtlCol="0" anchor="ctr"/>
          <a:lstStyle/>
          <a:p>
            <a:pPr indent="0" marL="0">
              <a:buNone/>
            </a:pPr>
            <a:r>
              <a:rPr lang="en-US" sz="850" dirty="0">
                <a:solidFill>
                  <a:srgbClr val="5A6472"/>
                </a:solidFill>
              </a:rPr>
              <a:t>Terminal growth rate</a:t>
            </a:r>
            <a:endParaRPr lang="en-US" sz="850" dirty="0"/>
          </a:p>
        </p:txBody>
      </p:sp>
      <p:sp>
        <p:nvSpPr>
          <p:cNvPr id="55" name="Text 53"/>
          <p:cNvSpPr/>
          <p:nvPr/>
        </p:nvSpPr>
        <p:spPr>
          <a:xfrm>
            <a:off x="4846320" y="2084832"/>
            <a:ext cx="896112" cy="201168"/>
          </a:xfrm>
          <a:prstGeom prst="rect">
            <a:avLst/>
          </a:prstGeom>
          <a:noFill/>
          <a:ln/>
        </p:spPr>
        <p:txBody>
          <a:bodyPr wrap="square" lIns="0" tIns="0" rIns="0" bIns="0" rtlCol="0" anchor="ctr"/>
          <a:lstStyle/>
          <a:p>
            <a:pPr algn="r" indent="0" marL="0">
              <a:buNone/>
            </a:pPr>
            <a:r>
              <a:rPr lang="en-US" sz="900" b="1" dirty="0">
                <a:solidFill>
                  <a:srgbClr val="1D3557"/>
                </a:solidFill>
              </a:rPr>
              <a:t>2.5%</a:t>
            </a:r>
            <a:endParaRPr lang="en-US" sz="900" dirty="0"/>
          </a:p>
        </p:txBody>
      </p:sp>
      <p:sp>
        <p:nvSpPr>
          <p:cNvPr id="56" name="Text 54"/>
          <p:cNvSpPr/>
          <p:nvPr/>
        </p:nvSpPr>
        <p:spPr>
          <a:xfrm>
            <a:off x="3383280" y="2359152"/>
            <a:ext cx="1554480" cy="201168"/>
          </a:xfrm>
          <a:prstGeom prst="rect">
            <a:avLst/>
          </a:prstGeom>
          <a:noFill/>
          <a:ln/>
        </p:spPr>
        <p:txBody>
          <a:bodyPr wrap="square" lIns="0" tIns="0" rIns="0" bIns="0" rtlCol="0" anchor="ctr"/>
          <a:lstStyle/>
          <a:p>
            <a:pPr indent="0" marL="0">
              <a:buNone/>
            </a:pPr>
            <a:r>
              <a:rPr lang="en-US" sz="850" dirty="0">
                <a:solidFill>
                  <a:srgbClr val="5A6472"/>
                </a:solidFill>
              </a:rPr>
              <a:t>WACC</a:t>
            </a:r>
            <a:endParaRPr lang="en-US" sz="850" dirty="0"/>
          </a:p>
        </p:txBody>
      </p:sp>
      <p:sp>
        <p:nvSpPr>
          <p:cNvPr id="57" name="Text 55"/>
          <p:cNvSpPr/>
          <p:nvPr/>
        </p:nvSpPr>
        <p:spPr>
          <a:xfrm>
            <a:off x="4846320" y="2359152"/>
            <a:ext cx="896112" cy="201168"/>
          </a:xfrm>
          <a:prstGeom prst="rect">
            <a:avLst/>
          </a:prstGeom>
          <a:noFill/>
          <a:ln/>
        </p:spPr>
        <p:txBody>
          <a:bodyPr wrap="square" lIns="0" tIns="0" rIns="0" bIns="0" rtlCol="0" anchor="ctr"/>
          <a:lstStyle/>
          <a:p>
            <a:pPr algn="r" indent="0" marL="0">
              <a:buNone/>
            </a:pPr>
            <a:r>
              <a:rPr lang="en-US" sz="900" b="1" dirty="0">
                <a:solidFill>
                  <a:srgbClr val="1D3557"/>
                </a:solidFill>
              </a:rPr>
              <a:t>9.0% (conservative)</a:t>
            </a:r>
            <a:endParaRPr lang="en-US" sz="900" dirty="0"/>
          </a:p>
        </p:txBody>
      </p:sp>
      <p:sp>
        <p:nvSpPr>
          <p:cNvPr id="58" name="Text 56"/>
          <p:cNvSpPr/>
          <p:nvPr/>
        </p:nvSpPr>
        <p:spPr>
          <a:xfrm>
            <a:off x="3383280" y="2633472"/>
            <a:ext cx="1554480" cy="201168"/>
          </a:xfrm>
          <a:prstGeom prst="rect">
            <a:avLst/>
          </a:prstGeom>
          <a:noFill/>
          <a:ln/>
        </p:spPr>
        <p:txBody>
          <a:bodyPr wrap="square" lIns="0" tIns="0" rIns="0" bIns="0" rtlCol="0" anchor="ctr"/>
          <a:lstStyle/>
          <a:p>
            <a:pPr indent="0" marL="0">
              <a:buNone/>
            </a:pPr>
            <a:r>
              <a:rPr lang="en-US" sz="850" dirty="0">
                <a:solidFill>
                  <a:srgbClr val="5A6472"/>
                </a:solidFill>
              </a:rPr>
              <a:t>Net Debt</a:t>
            </a:r>
            <a:endParaRPr lang="en-US" sz="850" dirty="0"/>
          </a:p>
        </p:txBody>
      </p:sp>
      <p:sp>
        <p:nvSpPr>
          <p:cNvPr id="59" name="Text 57"/>
          <p:cNvSpPr/>
          <p:nvPr/>
        </p:nvSpPr>
        <p:spPr>
          <a:xfrm>
            <a:off x="4846320" y="2633472"/>
            <a:ext cx="896112" cy="201168"/>
          </a:xfrm>
          <a:prstGeom prst="rect">
            <a:avLst/>
          </a:prstGeom>
          <a:noFill/>
          <a:ln/>
        </p:spPr>
        <p:txBody>
          <a:bodyPr wrap="square" lIns="0" tIns="0" rIns="0" bIns="0" rtlCol="0" anchor="ctr"/>
          <a:lstStyle/>
          <a:p>
            <a:pPr algn="r" indent="0" marL="0">
              <a:buNone/>
            </a:pPr>
            <a:r>
              <a:rPr lang="en-US" sz="900" b="1" dirty="0">
                <a:solidFill>
                  <a:srgbClr val="1D3557"/>
                </a:solidFill>
              </a:rPr>
              <a:t>$2.15B (FY2025)</a:t>
            </a:r>
            <a:endParaRPr lang="en-US" sz="900" dirty="0"/>
          </a:p>
        </p:txBody>
      </p:sp>
      <p:sp>
        <p:nvSpPr>
          <p:cNvPr id="60" name="Text 58"/>
          <p:cNvSpPr/>
          <p:nvPr/>
        </p:nvSpPr>
        <p:spPr>
          <a:xfrm>
            <a:off x="3383280" y="2907792"/>
            <a:ext cx="1554480" cy="201168"/>
          </a:xfrm>
          <a:prstGeom prst="rect">
            <a:avLst/>
          </a:prstGeom>
          <a:noFill/>
          <a:ln/>
        </p:spPr>
        <p:txBody>
          <a:bodyPr wrap="square" lIns="0" tIns="0" rIns="0" bIns="0" rtlCol="0" anchor="ctr"/>
          <a:lstStyle/>
          <a:p>
            <a:pPr indent="0" marL="0">
              <a:buNone/>
            </a:pPr>
            <a:r>
              <a:rPr lang="en-US" sz="850" dirty="0">
                <a:solidFill>
                  <a:srgbClr val="5A6472"/>
                </a:solidFill>
              </a:rPr>
              <a:t>Shares (diluted)</a:t>
            </a:r>
            <a:endParaRPr lang="en-US" sz="850" dirty="0"/>
          </a:p>
        </p:txBody>
      </p:sp>
      <p:sp>
        <p:nvSpPr>
          <p:cNvPr id="61" name="Text 59"/>
          <p:cNvSpPr/>
          <p:nvPr/>
        </p:nvSpPr>
        <p:spPr>
          <a:xfrm>
            <a:off x="4846320" y="2907792"/>
            <a:ext cx="896112" cy="201168"/>
          </a:xfrm>
          <a:prstGeom prst="rect">
            <a:avLst/>
          </a:prstGeom>
          <a:noFill/>
          <a:ln/>
        </p:spPr>
        <p:txBody>
          <a:bodyPr wrap="square" lIns="0" tIns="0" rIns="0" bIns="0" rtlCol="0" anchor="ctr"/>
          <a:lstStyle/>
          <a:p>
            <a:pPr algn="r" indent="0" marL="0">
              <a:buNone/>
            </a:pPr>
            <a:r>
              <a:rPr lang="en-US" sz="900" b="1" dirty="0">
                <a:solidFill>
                  <a:srgbClr val="1D3557"/>
                </a:solidFill>
              </a:rPr>
              <a:t>277M</a:t>
            </a:r>
            <a:endParaRPr lang="en-US" sz="900" dirty="0"/>
          </a:p>
        </p:txBody>
      </p:sp>
      <p:sp>
        <p:nvSpPr>
          <p:cNvPr id="62" name="Shape 60"/>
          <p:cNvSpPr/>
          <p:nvPr/>
        </p:nvSpPr>
        <p:spPr>
          <a:xfrm>
            <a:off x="3273552" y="3200400"/>
            <a:ext cx="2560320" cy="914400"/>
          </a:xfrm>
          <a:prstGeom prst="rect">
            <a:avLst/>
          </a:prstGeom>
          <a:solidFill>
            <a:srgbClr val="EBF0F5"/>
          </a:solidFill>
          <a:ln w="6350">
            <a:solidFill>
              <a:srgbClr val="457B9D"/>
            </a:solidFill>
            <a:prstDash val="solid"/>
          </a:ln>
        </p:spPr>
      </p:sp>
      <p:sp>
        <p:nvSpPr>
          <p:cNvPr id="63" name="Text 61"/>
          <p:cNvSpPr/>
          <p:nvPr/>
        </p:nvSpPr>
        <p:spPr>
          <a:xfrm>
            <a:off x="3383280" y="3273552"/>
            <a:ext cx="2340864" cy="164592"/>
          </a:xfrm>
          <a:prstGeom prst="rect">
            <a:avLst/>
          </a:prstGeom>
          <a:noFill/>
          <a:ln/>
        </p:spPr>
        <p:txBody>
          <a:bodyPr wrap="square" lIns="0" tIns="0" rIns="0" bIns="0" rtlCol="0" anchor="ctr"/>
          <a:lstStyle/>
          <a:p>
            <a:pPr indent="0" marL="0">
              <a:buNone/>
            </a:pPr>
            <a:r>
              <a:rPr lang="en-US" sz="800" b="1" spc="100" kern="0" dirty="0">
                <a:solidFill>
                  <a:srgbClr val="1D3557"/>
                </a:solidFill>
              </a:rPr>
              <a:t>WHY THE PREMIUM IS RATIONAL</a:t>
            </a:r>
            <a:endParaRPr lang="en-US" sz="800" dirty="0"/>
          </a:p>
        </p:txBody>
      </p:sp>
      <p:sp>
        <p:nvSpPr>
          <p:cNvPr id="64" name="Text 62"/>
          <p:cNvSpPr/>
          <p:nvPr/>
        </p:nvSpPr>
        <p:spPr>
          <a:xfrm>
            <a:off x="3383280" y="3456432"/>
            <a:ext cx="2340864" cy="594360"/>
          </a:xfrm>
          <a:prstGeom prst="rect">
            <a:avLst/>
          </a:prstGeom>
          <a:noFill/>
          <a:ln/>
        </p:spPr>
        <p:txBody>
          <a:bodyPr wrap="square" lIns="0" tIns="0" rIns="0" bIns="0" rtlCol="0" anchor="ctr"/>
          <a:lstStyle/>
          <a:p>
            <a:pPr indent="0" marL="0">
              <a:buNone/>
            </a:pPr>
            <a:r>
              <a:rPr lang="en-US" sz="850" dirty="0">
                <a:solidFill>
                  <a:srgbClr val="5A6472"/>
                </a:solidFill>
              </a:rPr>
              <a:t>DOL's 29x EV/EBITDA vs peers 7x reflects:</a:t>
            </a:r>
            <a:endParaRPr lang="en-US" sz="850" dirty="0"/>
          </a:p>
          <a:p>
            <a:pPr indent="0" marL="0">
              <a:buNone/>
            </a:pPr>
            <a:r>
              <a:rPr lang="en-US" sz="850" dirty="0">
                <a:solidFill>
                  <a:srgbClr val="5A6472"/>
                </a:solidFill>
              </a:rPr>
              <a:t>3x the EBITDA margin  |  2x the ROIC</a:t>
            </a:r>
            <a:endParaRPr lang="en-US" sz="850" dirty="0"/>
          </a:p>
          <a:p>
            <a:pPr indent="0" marL="0">
              <a:buNone/>
            </a:pPr>
            <a:r>
              <a:rPr lang="en-US" sz="850" dirty="0">
                <a:solidFill>
                  <a:srgbClr val="5A6472"/>
                </a:solidFill>
              </a:rPr>
              <a:t>3x the revenue growth  |  Superior reinvestment economics</a:t>
            </a:r>
            <a:endParaRPr lang="en-US" sz="850" dirty="0"/>
          </a:p>
          <a:p>
            <a:pPr indent="0" marL="0">
              <a:buNone/>
            </a:pPr>
            <a:r>
              <a:rPr lang="en-US" sz="850" dirty="0">
                <a:solidFill>
                  <a:srgbClr val="5A6472"/>
                </a:solidFill>
              </a:rPr>
              <a:t>This is quality pricing, not multiple speculation.</a:t>
            </a:r>
            <a:endParaRPr lang="en-US" sz="850" dirty="0"/>
          </a:p>
        </p:txBody>
      </p:sp>
      <p:sp>
        <p:nvSpPr>
          <p:cNvPr id="65" name="Shape 63"/>
          <p:cNvSpPr/>
          <p:nvPr/>
        </p:nvSpPr>
        <p:spPr>
          <a:xfrm>
            <a:off x="6016752" y="932688"/>
            <a:ext cx="2907792" cy="2267712"/>
          </a:xfrm>
          <a:prstGeom prst="rect">
            <a:avLst/>
          </a:prstGeom>
          <a:solidFill>
            <a:srgbClr val="FFFFFF"/>
          </a:solidFill>
          <a:ln w="6350">
            <a:solidFill>
              <a:srgbClr val="E0E0E0"/>
            </a:solidFill>
            <a:prstDash val="solid"/>
          </a:ln>
          <a:effectLst>
            <a:outerShdw sx="100000" sy="100000" kx="0" ky="0" algn="bl" rotWithShape="0" blurRad="88900" dist="25400" dir="8100000">
              <a:srgbClr val="000000">
                <a:alpha val="10000"/>
              </a:srgbClr>
            </a:outerShdw>
          </a:effectLst>
        </p:spPr>
      </p:sp>
      <p:sp>
        <p:nvSpPr>
          <p:cNvPr id="66" name="Shape 64"/>
          <p:cNvSpPr/>
          <p:nvPr/>
        </p:nvSpPr>
        <p:spPr>
          <a:xfrm>
            <a:off x="6016752" y="932688"/>
            <a:ext cx="2907792" cy="50292"/>
          </a:xfrm>
          <a:prstGeom prst="rect">
            <a:avLst/>
          </a:prstGeom>
          <a:solidFill>
            <a:srgbClr val="2A9D8F"/>
          </a:solidFill>
          <a:ln w="12700">
            <a:solidFill>
              <a:srgbClr val="2A9D8F"/>
            </a:solidFill>
            <a:prstDash val="solid"/>
          </a:ln>
        </p:spPr>
      </p:sp>
      <p:sp>
        <p:nvSpPr>
          <p:cNvPr id="67" name="Text 65"/>
          <p:cNvSpPr/>
          <p:nvPr/>
        </p:nvSpPr>
        <p:spPr>
          <a:xfrm>
            <a:off x="6126480" y="1005840"/>
            <a:ext cx="2688336" cy="182880"/>
          </a:xfrm>
          <a:prstGeom prst="rect">
            <a:avLst/>
          </a:prstGeom>
          <a:noFill/>
          <a:ln/>
        </p:spPr>
        <p:txBody>
          <a:bodyPr wrap="square" lIns="0" tIns="0" rIns="0" bIns="0" rtlCol="0" anchor="ctr"/>
          <a:lstStyle/>
          <a:p>
            <a:pPr indent="0" marL="0">
              <a:buNone/>
            </a:pPr>
            <a:r>
              <a:rPr lang="en-US" sz="800" b="1" spc="100" kern="0" dirty="0">
                <a:solidFill>
                  <a:srgbClr val="5A6472"/>
                </a:solidFill>
              </a:rPr>
              <a:t>SENSITIVITY — DCF Price (CAD) | WACC x TGR</a:t>
            </a:r>
            <a:endParaRPr lang="en-US" sz="800" dirty="0"/>
          </a:p>
        </p:txBody>
      </p:sp>
      <p:sp>
        <p:nvSpPr>
          <p:cNvPr id="68" name="Shape 66"/>
          <p:cNvSpPr/>
          <p:nvPr/>
        </p:nvSpPr>
        <p:spPr>
          <a:xfrm>
            <a:off x="6016752" y="1243584"/>
            <a:ext cx="726948" cy="219456"/>
          </a:xfrm>
          <a:prstGeom prst="rect">
            <a:avLst/>
          </a:prstGeom>
          <a:solidFill>
            <a:srgbClr val="1D3557"/>
          </a:solidFill>
          <a:ln w="12700">
            <a:solidFill>
              <a:srgbClr val="1D3557"/>
            </a:solidFill>
            <a:prstDash val="solid"/>
          </a:ln>
        </p:spPr>
      </p:sp>
      <p:sp>
        <p:nvSpPr>
          <p:cNvPr id="69" name="Text 67"/>
          <p:cNvSpPr/>
          <p:nvPr/>
        </p:nvSpPr>
        <p:spPr>
          <a:xfrm>
            <a:off x="6016752" y="1243584"/>
            <a:ext cx="726948" cy="219456"/>
          </a:xfrm>
          <a:prstGeom prst="rect">
            <a:avLst/>
          </a:prstGeom>
          <a:noFill/>
          <a:ln/>
        </p:spPr>
        <p:txBody>
          <a:bodyPr wrap="square" lIns="0" tIns="0" rIns="0" bIns="0" rtlCol="0" anchor="ctr"/>
          <a:lstStyle/>
          <a:p>
            <a:pPr algn="ctr" indent="0" marL="0">
              <a:buNone/>
            </a:pPr>
            <a:r>
              <a:rPr lang="en-US" sz="800" b="1" dirty="0">
                <a:solidFill>
                  <a:srgbClr val="FFFFFF"/>
                </a:solidFill>
              </a:rPr>
              <a:t>WACC</a:t>
            </a:r>
            <a:endParaRPr lang="en-US" sz="800" dirty="0"/>
          </a:p>
        </p:txBody>
      </p:sp>
      <p:sp>
        <p:nvSpPr>
          <p:cNvPr id="70" name="Shape 68"/>
          <p:cNvSpPr/>
          <p:nvPr/>
        </p:nvSpPr>
        <p:spPr>
          <a:xfrm>
            <a:off x="6743700" y="1243584"/>
            <a:ext cx="726948" cy="219456"/>
          </a:xfrm>
          <a:prstGeom prst="rect">
            <a:avLst/>
          </a:prstGeom>
          <a:solidFill>
            <a:srgbClr val="1D3557"/>
          </a:solidFill>
          <a:ln w="12700">
            <a:solidFill>
              <a:srgbClr val="1D3557"/>
            </a:solidFill>
            <a:prstDash val="solid"/>
          </a:ln>
        </p:spPr>
      </p:sp>
      <p:sp>
        <p:nvSpPr>
          <p:cNvPr id="71" name="Text 69"/>
          <p:cNvSpPr/>
          <p:nvPr/>
        </p:nvSpPr>
        <p:spPr>
          <a:xfrm>
            <a:off x="6743700" y="1243584"/>
            <a:ext cx="726948" cy="219456"/>
          </a:xfrm>
          <a:prstGeom prst="rect">
            <a:avLst/>
          </a:prstGeom>
          <a:noFill/>
          <a:ln/>
        </p:spPr>
        <p:txBody>
          <a:bodyPr wrap="square" lIns="0" tIns="0" rIns="0" bIns="0" rtlCol="0" anchor="ctr"/>
          <a:lstStyle/>
          <a:p>
            <a:pPr algn="ctr" indent="0" marL="0">
              <a:buNone/>
            </a:pPr>
            <a:r>
              <a:rPr lang="en-US" sz="800" b="1" dirty="0">
                <a:solidFill>
                  <a:srgbClr val="FFFFFF"/>
                </a:solidFill>
              </a:rPr>
              <a:t>1.5%</a:t>
            </a:r>
            <a:endParaRPr lang="en-US" sz="800" dirty="0"/>
          </a:p>
        </p:txBody>
      </p:sp>
      <p:sp>
        <p:nvSpPr>
          <p:cNvPr id="72" name="Shape 70"/>
          <p:cNvSpPr/>
          <p:nvPr/>
        </p:nvSpPr>
        <p:spPr>
          <a:xfrm>
            <a:off x="7470648" y="1243584"/>
            <a:ext cx="726948" cy="219456"/>
          </a:xfrm>
          <a:prstGeom prst="rect">
            <a:avLst/>
          </a:prstGeom>
          <a:solidFill>
            <a:srgbClr val="1D3557"/>
          </a:solidFill>
          <a:ln w="12700">
            <a:solidFill>
              <a:srgbClr val="1D3557"/>
            </a:solidFill>
            <a:prstDash val="solid"/>
          </a:ln>
        </p:spPr>
      </p:sp>
      <p:sp>
        <p:nvSpPr>
          <p:cNvPr id="73" name="Text 71"/>
          <p:cNvSpPr/>
          <p:nvPr/>
        </p:nvSpPr>
        <p:spPr>
          <a:xfrm>
            <a:off x="7470648" y="1243584"/>
            <a:ext cx="726948" cy="219456"/>
          </a:xfrm>
          <a:prstGeom prst="rect">
            <a:avLst/>
          </a:prstGeom>
          <a:noFill/>
          <a:ln/>
        </p:spPr>
        <p:txBody>
          <a:bodyPr wrap="square" lIns="0" tIns="0" rIns="0" bIns="0" rtlCol="0" anchor="ctr"/>
          <a:lstStyle/>
          <a:p>
            <a:pPr algn="ctr" indent="0" marL="0">
              <a:buNone/>
            </a:pPr>
            <a:r>
              <a:rPr lang="en-US" sz="800" b="1" dirty="0">
                <a:solidFill>
                  <a:srgbClr val="FFFFFF"/>
                </a:solidFill>
              </a:rPr>
              <a:t>2.5%</a:t>
            </a:r>
            <a:endParaRPr lang="en-US" sz="800" dirty="0"/>
          </a:p>
        </p:txBody>
      </p:sp>
      <p:sp>
        <p:nvSpPr>
          <p:cNvPr id="74" name="Shape 72"/>
          <p:cNvSpPr/>
          <p:nvPr/>
        </p:nvSpPr>
        <p:spPr>
          <a:xfrm>
            <a:off x="8197596" y="1243584"/>
            <a:ext cx="726948" cy="219456"/>
          </a:xfrm>
          <a:prstGeom prst="rect">
            <a:avLst/>
          </a:prstGeom>
          <a:solidFill>
            <a:srgbClr val="1D3557"/>
          </a:solidFill>
          <a:ln w="12700">
            <a:solidFill>
              <a:srgbClr val="1D3557"/>
            </a:solidFill>
            <a:prstDash val="solid"/>
          </a:ln>
        </p:spPr>
      </p:sp>
      <p:sp>
        <p:nvSpPr>
          <p:cNvPr id="75" name="Text 73"/>
          <p:cNvSpPr/>
          <p:nvPr/>
        </p:nvSpPr>
        <p:spPr>
          <a:xfrm>
            <a:off x="8197596" y="1243584"/>
            <a:ext cx="726948" cy="219456"/>
          </a:xfrm>
          <a:prstGeom prst="rect">
            <a:avLst/>
          </a:prstGeom>
          <a:noFill/>
          <a:ln/>
        </p:spPr>
        <p:txBody>
          <a:bodyPr wrap="square" lIns="0" tIns="0" rIns="0" bIns="0" rtlCol="0" anchor="ctr"/>
          <a:lstStyle/>
          <a:p>
            <a:pPr algn="ctr" indent="0" marL="0">
              <a:buNone/>
            </a:pPr>
            <a:r>
              <a:rPr lang="en-US" sz="800" b="1" dirty="0">
                <a:solidFill>
                  <a:srgbClr val="FFFFFF"/>
                </a:solidFill>
              </a:rPr>
              <a:t>3.5%</a:t>
            </a:r>
            <a:endParaRPr lang="en-US" sz="800" dirty="0"/>
          </a:p>
        </p:txBody>
      </p:sp>
      <p:sp>
        <p:nvSpPr>
          <p:cNvPr id="76" name="Shape 74"/>
          <p:cNvSpPr/>
          <p:nvPr/>
        </p:nvSpPr>
        <p:spPr>
          <a:xfrm>
            <a:off x="6016752" y="1517904"/>
            <a:ext cx="726948" cy="274320"/>
          </a:xfrm>
          <a:prstGeom prst="rect">
            <a:avLst/>
          </a:prstGeom>
          <a:solidFill>
            <a:srgbClr val="F5F8FA"/>
          </a:solidFill>
          <a:ln w="3810">
            <a:solidFill>
              <a:srgbClr val="EEEEEE"/>
            </a:solidFill>
            <a:prstDash val="solid"/>
          </a:ln>
        </p:spPr>
      </p:sp>
      <p:sp>
        <p:nvSpPr>
          <p:cNvPr id="77" name="Text 75"/>
          <p:cNvSpPr/>
          <p:nvPr/>
        </p:nvSpPr>
        <p:spPr>
          <a:xfrm>
            <a:off x="6016752" y="1563624"/>
            <a:ext cx="726948" cy="182880"/>
          </a:xfrm>
          <a:prstGeom prst="rect">
            <a:avLst/>
          </a:prstGeom>
          <a:noFill/>
          <a:ln/>
        </p:spPr>
        <p:txBody>
          <a:bodyPr wrap="square" lIns="0" tIns="0" rIns="0" bIns="0" rtlCol="0" anchor="ctr"/>
          <a:lstStyle/>
          <a:p>
            <a:pPr algn="ctr" indent="0" marL="0">
              <a:buNone/>
            </a:pPr>
            <a:r>
              <a:rPr lang="en-US" sz="850" dirty="0">
                <a:solidFill>
                  <a:srgbClr val="5A6472"/>
                </a:solidFill>
              </a:rPr>
              <a:t>7.0%</a:t>
            </a:r>
            <a:endParaRPr lang="en-US" sz="850" dirty="0"/>
          </a:p>
        </p:txBody>
      </p:sp>
      <p:sp>
        <p:nvSpPr>
          <p:cNvPr id="78" name="Shape 76"/>
          <p:cNvSpPr/>
          <p:nvPr/>
        </p:nvSpPr>
        <p:spPr>
          <a:xfrm>
            <a:off x="6743700" y="1517904"/>
            <a:ext cx="726948" cy="274320"/>
          </a:xfrm>
          <a:prstGeom prst="rect">
            <a:avLst/>
          </a:prstGeom>
          <a:solidFill>
            <a:srgbClr val="F5F8FA"/>
          </a:solidFill>
          <a:ln w="3810">
            <a:solidFill>
              <a:srgbClr val="EEEEEE"/>
            </a:solidFill>
            <a:prstDash val="solid"/>
          </a:ln>
        </p:spPr>
      </p:sp>
      <p:sp>
        <p:nvSpPr>
          <p:cNvPr id="79" name="Text 77"/>
          <p:cNvSpPr/>
          <p:nvPr/>
        </p:nvSpPr>
        <p:spPr>
          <a:xfrm>
            <a:off x="6743700" y="1563624"/>
            <a:ext cx="726948" cy="182880"/>
          </a:xfrm>
          <a:prstGeom prst="rect">
            <a:avLst/>
          </a:prstGeom>
          <a:noFill/>
          <a:ln/>
        </p:spPr>
        <p:txBody>
          <a:bodyPr wrap="square" lIns="0" tIns="0" rIns="0" bIns="0" rtlCol="0" anchor="ctr"/>
          <a:lstStyle/>
          <a:p>
            <a:pPr algn="ctr" indent="0" marL="0">
              <a:buNone/>
            </a:pPr>
            <a:r>
              <a:rPr lang="en-US" sz="850" dirty="0">
                <a:solidFill>
                  <a:srgbClr val="5A6472"/>
                </a:solidFill>
              </a:rPr>
              <a:t>$241</a:t>
            </a:r>
            <a:endParaRPr lang="en-US" sz="850" dirty="0"/>
          </a:p>
        </p:txBody>
      </p:sp>
      <p:sp>
        <p:nvSpPr>
          <p:cNvPr id="80" name="Shape 78"/>
          <p:cNvSpPr/>
          <p:nvPr/>
        </p:nvSpPr>
        <p:spPr>
          <a:xfrm>
            <a:off x="7470648" y="1517904"/>
            <a:ext cx="726948" cy="274320"/>
          </a:xfrm>
          <a:prstGeom prst="rect">
            <a:avLst/>
          </a:prstGeom>
          <a:solidFill>
            <a:srgbClr val="F5F8FA"/>
          </a:solidFill>
          <a:ln w="3810">
            <a:solidFill>
              <a:srgbClr val="EEEEEE"/>
            </a:solidFill>
            <a:prstDash val="solid"/>
          </a:ln>
        </p:spPr>
      </p:sp>
      <p:sp>
        <p:nvSpPr>
          <p:cNvPr id="81" name="Text 79"/>
          <p:cNvSpPr/>
          <p:nvPr/>
        </p:nvSpPr>
        <p:spPr>
          <a:xfrm>
            <a:off x="7470648" y="1563624"/>
            <a:ext cx="726948" cy="182880"/>
          </a:xfrm>
          <a:prstGeom prst="rect">
            <a:avLst/>
          </a:prstGeom>
          <a:noFill/>
          <a:ln/>
        </p:spPr>
        <p:txBody>
          <a:bodyPr wrap="square" lIns="0" tIns="0" rIns="0" bIns="0" rtlCol="0" anchor="ctr"/>
          <a:lstStyle/>
          <a:p>
            <a:pPr algn="ctr" indent="0" marL="0">
              <a:buNone/>
            </a:pPr>
            <a:r>
              <a:rPr lang="en-US" sz="850" dirty="0">
                <a:solidFill>
                  <a:srgbClr val="5A6472"/>
                </a:solidFill>
              </a:rPr>
              <a:t>$212</a:t>
            </a:r>
            <a:endParaRPr lang="en-US" sz="850" dirty="0"/>
          </a:p>
        </p:txBody>
      </p:sp>
      <p:sp>
        <p:nvSpPr>
          <p:cNvPr id="82" name="Shape 80"/>
          <p:cNvSpPr/>
          <p:nvPr/>
        </p:nvSpPr>
        <p:spPr>
          <a:xfrm>
            <a:off x="8197596" y="1517904"/>
            <a:ext cx="726948" cy="274320"/>
          </a:xfrm>
          <a:prstGeom prst="rect">
            <a:avLst/>
          </a:prstGeom>
          <a:solidFill>
            <a:srgbClr val="F5F8FA"/>
          </a:solidFill>
          <a:ln w="3810">
            <a:solidFill>
              <a:srgbClr val="EEEEEE"/>
            </a:solidFill>
            <a:prstDash val="solid"/>
          </a:ln>
        </p:spPr>
      </p:sp>
      <p:sp>
        <p:nvSpPr>
          <p:cNvPr id="83" name="Text 81"/>
          <p:cNvSpPr/>
          <p:nvPr/>
        </p:nvSpPr>
        <p:spPr>
          <a:xfrm>
            <a:off x="8197596" y="1563624"/>
            <a:ext cx="726948" cy="182880"/>
          </a:xfrm>
          <a:prstGeom prst="rect">
            <a:avLst/>
          </a:prstGeom>
          <a:noFill/>
          <a:ln/>
        </p:spPr>
        <p:txBody>
          <a:bodyPr wrap="square" lIns="0" tIns="0" rIns="0" bIns="0" rtlCol="0" anchor="ctr"/>
          <a:lstStyle/>
          <a:p>
            <a:pPr algn="ctr" indent="0" marL="0">
              <a:buNone/>
            </a:pPr>
            <a:r>
              <a:rPr lang="en-US" sz="850" dirty="0">
                <a:solidFill>
                  <a:srgbClr val="5A6472"/>
                </a:solidFill>
              </a:rPr>
              <a:t>$188</a:t>
            </a:r>
            <a:endParaRPr lang="en-US" sz="850" dirty="0"/>
          </a:p>
        </p:txBody>
      </p:sp>
      <p:sp>
        <p:nvSpPr>
          <p:cNvPr id="84" name="Shape 82"/>
          <p:cNvSpPr/>
          <p:nvPr/>
        </p:nvSpPr>
        <p:spPr>
          <a:xfrm>
            <a:off x="6016752" y="1837944"/>
            <a:ext cx="726948" cy="274320"/>
          </a:xfrm>
          <a:prstGeom prst="rect">
            <a:avLst/>
          </a:prstGeom>
          <a:solidFill>
            <a:srgbClr val="FFF0F0"/>
          </a:solidFill>
          <a:ln w="3810">
            <a:solidFill>
              <a:srgbClr val="EEEEEE"/>
            </a:solidFill>
            <a:prstDash val="solid"/>
          </a:ln>
        </p:spPr>
      </p:sp>
      <p:sp>
        <p:nvSpPr>
          <p:cNvPr id="85" name="Text 83"/>
          <p:cNvSpPr/>
          <p:nvPr/>
        </p:nvSpPr>
        <p:spPr>
          <a:xfrm>
            <a:off x="6016752" y="1883664"/>
            <a:ext cx="726948" cy="182880"/>
          </a:xfrm>
          <a:prstGeom prst="rect">
            <a:avLst/>
          </a:prstGeom>
          <a:noFill/>
          <a:ln/>
        </p:spPr>
        <p:txBody>
          <a:bodyPr wrap="square" lIns="0" tIns="0" rIns="0" bIns="0" rtlCol="0" anchor="ctr"/>
          <a:lstStyle/>
          <a:p>
            <a:pPr algn="ctr" indent="0" marL="0">
              <a:buNone/>
            </a:pPr>
            <a:r>
              <a:rPr lang="en-US" sz="950" b="1" dirty="0">
                <a:solidFill>
                  <a:srgbClr val="1D3557"/>
                </a:solidFill>
              </a:rPr>
              <a:t>9.0% &lt;&lt;</a:t>
            </a:r>
            <a:endParaRPr lang="en-US" sz="950" dirty="0"/>
          </a:p>
        </p:txBody>
      </p:sp>
      <p:sp>
        <p:nvSpPr>
          <p:cNvPr id="86" name="Shape 84"/>
          <p:cNvSpPr/>
          <p:nvPr/>
        </p:nvSpPr>
        <p:spPr>
          <a:xfrm>
            <a:off x="6743700" y="1837944"/>
            <a:ext cx="726948" cy="274320"/>
          </a:xfrm>
          <a:prstGeom prst="rect">
            <a:avLst/>
          </a:prstGeom>
          <a:solidFill>
            <a:srgbClr val="FFF0F0"/>
          </a:solidFill>
          <a:ln w="3810">
            <a:solidFill>
              <a:srgbClr val="EEEEEE"/>
            </a:solidFill>
            <a:prstDash val="solid"/>
          </a:ln>
        </p:spPr>
      </p:sp>
      <p:sp>
        <p:nvSpPr>
          <p:cNvPr id="87" name="Text 85"/>
          <p:cNvSpPr/>
          <p:nvPr/>
        </p:nvSpPr>
        <p:spPr>
          <a:xfrm>
            <a:off x="6743700" y="1883664"/>
            <a:ext cx="726948" cy="182880"/>
          </a:xfrm>
          <a:prstGeom prst="rect">
            <a:avLst/>
          </a:prstGeom>
          <a:noFill/>
          <a:ln/>
        </p:spPr>
        <p:txBody>
          <a:bodyPr wrap="square" lIns="0" tIns="0" rIns="0" bIns="0" rtlCol="0" anchor="ctr"/>
          <a:lstStyle/>
          <a:p>
            <a:pPr algn="ctr" indent="0" marL="0">
              <a:buNone/>
            </a:pPr>
            <a:r>
              <a:rPr lang="en-US" sz="950" b="1" dirty="0">
                <a:solidFill>
                  <a:srgbClr val="1D3557"/>
                </a:solidFill>
              </a:rPr>
              <a:t>$198</a:t>
            </a:r>
            <a:endParaRPr lang="en-US" sz="950" dirty="0"/>
          </a:p>
        </p:txBody>
      </p:sp>
      <p:sp>
        <p:nvSpPr>
          <p:cNvPr id="88" name="Shape 86"/>
          <p:cNvSpPr/>
          <p:nvPr/>
        </p:nvSpPr>
        <p:spPr>
          <a:xfrm>
            <a:off x="7470648" y="1837944"/>
            <a:ext cx="726948" cy="274320"/>
          </a:xfrm>
          <a:prstGeom prst="rect">
            <a:avLst/>
          </a:prstGeom>
          <a:solidFill>
            <a:srgbClr val="E63946"/>
          </a:solidFill>
          <a:ln w="3810">
            <a:solidFill>
              <a:srgbClr val="EEEEEE"/>
            </a:solidFill>
            <a:prstDash val="solid"/>
          </a:ln>
        </p:spPr>
      </p:sp>
      <p:sp>
        <p:nvSpPr>
          <p:cNvPr id="89" name="Text 87"/>
          <p:cNvSpPr/>
          <p:nvPr/>
        </p:nvSpPr>
        <p:spPr>
          <a:xfrm>
            <a:off x="7470648" y="1883664"/>
            <a:ext cx="726948" cy="182880"/>
          </a:xfrm>
          <a:prstGeom prst="rect">
            <a:avLst/>
          </a:prstGeom>
          <a:noFill/>
          <a:ln/>
        </p:spPr>
        <p:txBody>
          <a:bodyPr wrap="square" lIns="0" tIns="0" rIns="0" bIns="0" rtlCol="0" anchor="ctr"/>
          <a:lstStyle/>
          <a:p>
            <a:pPr algn="ctr" indent="0" marL="0">
              <a:buNone/>
            </a:pPr>
            <a:r>
              <a:rPr lang="en-US" sz="950" b="1" dirty="0">
                <a:solidFill>
                  <a:srgbClr val="FFFFFF"/>
                </a:solidFill>
              </a:rPr>
              <a:t>$173</a:t>
            </a:r>
            <a:endParaRPr lang="en-US" sz="950" dirty="0"/>
          </a:p>
        </p:txBody>
      </p:sp>
      <p:sp>
        <p:nvSpPr>
          <p:cNvPr id="90" name="Shape 88"/>
          <p:cNvSpPr/>
          <p:nvPr/>
        </p:nvSpPr>
        <p:spPr>
          <a:xfrm>
            <a:off x="8197596" y="1837944"/>
            <a:ext cx="726948" cy="274320"/>
          </a:xfrm>
          <a:prstGeom prst="rect">
            <a:avLst/>
          </a:prstGeom>
          <a:solidFill>
            <a:srgbClr val="FFF0F0"/>
          </a:solidFill>
          <a:ln w="3810">
            <a:solidFill>
              <a:srgbClr val="EEEEEE"/>
            </a:solidFill>
            <a:prstDash val="solid"/>
          </a:ln>
        </p:spPr>
      </p:sp>
      <p:sp>
        <p:nvSpPr>
          <p:cNvPr id="91" name="Text 89"/>
          <p:cNvSpPr/>
          <p:nvPr/>
        </p:nvSpPr>
        <p:spPr>
          <a:xfrm>
            <a:off x="8197596" y="1883664"/>
            <a:ext cx="726948" cy="182880"/>
          </a:xfrm>
          <a:prstGeom prst="rect">
            <a:avLst/>
          </a:prstGeom>
          <a:noFill/>
          <a:ln/>
        </p:spPr>
        <p:txBody>
          <a:bodyPr wrap="square" lIns="0" tIns="0" rIns="0" bIns="0" rtlCol="0" anchor="ctr"/>
          <a:lstStyle/>
          <a:p>
            <a:pPr algn="ctr" indent="0" marL="0">
              <a:buNone/>
            </a:pPr>
            <a:r>
              <a:rPr lang="en-US" sz="950" b="1" dirty="0">
                <a:solidFill>
                  <a:srgbClr val="1D3557"/>
                </a:solidFill>
              </a:rPr>
              <a:t>$153</a:t>
            </a:r>
            <a:endParaRPr lang="en-US" sz="950" dirty="0"/>
          </a:p>
        </p:txBody>
      </p:sp>
      <p:sp>
        <p:nvSpPr>
          <p:cNvPr id="92" name="Shape 90"/>
          <p:cNvSpPr/>
          <p:nvPr/>
        </p:nvSpPr>
        <p:spPr>
          <a:xfrm>
            <a:off x="6016752" y="2157984"/>
            <a:ext cx="726948" cy="274320"/>
          </a:xfrm>
          <a:prstGeom prst="rect">
            <a:avLst/>
          </a:prstGeom>
          <a:solidFill>
            <a:srgbClr val="F5F8FA"/>
          </a:solidFill>
          <a:ln w="3810">
            <a:solidFill>
              <a:srgbClr val="EEEEEE"/>
            </a:solidFill>
            <a:prstDash val="solid"/>
          </a:ln>
        </p:spPr>
      </p:sp>
      <p:sp>
        <p:nvSpPr>
          <p:cNvPr id="93" name="Text 91"/>
          <p:cNvSpPr/>
          <p:nvPr/>
        </p:nvSpPr>
        <p:spPr>
          <a:xfrm>
            <a:off x="6016752" y="2203704"/>
            <a:ext cx="726948" cy="182880"/>
          </a:xfrm>
          <a:prstGeom prst="rect">
            <a:avLst/>
          </a:prstGeom>
          <a:noFill/>
          <a:ln/>
        </p:spPr>
        <p:txBody>
          <a:bodyPr wrap="square" lIns="0" tIns="0" rIns="0" bIns="0" rtlCol="0" anchor="ctr"/>
          <a:lstStyle/>
          <a:p>
            <a:pPr algn="ctr" indent="0" marL="0">
              <a:buNone/>
            </a:pPr>
            <a:r>
              <a:rPr lang="en-US" sz="850" dirty="0">
                <a:solidFill>
                  <a:srgbClr val="5A6472"/>
                </a:solidFill>
              </a:rPr>
              <a:t>11.0%</a:t>
            </a:r>
            <a:endParaRPr lang="en-US" sz="850" dirty="0"/>
          </a:p>
        </p:txBody>
      </p:sp>
      <p:sp>
        <p:nvSpPr>
          <p:cNvPr id="94" name="Shape 92"/>
          <p:cNvSpPr/>
          <p:nvPr/>
        </p:nvSpPr>
        <p:spPr>
          <a:xfrm>
            <a:off x="6743700" y="2157984"/>
            <a:ext cx="726948" cy="274320"/>
          </a:xfrm>
          <a:prstGeom prst="rect">
            <a:avLst/>
          </a:prstGeom>
          <a:solidFill>
            <a:srgbClr val="F5F8FA"/>
          </a:solidFill>
          <a:ln w="3810">
            <a:solidFill>
              <a:srgbClr val="EEEEEE"/>
            </a:solidFill>
            <a:prstDash val="solid"/>
          </a:ln>
        </p:spPr>
      </p:sp>
      <p:sp>
        <p:nvSpPr>
          <p:cNvPr id="95" name="Text 93"/>
          <p:cNvSpPr/>
          <p:nvPr/>
        </p:nvSpPr>
        <p:spPr>
          <a:xfrm>
            <a:off x="6743700" y="2203704"/>
            <a:ext cx="726948" cy="182880"/>
          </a:xfrm>
          <a:prstGeom prst="rect">
            <a:avLst/>
          </a:prstGeom>
          <a:noFill/>
          <a:ln/>
        </p:spPr>
        <p:txBody>
          <a:bodyPr wrap="square" lIns="0" tIns="0" rIns="0" bIns="0" rtlCol="0" anchor="ctr"/>
          <a:lstStyle/>
          <a:p>
            <a:pPr algn="ctr" indent="0" marL="0">
              <a:buNone/>
            </a:pPr>
            <a:r>
              <a:rPr lang="en-US" sz="850" dirty="0">
                <a:solidFill>
                  <a:srgbClr val="5A6472"/>
                </a:solidFill>
              </a:rPr>
              <a:t>$161</a:t>
            </a:r>
            <a:endParaRPr lang="en-US" sz="850" dirty="0"/>
          </a:p>
        </p:txBody>
      </p:sp>
      <p:sp>
        <p:nvSpPr>
          <p:cNvPr id="96" name="Shape 94"/>
          <p:cNvSpPr/>
          <p:nvPr/>
        </p:nvSpPr>
        <p:spPr>
          <a:xfrm>
            <a:off x="7470648" y="2157984"/>
            <a:ext cx="726948" cy="274320"/>
          </a:xfrm>
          <a:prstGeom prst="rect">
            <a:avLst/>
          </a:prstGeom>
          <a:solidFill>
            <a:srgbClr val="F5F8FA"/>
          </a:solidFill>
          <a:ln w="3810">
            <a:solidFill>
              <a:srgbClr val="EEEEEE"/>
            </a:solidFill>
            <a:prstDash val="solid"/>
          </a:ln>
        </p:spPr>
      </p:sp>
      <p:sp>
        <p:nvSpPr>
          <p:cNvPr id="97" name="Text 95"/>
          <p:cNvSpPr/>
          <p:nvPr/>
        </p:nvSpPr>
        <p:spPr>
          <a:xfrm>
            <a:off x="7470648" y="2203704"/>
            <a:ext cx="726948" cy="182880"/>
          </a:xfrm>
          <a:prstGeom prst="rect">
            <a:avLst/>
          </a:prstGeom>
          <a:noFill/>
          <a:ln/>
        </p:spPr>
        <p:txBody>
          <a:bodyPr wrap="square" lIns="0" tIns="0" rIns="0" bIns="0" rtlCol="0" anchor="ctr"/>
          <a:lstStyle/>
          <a:p>
            <a:pPr algn="ctr" indent="0" marL="0">
              <a:buNone/>
            </a:pPr>
            <a:r>
              <a:rPr lang="en-US" sz="850" dirty="0">
                <a:solidFill>
                  <a:srgbClr val="5A6472"/>
                </a:solidFill>
              </a:rPr>
              <a:t>$148</a:t>
            </a:r>
            <a:endParaRPr lang="en-US" sz="850" dirty="0"/>
          </a:p>
        </p:txBody>
      </p:sp>
      <p:sp>
        <p:nvSpPr>
          <p:cNvPr id="98" name="Shape 96"/>
          <p:cNvSpPr/>
          <p:nvPr/>
        </p:nvSpPr>
        <p:spPr>
          <a:xfrm>
            <a:off x="8197596" y="2157984"/>
            <a:ext cx="726948" cy="274320"/>
          </a:xfrm>
          <a:prstGeom prst="rect">
            <a:avLst/>
          </a:prstGeom>
          <a:solidFill>
            <a:srgbClr val="F5F8FA"/>
          </a:solidFill>
          <a:ln w="3810">
            <a:solidFill>
              <a:srgbClr val="EEEEEE"/>
            </a:solidFill>
            <a:prstDash val="solid"/>
          </a:ln>
        </p:spPr>
      </p:sp>
      <p:sp>
        <p:nvSpPr>
          <p:cNvPr id="99" name="Text 97"/>
          <p:cNvSpPr/>
          <p:nvPr/>
        </p:nvSpPr>
        <p:spPr>
          <a:xfrm>
            <a:off x="8197596" y="2203704"/>
            <a:ext cx="726948" cy="182880"/>
          </a:xfrm>
          <a:prstGeom prst="rect">
            <a:avLst/>
          </a:prstGeom>
          <a:noFill/>
          <a:ln/>
        </p:spPr>
        <p:txBody>
          <a:bodyPr wrap="square" lIns="0" tIns="0" rIns="0" bIns="0" rtlCol="0" anchor="ctr"/>
          <a:lstStyle/>
          <a:p>
            <a:pPr algn="ctr" indent="0" marL="0">
              <a:buNone/>
            </a:pPr>
            <a:r>
              <a:rPr lang="en-US" sz="850" dirty="0">
                <a:solidFill>
                  <a:srgbClr val="5A6472"/>
                </a:solidFill>
              </a:rPr>
              <a:t>$137</a:t>
            </a:r>
            <a:endParaRPr lang="en-US" sz="850" dirty="0"/>
          </a:p>
        </p:txBody>
      </p:sp>
      <p:sp>
        <p:nvSpPr>
          <p:cNvPr id="100" name="Shape 98"/>
          <p:cNvSpPr/>
          <p:nvPr/>
        </p:nvSpPr>
        <p:spPr>
          <a:xfrm>
            <a:off x="6016752" y="3255264"/>
            <a:ext cx="2907792" cy="914400"/>
          </a:xfrm>
          <a:prstGeom prst="rect">
            <a:avLst/>
          </a:prstGeom>
          <a:solidFill>
            <a:srgbClr val="FFF0F0"/>
          </a:solidFill>
          <a:ln w="6350">
            <a:solidFill>
              <a:srgbClr val="E63946"/>
            </a:solidFill>
            <a:prstDash val="solid"/>
          </a:ln>
        </p:spPr>
      </p:sp>
      <p:sp>
        <p:nvSpPr>
          <p:cNvPr id="101" name="Shape 99"/>
          <p:cNvSpPr/>
          <p:nvPr/>
        </p:nvSpPr>
        <p:spPr>
          <a:xfrm>
            <a:off x="6016752" y="3255264"/>
            <a:ext cx="54864" cy="914400"/>
          </a:xfrm>
          <a:prstGeom prst="rect">
            <a:avLst/>
          </a:prstGeom>
          <a:solidFill>
            <a:srgbClr val="E63946"/>
          </a:solidFill>
          <a:ln w="12700">
            <a:solidFill>
              <a:srgbClr val="E63946"/>
            </a:solidFill>
            <a:prstDash val="solid"/>
          </a:ln>
        </p:spPr>
      </p:sp>
      <p:sp>
        <p:nvSpPr>
          <p:cNvPr id="102" name="Text 100"/>
          <p:cNvSpPr/>
          <p:nvPr/>
        </p:nvSpPr>
        <p:spPr>
          <a:xfrm>
            <a:off x="6144768" y="3319272"/>
            <a:ext cx="2688336" cy="164592"/>
          </a:xfrm>
          <a:prstGeom prst="rect">
            <a:avLst/>
          </a:prstGeom>
          <a:noFill/>
          <a:ln/>
        </p:spPr>
        <p:txBody>
          <a:bodyPr wrap="square" lIns="0" tIns="0" rIns="0" bIns="0" rtlCol="0" anchor="ctr"/>
          <a:lstStyle/>
          <a:p>
            <a:pPr indent="0" marL="0">
              <a:buNone/>
            </a:pPr>
            <a:r>
              <a:rPr lang="en-US" sz="850" b="1" dirty="0">
                <a:solidFill>
                  <a:srgbClr val="E63946"/>
                </a:solidFill>
              </a:rPr>
              <a:t>BEAR CASE FRAMING</a:t>
            </a:r>
            <a:endParaRPr lang="en-US" sz="850" dirty="0"/>
          </a:p>
        </p:txBody>
      </p:sp>
      <p:sp>
        <p:nvSpPr>
          <p:cNvPr id="103" name="Text 101"/>
          <p:cNvSpPr/>
          <p:nvPr/>
        </p:nvSpPr>
        <p:spPr>
          <a:xfrm>
            <a:off x="6144768" y="3493008"/>
            <a:ext cx="2688336" cy="621792"/>
          </a:xfrm>
          <a:prstGeom prst="rect">
            <a:avLst/>
          </a:prstGeom>
          <a:noFill/>
          <a:ln/>
        </p:spPr>
        <p:txBody>
          <a:bodyPr wrap="square" lIns="0" tIns="0" rIns="0" bIns="0" rtlCol="0" anchor="ctr"/>
          <a:lstStyle/>
          <a:p>
            <a:pPr indent="0" marL="0">
              <a:buNone/>
            </a:pPr>
            <a:r>
              <a:rPr lang="en-US" sz="800" dirty="0">
                <a:solidFill>
                  <a:srgbClr val="5A6472"/>
                </a:solidFill>
              </a:rPr>
              <a:t>At WACC 11% / TGR 1.5%, model implies ~$148.</a:t>
            </a:r>
            <a:endParaRPr lang="en-US" sz="800" dirty="0"/>
          </a:p>
          <a:p>
            <a:pPr indent="0" marL="0">
              <a:buNone/>
            </a:pPr>
            <a:r>
              <a:rPr lang="en-US" sz="800" dirty="0">
                <a:solidFill>
                  <a:srgbClr val="5A6472"/>
                </a:solidFill>
              </a:rPr>
              <a:t>Bear case tests the margin recovery assumption,</a:t>
            </a:r>
            <a:endParaRPr lang="en-US" sz="800" dirty="0"/>
          </a:p>
          <a:p>
            <a:pPr indent="0" marL="0">
              <a:buNone/>
            </a:pPr>
            <a:r>
              <a:rPr lang="en-US" sz="800" dirty="0">
                <a:solidFill>
                  <a:srgbClr val="5A6472"/>
                </a:solidFill>
              </a:rPr>
              <a:t>not the underlying business model.</a:t>
            </a:r>
            <a:endParaRPr lang="en-US" sz="800" dirty="0"/>
          </a:p>
          <a:p>
            <a:pPr indent="0" marL="0">
              <a:buNone/>
            </a:pPr>
            <a:r>
              <a:rPr lang="en-US" sz="800" dirty="0">
                <a:solidFill>
                  <a:srgbClr val="5A6472"/>
                </a:solidFill>
              </a:rPr>
              <a:t>Downside is more contained than upside in our</a:t>
            </a:r>
            <a:endParaRPr lang="en-US" sz="800" dirty="0"/>
          </a:p>
          <a:p>
            <a:pPr indent="0" marL="0">
              <a:buNone/>
            </a:pPr>
            <a:r>
              <a:rPr lang="en-US" sz="800" dirty="0">
                <a:solidFill>
                  <a:srgbClr val="5A6472"/>
                </a:solidFill>
              </a:rPr>
              <a:t>base-to-bear framework, though assumptions matter.</a:t>
            </a:r>
            <a:endParaRPr lang="en-US" sz="800" dirty="0"/>
          </a:p>
        </p:txBody>
      </p:sp>
      <p:sp>
        <p:nvSpPr>
          <p:cNvPr id="104" name="Shape 102"/>
          <p:cNvSpPr/>
          <p:nvPr/>
        </p:nvSpPr>
        <p:spPr>
          <a:xfrm>
            <a:off x="6016752" y="4224528"/>
            <a:ext cx="2907792" cy="932688"/>
          </a:xfrm>
          <a:prstGeom prst="rect">
            <a:avLst/>
          </a:prstGeom>
          <a:solidFill>
            <a:srgbClr val="EBF0F5"/>
          </a:solidFill>
          <a:ln w="6350">
            <a:solidFill>
              <a:srgbClr val="457B9D"/>
            </a:solidFill>
            <a:prstDash val="solid"/>
          </a:ln>
        </p:spPr>
      </p:sp>
      <p:sp>
        <p:nvSpPr>
          <p:cNvPr id="105" name="Text 103"/>
          <p:cNvSpPr/>
          <p:nvPr/>
        </p:nvSpPr>
        <p:spPr>
          <a:xfrm>
            <a:off x="6126480" y="4297680"/>
            <a:ext cx="2688336" cy="164592"/>
          </a:xfrm>
          <a:prstGeom prst="rect">
            <a:avLst/>
          </a:prstGeom>
          <a:noFill/>
          <a:ln/>
        </p:spPr>
        <p:txBody>
          <a:bodyPr wrap="square" lIns="0" tIns="0" rIns="0" bIns="0" rtlCol="0" anchor="ctr"/>
          <a:lstStyle/>
          <a:p>
            <a:pPr indent="0" marL="0">
              <a:buNone/>
            </a:pPr>
            <a:r>
              <a:rPr lang="en-US" sz="800" b="1" spc="100" kern="0" dirty="0">
                <a:solidFill>
                  <a:srgbClr val="1D3557"/>
                </a:solidFill>
              </a:rPr>
              <a:t>MONTE CARLO (5,000 PATHS)</a:t>
            </a:r>
            <a:endParaRPr lang="en-US" sz="800" dirty="0"/>
          </a:p>
        </p:txBody>
      </p:sp>
      <p:sp>
        <p:nvSpPr>
          <p:cNvPr id="106" name="Text 104"/>
          <p:cNvSpPr/>
          <p:nvPr/>
        </p:nvSpPr>
        <p:spPr>
          <a:xfrm>
            <a:off x="6126480" y="4480560"/>
            <a:ext cx="2688336" cy="402336"/>
          </a:xfrm>
          <a:prstGeom prst="rect">
            <a:avLst/>
          </a:prstGeom>
          <a:noFill/>
          <a:ln/>
        </p:spPr>
        <p:txBody>
          <a:bodyPr wrap="square" lIns="0" tIns="0" rIns="0" bIns="0" rtlCol="0" anchor="ctr"/>
          <a:lstStyle/>
          <a:p>
            <a:pPr indent="0" marL="0">
              <a:buNone/>
            </a:pPr>
            <a:r>
              <a:rPr lang="en-US" sz="800" dirty="0">
                <a:solidFill>
                  <a:srgbClr val="5A6472"/>
                </a:solidFill>
              </a:rPr>
              <a:t>Median outcome: ~$212  |  Prob. above current price: &gt;80% under base assumptions</a:t>
            </a:r>
            <a:endParaRPr lang="en-US" sz="800" dirty="0"/>
          </a:p>
          <a:p>
            <a:pPr indent="0" marL="0">
              <a:buNone/>
            </a:pPr>
            <a:r>
              <a:rPr lang="en-US" sz="800" dirty="0">
                <a:solidFill>
                  <a:srgbClr val="5A6472"/>
                </a:solidFill>
              </a:rPr>
              <a:t>Note: probability estimates are model-dependent and sensitive to margin recovery timeline.</a:t>
            </a:r>
            <a:endParaRPr lang="en-US" sz="800" dirty="0"/>
          </a:p>
        </p:txBody>
      </p:sp>
      <p:sp>
        <p:nvSpPr>
          <p:cNvPr id="107" name="Shape 105"/>
          <p:cNvSpPr/>
          <p:nvPr/>
        </p:nvSpPr>
        <p:spPr>
          <a:xfrm>
            <a:off x="3273552" y="4169664"/>
            <a:ext cx="2560320" cy="987552"/>
          </a:xfrm>
          <a:prstGeom prst="rect">
            <a:avLst/>
          </a:prstGeom>
          <a:solidFill>
            <a:srgbClr val="E63946"/>
          </a:solidFill>
          <a:ln w="12700">
            <a:solidFill>
              <a:srgbClr val="E63946"/>
            </a:solidFill>
            <a:prstDash val="solid"/>
          </a:ln>
        </p:spPr>
      </p:sp>
      <p:sp>
        <p:nvSpPr>
          <p:cNvPr id="108" name="Text 106"/>
          <p:cNvSpPr/>
          <p:nvPr/>
        </p:nvSpPr>
        <p:spPr>
          <a:xfrm>
            <a:off x="3383280" y="4224528"/>
            <a:ext cx="2340864" cy="201168"/>
          </a:xfrm>
          <a:prstGeom prst="rect">
            <a:avLst/>
          </a:prstGeom>
          <a:noFill/>
          <a:ln/>
        </p:spPr>
        <p:txBody>
          <a:bodyPr wrap="square" lIns="0" tIns="0" rIns="0" bIns="0" rtlCol="0" anchor="ctr"/>
          <a:lstStyle/>
          <a:p>
            <a:pPr indent="0" marL="0">
              <a:buNone/>
            </a:pPr>
            <a:r>
              <a:rPr lang="en-US" sz="900" b="1" spc="150" kern="0" dirty="0">
                <a:solidFill>
                  <a:srgbClr val="FFFFFF"/>
                </a:solidFill>
              </a:rPr>
              <a:t>LIVE DEMO</a:t>
            </a:r>
            <a:endParaRPr lang="en-US" sz="900" dirty="0"/>
          </a:p>
        </p:txBody>
      </p:sp>
      <p:sp>
        <p:nvSpPr>
          <p:cNvPr id="109" name="Text 107"/>
          <p:cNvSpPr/>
          <p:nvPr/>
        </p:nvSpPr>
        <p:spPr>
          <a:xfrm>
            <a:off x="3383280" y="4425696"/>
            <a:ext cx="2340864" cy="365760"/>
          </a:xfrm>
          <a:prstGeom prst="rect">
            <a:avLst/>
          </a:prstGeom>
          <a:noFill/>
          <a:ln/>
        </p:spPr>
        <p:txBody>
          <a:bodyPr wrap="square" lIns="0" tIns="0" rIns="0" bIns="0" rtlCol="0" anchor="ctr"/>
          <a:lstStyle/>
          <a:p>
            <a:pPr indent="0" marL="0">
              <a:buNone/>
            </a:pPr>
            <a:r>
              <a:rPr lang="en-US" sz="900" i="1" dirty="0">
                <a:solidFill>
                  <a:srgbClr val="FFCCCC"/>
                </a:solidFill>
              </a:rPr>
              <a:t>Switch to the Streamlit dashboard:</a:t>
            </a:r>
            <a:endParaRPr lang="en-US" sz="900" dirty="0"/>
          </a:p>
          <a:p>
            <a:pPr indent="0" marL="0">
              <a:buNone/>
            </a:pPr>
            <a:r>
              <a:rPr lang="en-US" sz="900" i="1" dirty="0">
                <a:solidFill>
                  <a:srgbClr val="FFCCCC"/>
                </a:solidFill>
              </a:rPr>
              <a:t>Tab 08 (DCF sliders) + Tab 09 (Monte Carlo)</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8F5"/>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63946"/>
          </a:solidFill>
          <a:ln w="12700">
            <a:solidFill>
              <a:srgbClr val="E63946"/>
            </a:solidFill>
            <a:prstDash val="solid"/>
          </a:ln>
        </p:spPr>
      </p:sp>
      <p:sp>
        <p:nvSpPr>
          <p:cNvPr id="3" name="Text 1"/>
          <p:cNvSpPr/>
          <p:nvPr/>
        </p:nvSpPr>
        <p:spPr>
          <a:xfrm>
            <a:off x="201168" y="4956048"/>
            <a:ext cx="6400800" cy="146304"/>
          </a:xfrm>
          <a:prstGeom prst="rect">
            <a:avLst/>
          </a:prstGeom>
          <a:noFill/>
          <a:ln/>
        </p:spPr>
        <p:txBody>
          <a:bodyPr wrap="square" lIns="0" tIns="0" rIns="0" bIns="0" rtlCol="0" anchor="ctr"/>
          <a:lstStyle/>
          <a:p>
            <a:pPr indent="0" marL="0">
              <a:buNone/>
            </a:pPr>
            <a:r>
              <a:rPr lang="en-US" sz="650" dirty="0">
                <a:solidFill>
                  <a:srgbClr val="AAAAAA"/>
                </a:solidFill>
              </a:rPr>
              <a:t>MBAN5570  |  Soni &amp; Warner 2025  |  Dollarama Inc. (DOL.TO)</a:t>
            </a:r>
            <a:endParaRPr lang="en-US" sz="650" dirty="0"/>
          </a:p>
        </p:txBody>
      </p:sp>
      <p:sp>
        <p:nvSpPr>
          <p:cNvPr id="4" name="Text 2"/>
          <p:cNvSpPr/>
          <p:nvPr/>
        </p:nvSpPr>
        <p:spPr>
          <a:xfrm>
            <a:off x="7772400" y="4956048"/>
            <a:ext cx="1188720" cy="146304"/>
          </a:xfrm>
          <a:prstGeom prst="rect">
            <a:avLst/>
          </a:prstGeom>
          <a:noFill/>
          <a:ln/>
        </p:spPr>
        <p:txBody>
          <a:bodyPr wrap="square" lIns="0" tIns="0" rIns="0" bIns="0" rtlCol="0" anchor="ctr"/>
          <a:lstStyle/>
          <a:p>
            <a:pPr algn="r" indent="0" marL="0">
              <a:buNone/>
            </a:pPr>
            <a:r>
              <a:rPr lang="en-US" sz="650" dirty="0">
                <a:solidFill>
                  <a:srgbClr val="AAAAAA"/>
                </a:solidFill>
              </a:rPr>
              <a:t>Slide 5 / 6</a:t>
            </a:r>
            <a:endParaRPr lang="en-US" sz="650" dirty="0"/>
          </a:p>
        </p:txBody>
      </p:sp>
      <p:sp>
        <p:nvSpPr>
          <p:cNvPr id="5" name="Shape 3"/>
          <p:cNvSpPr/>
          <p:nvPr/>
        </p:nvSpPr>
        <p:spPr>
          <a:xfrm>
            <a:off x="0" y="164592"/>
            <a:ext cx="91440" cy="292608"/>
          </a:xfrm>
          <a:prstGeom prst="rect">
            <a:avLst/>
          </a:prstGeom>
          <a:solidFill>
            <a:srgbClr val="FFFFFF"/>
          </a:solidFill>
          <a:ln w="12700">
            <a:solidFill>
              <a:srgbClr val="FFFFFF"/>
            </a:solidFill>
            <a:prstDash val="solid"/>
          </a:ln>
        </p:spPr>
      </p:sp>
      <p:sp>
        <p:nvSpPr>
          <p:cNvPr id="6" name="Text 4"/>
          <p:cNvSpPr/>
          <p:nvPr/>
        </p:nvSpPr>
        <p:spPr>
          <a:xfrm>
            <a:off x="0" y="164592"/>
            <a:ext cx="91440" cy="292608"/>
          </a:xfrm>
          <a:prstGeom prst="rect">
            <a:avLst/>
          </a:prstGeom>
          <a:noFill/>
          <a:ln/>
        </p:spPr>
        <p:txBody>
          <a:bodyPr wrap="square" lIns="0" tIns="0" rIns="0" bIns="0" rtlCol="0" anchor="ctr"/>
          <a:lstStyle/>
          <a:p>
            <a:pPr algn="ctr" indent="0" marL="0">
              <a:buNone/>
            </a:pPr>
            <a:r>
              <a:rPr lang="en-US" sz="750" b="1" dirty="0">
                <a:solidFill>
                  <a:srgbClr val="E63946"/>
                </a:solidFill>
              </a:rPr>
              <a:t>5</a:t>
            </a:r>
            <a:endParaRPr lang="en-US" sz="750" dirty="0"/>
          </a:p>
        </p:txBody>
      </p:sp>
      <p:sp>
        <p:nvSpPr>
          <p:cNvPr id="7" name="Text 5"/>
          <p:cNvSpPr/>
          <p:nvPr/>
        </p:nvSpPr>
        <p:spPr>
          <a:xfrm>
            <a:off x="201168" y="91440"/>
            <a:ext cx="7680960" cy="457200"/>
          </a:xfrm>
          <a:prstGeom prst="rect">
            <a:avLst/>
          </a:prstGeom>
          <a:noFill/>
          <a:ln/>
        </p:spPr>
        <p:txBody>
          <a:bodyPr wrap="square" lIns="0" tIns="0" rIns="0" bIns="0" rtlCol="0" anchor="ctr"/>
          <a:lstStyle/>
          <a:p>
            <a:pPr indent="0" marL="0">
              <a:buNone/>
            </a:pPr>
            <a:r>
              <a:rPr lang="en-US" sz="2400" b="1" dirty="0">
                <a:solidFill>
                  <a:srgbClr val="1D3557"/>
                </a:solidFill>
                <a:latin typeface="Georgia" pitchFamily="34" charset="0"/>
                <a:ea typeface="Georgia" pitchFamily="34" charset="-122"/>
                <a:cs typeface="Georgia" pitchFamily="34" charset="-120"/>
              </a:rPr>
              <a:t>Three Risks Worth Taking Seriously</a:t>
            </a:r>
            <a:endParaRPr lang="en-US" sz="2400" dirty="0"/>
          </a:p>
        </p:txBody>
      </p:sp>
      <p:sp>
        <p:nvSpPr>
          <p:cNvPr id="8" name="Text 6"/>
          <p:cNvSpPr/>
          <p:nvPr/>
        </p:nvSpPr>
        <p:spPr>
          <a:xfrm>
            <a:off x="201168" y="530352"/>
            <a:ext cx="6858000" cy="182880"/>
          </a:xfrm>
          <a:prstGeom prst="rect">
            <a:avLst/>
          </a:prstGeom>
          <a:noFill/>
          <a:ln/>
        </p:spPr>
        <p:txBody>
          <a:bodyPr wrap="square" lIns="0" tIns="0" rIns="0" bIns="0" rtlCol="0" anchor="ctr"/>
          <a:lstStyle/>
          <a:p>
            <a:pPr indent="0" marL="0">
              <a:buNone/>
            </a:pPr>
            <a:r>
              <a:rPr lang="en-US" sz="950" i="1" dirty="0">
                <a:solidFill>
                  <a:srgbClr val="5A6472"/>
                </a:solidFill>
              </a:rPr>
              <a:t>Reject Shop integration | COGS inflation | Multiple compression | Forward path</a:t>
            </a:r>
            <a:endParaRPr lang="en-US" sz="950" dirty="0"/>
          </a:p>
        </p:txBody>
      </p:sp>
      <p:sp>
        <p:nvSpPr>
          <p:cNvPr id="9" name="Shape 7"/>
          <p:cNvSpPr/>
          <p:nvPr/>
        </p:nvSpPr>
        <p:spPr>
          <a:xfrm>
            <a:off x="7973568" y="109728"/>
            <a:ext cx="914400" cy="201168"/>
          </a:xfrm>
          <a:prstGeom prst="rect">
            <a:avLst/>
          </a:prstGeom>
          <a:solidFill>
            <a:srgbClr val="EBF0F5"/>
          </a:solidFill>
          <a:ln w="6350">
            <a:solidFill>
              <a:srgbClr val="457B9D"/>
            </a:solidFill>
            <a:prstDash val="solid"/>
          </a:ln>
        </p:spPr>
      </p:sp>
      <p:sp>
        <p:nvSpPr>
          <p:cNvPr id="10" name="Text 8"/>
          <p:cNvSpPr/>
          <p:nvPr/>
        </p:nvSpPr>
        <p:spPr>
          <a:xfrm>
            <a:off x="7973568" y="109728"/>
            <a:ext cx="914400" cy="201168"/>
          </a:xfrm>
          <a:prstGeom prst="rect">
            <a:avLst/>
          </a:prstGeom>
          <a:noFill/>
          <a:ln/>
        </p:spPr>
        <p:txBody>
          <a:bodyPr wrap="square" lIns="0" tIns="0" rIns="0" bIns="0" rtlCol="0" anchor="ctr"/>
          <a:lstStyle/>
          <a:p>
            <a:pPr algn="ctr" indent="0" marL="0">
              <a:buNone/>
            </a:pPr>
            <a:r>
              <a:rPr lang="en-US" sz="750" dirty="0">
                <a:solidFill>
                  <a:srgbClr val="1D3557"/>
                </a:solidFill>
              </a:rPr>
              <a:t>~0:55</a:t>
            </a:r>
            <a:endParaRPr lang="en-US" sz="750" dirty="0"/>
          </a:p>
        </p:txBody>
      </p:sp>
      <p:sp>
        <p:nvSpPr>
          <p:cNvPr id="11" name="Shape 9"/>
          <p:cNvSpPr/>
          <p:nvPr/>
        </p:nvSpPr>
        <p:spPr>
          <a:xfrm>
            <a:off x="201168" y="768096"/>
            <a:ext cx="8686800" cy="0"/>
          </a:xfrm>
          <a:prstGeom prst="line">
            <a:avLst/>
          </a:prstGeom>
          <a:noFill/>
          <a:ln w="6350">
            <a:solidFill>
              <a:srgbClr val="D0D0D0"/>
            </a:solidFill>
            <a:prstDash val="solid"/>
          </a:ln>
        </p:spPr>
      </p:sp>
      <p:sp>
        <p:nvSpPr>
          <p:cNvPr id="12" name="Shape 10"/>
          <p:cNvSpPr/>
          <p:nvPr/>
        </p:nvSpPr>
        <p:spPr>
          <a:xfrm>
            <a:off x="201168" y="932688"/>
            <a:ext cx="4187952" cy="1188720"/>
          </a:xfrm>
          <a:prstGeom prst="rect">
            <a:avLst/>
          </a:prstGeom>
          <a:solidFill>
            <a:srgbClr val="FEF0EE"/>
          </a:solidFill>
          <a:ln w="12700">
            <a:solidFill>
              <a:srgbClr val="E63946"/>
            </a:solidFill>
            <a:prstDash val="solid"/>
          </a:ln>
        </p:spPr>
      </p:sp>
      <p:sp>
        <p:nvSpPr>
          <p:cNvPr id="13" name="Shape 11"/>
          <p:cNvSpPr/>
          <p:nvPr/>
        </p:nvSpPr>
        <p:spPr>
          <a:xfrm>
            <a:off x="201168" y="932688"/>
            <a:ext cx="54864" cy="1188720"/>
          </a:xfrm>
          <a:prstGeom prst="rect">
            <a:avLst/>
          </a:prstGeom>
          <a:solidFill>
            <a:srgbClr val="E63946"/>
          </a:solidFill>
          <a:ln w="12700">
            <a:solidFill>
              <a:srgbClr val="E63946"/>
            </a:solidFill>
            <a:prstDash val="solid"/>
          </a:ln>
        </p:spPr>
      </p:sp>
      <p:sp>
        <p:nvSpPr>
          <p:cNvPr id="14" name="Text 12"/>
          <p:cNvSpPr/>
          <p:nvPr/>
        </p:nvSpPr>
        <p:spPr>
          <a:xfrm>
            <a:off x="329184" y="996696"/>
            <a:ext cx="3986784" cy="182880"/>
          </a:xfrm>
          <a:prstGeom prst="rect">
            <a:avLst/>
          </a:prstGeom>
          <a:noFill/>
          <a:ln/>
        </p:spPr>
        <p:txBody>
          <a:bodyPr wrap="square" lIns="0" tIns="0" rIns="0" bIns="0" rtlCol="0" anchor="ctr"/>
          <a:lstStyle/>
          <a:p>
            <a:pPr indent="0" marL="0">
              <a:buNone/>
            </a:pPr>
            <a:r>
              <a:rPr lang="en-US" sz="900" b="1" dirty="0">
                <a:solidFill>
                  <a:srgbClr val="E63946"/>
                </a:solidFill>
              </a:rPr>
              <a:t>Reject Shop integration drag</a:t>
            </a:r>
            <a:endParaRPr lang="en-US" sz="900" dirty="0"/>
          </a:p>
        </p:txBody>
      </p:sp>
      <p:sp>
        <p:nvSpPr>
          <p:cNvPr id="15" name="Text 13"/>
          <p:cNvSpPr/>
          <p:nvPr/>
        </p:nvSpPr>
        <p:spPr>
          <a:xfrm>
            <a:off x="329184" y="1170432"/>
            <a:ext cx="3986784" cy="877824"/>
          </a:xfrm>
          <a:prstGeom prst="rect">
            <a:avLst/>
          </a:prstGeom>
          <a:noFill/>
          <a:ln/>
        </p:spPr>
        <p:txBody>
          <a:bodyPr wrap="square" lIns="0" tIns="0" rIns="0" bIns="0" rtlCol="0" anchor="ctr"/>
          <a:lstStyle/>
          <a:p>
            <a:pPr indent="0" marL="0">
              <a:buNone/>
            </a:pPr>
            <a:r>
              <a:rPr lang="en-US" sz="850" dirty="0">
                <a:solidFill>
                  <a:srgbClr val="5A6472"/>
                </a:solidFill>
              </a:rPr>
              <a:t>FY2026 EBITDA margin -170bps from Australian mix dilution. Our model assumes gradual recovery through 2027. If the drag extends beyond that, our DCF assumptions are too optimistic. Most important variable to track in the next two earnings releases.</a:t>
            </a:r>
            <a:endParaRPr lang="en-US" sz="850" dirty="0"/>
          </a:p>
        </p:txBody>
      </p:sp>
      <p:sp>
        <p:nvSpPr>
          <p:cNvPr id="16" name="Shape 14"/>
          <p:cNvSpPr/>
          <p:nvPr/>
        </p:nvSpPr>
        <p:spPr>
          <a:xfrm>
            <a:off x="201168" y="2231136"/>
            <a:ext cx="4187952" cy="1188720"/>
          </a:xfrm>
          <a:prstGeom prst="rect">
            <a:avLst/>
          </a:prstGeom>
          <a:solidFill>
            <a:srgbClr val="FFF8E6"/>
          </a:solidFill>
          <a:ln w="12700">
            <a:solidFill>
              <a:srgbClr val="B87800"/>
            </a:solidFill>
            <a:prstDash val="solid"/>
          </a:ln>
        </p:spPr>
      </p:sp>
      <p:sp>
        <p:nvSpPr>
          <p:cNvPr id="17" name="Shape 15"/>
          <p:cNvSpPr/>
          <p:nvPr/>
        </p:nvSpPr>
        <p:spPr>
          <a:xfrm>
            <a:off x="201168" y="2231136"/>
            <a:ext cx="54864" cy="1188720"/>
          </a:xfrm>
          <a:prstGeom prst="rect">
            <a:avLst/>
          </a:prstGeom>
          <a:solidFill>
            <a:srgbClr val="B87800"/>
          </a:solidFill>
          <a:ln w="12700">
            <a:solidFill>
              <a:srgbClr val="B87800"/>
            </a:solidFill>
            <a:prstDash val="solid"/>
          </a:ln>
        </p:spPr>
      </p:sp>
      <p:sp>
        <p:nvSpPr>
          <p:cNvPr id="18" name="Text 16"/>
          <p:cNvSpPr/>
          <p:nvPr/>
        </p:nvSpPr>
        <p:spPr>
          <a:xfrm>
            <a:off x="329184" y="2295144"/>
            <a:ext cx="3986784" cy="182880"/>
          </a:xfrm>
          <a:prstGeom prst="rect">
            <a:avLst/>
          </a:prstGeom>
          <a:noFill/>
          <a:ln/>
        </p:spPr>
        <p:txBody>
          <a:bodyPr wrap="square" lIns="0" tIns="0" rIns="0" bIns="0" rtlCol="0" anchor="ctr"/>
          <a:lstStyle/>
          <a:p>
            <a:pPr indent="0" marL="0">
              <a:buNone/>
            </a:pPr>
            <a:r>
              <a:rPr lang="en-US" sz="900" b="1" dirty="0">
                <a:solidFill>
                  <a:srgbClr val="B87800"/>
                </a:solidFill>
              </a:rPr>
              <a:t>COGS inflation / China sourcing</a:t>
            </a:r>
            <a:endParaRPr lang="en-US" sz="900" dirty="0"/>
          </a:p>
        </p:txBody>
      </p:sp>
      <p:sp>
        <p:nvSpPr>
          <p:cNvPr id="19" name="Text 17"/>
          <p:cNvSpPr/>
          <p:nvPr/>
        </p:nvSpPr>
        <p:spPr>
          <a:xfrm>
            <a:off x="329184" y="2468880"/>
            <a:ext cx="3986784" cy="877824"/>
          </a:xfrm>
          <a:prstGeom prst="rect">
            <a:avLst/>
          </a:prstGeom>
          <a:noFill/>
          <a:ln/>
        </p:spPr>
        <p:txBody>
          <a:bodyPr wrap="square" lIns="0" tIns="0" rIns="0" bIns="0" rtlCol="0" anchor="ctr"/>
          <a:lstStyle/>
          <a:p>
            <a:pPr indent="0" marL="0">
              <a:buNone/>
            </a:pPr>
            <a:r>
              <a:rPr lang="en-US" sz="850" dirty="0">
                <a:solidFill>
                  <a:srgbClr val="5A6472"/>
                </a:solidFill>
              </a:rPr>
              <a:t>CEO (March 2026): price increases only where 'absolutely necessary.' The $5.00 CAD price ceiling limits pass-through ability. A sustained China sourcing or tariff shock compresses margins directly with no easy offset.</a:t>
            </a:r>
            <a:endParaRPr lang="en-US" sz="850" dirty="0"/>
          </a:p>
        </p:txBody>
      </p:sp>
      <p:sp>
        <p:nvSpPr>
          <p:cNvPr id="20" name="Shape 18"/>
          <p:cNvSpPr/>
          <p:nvPr/>
        </p:nvSpPr>
        <p:spPr>
          <a:xfrm>
            <a:off x="201168" y="3529584"/>
            <a:ext cx="4187952" cy="1188720"/>
          </a:xfrm>
          <a:prstGeom prst="rect">
            <a:avLst/>
          </a:prstGeom>
          <a:solidFill>
            <a:srgbClr val="FFF8E6"/>
          </a:solidFill>
          <a:ln w="12700">
            <a:solidFill>
              <a:srgbClr val="B87800"/>
            </a:solidFill>
            <a:prstDash val="solid"/>
          </a:ln>
        </p:spPr>
      </p:sp>
      <p:sp>
        <p:nvSpPr>
          <p:cNvPr id="21" name="Shape 19"/>
          <p:cNvSpPr/>
          <p:nvPr/>
        </p:nvSpPr>
        <p:spPr>
          <a:xfrm>
            <a:off x="201168" y="3529584"/>
            <a:ext cx="54864" cy="1188720"/>
          </a:xfrm>
          <a:prstGeom prst="rect">
            <a:avLst/>
          </a:prstGeom>
          <a:solidFill>
            <a:srgbClr val="B87800"/>
          </a:solidFill>
          <a:ln w="12700">
            <a:solidFill>
              <a:srgbClr val="B87800"/>
            </a:solidFill>
            <a:prstDash val="solid"/>
          </a:ln>
        </p:spPr>
      </p:sp>
      <p:sp>
        <p:nvSpPr>
          <p:cNvPr id="22" name="Text 20"/>
          <p:cNvSpPr/>
          <p:nvPr/>
        </p:nvSpPr>
        <p:spPr>
          <a:xfrm>
            <a:off x="329184" y="3593592"/>
            <a:ext cx="3986784" cy="182880"/>
          </a:xfrm>
          <a:prstGeom prst="rect">
            <a:avLst/>
          </a:prstGeom>
          <a:noFill/>
          <a:ln/>
        </p:spPr>
        <p:txBody>
          <a:bodyPr wrap="square" lIns="0" tIns="0" rIns="0" bIns="0" rtlCol="0" anchor="ctr"/>
          <a:lstStyle/>
          <a:p>
            <a:pPr indent="0" marL="0">
              <a:buNone/>
            </a:pPr>
            <a:r>
              <a:rPr lang="en-US" sz="900" b="1" dirty="0">
                <a:solidFill>
                  <a:srgbClr val="B87800"/>
                </a:solidFill>
              </a:rPr>
              <a:t>Multiple compression risk</a:t>
            </a:r>
            <a:endParaRPr lang="en-US" sz="900" dirty="0"/>
          </a:p>
        </p:txBody>
      </p:sp>
      <p:sp>
        <p:nvSpPr>
          <p:cNvPr id="23" name="Text 21"/>
          <p:cNvSpPr/>
          <p:nvPr/>
        </p:nvSpPr>
        <p:spPr>
          <a:xfrm>
            <a:off x="329184" y="3767328"/>
            <a:ext cx="3986784" cy="877824"/>
          </a:xfrm>
          <a:prstGeom prst="rect">
            <a:avLst/>
          </a:prstGeom>
          <a:noFill/>
          <a:ln/>
        </p:spPr>
        <p:txBody>
          <a:bodyPr wrap="square" lIns="0" tIns="0" rIns="0" bIns="0" rtlCol="0" anchor="ctr"/>
          <a:lstStyle/>
          <a:p>
            <a:pPr indent="0" marL="0">
              <a:buNone/>
            </a:pPr>
            <a:r>
              <a:rPr lang="en-US" sz="850" dirty="0">
                <a:solidFill>
                  <a:srgbClr val="5A6472"/>
                </a:solidFill>
              </a:rPr>
              <a:t>Even if the business performs to plan, a broader market re-rating or rising rates could compress the premium multiple. This is a valuation risk, not a business risk.</a:t>
            </a:r>
            <a:endParaRPr lang="en-US" sz="850" dirty="0"/>
          </a:p>
        </p:txBody>
      </p:sp>
      <p:sp>
        <p:nvSpPr>
          <p:cNvPr id="24" name="Shape 22"/>
          <p:cNvSpPr/>
          <p:nvPr/>
        </p:nvSpPr>
        <p:spPr>
          <a:xfrm>
            <a:off x="4590288" y="932688"/>
            <a:ext cx="4334256" cy="3127248"/>
          </a:xfrm>
          <a:prstGeom prst="rect">
            <a:avLst/>
          </a:prstGeom>
          <a:solidFill>
            <a:srgbClr val="FFFFFF"/>
          </a:solidFill>
          <a:ln w="6350">
            <a:solidFill>
              <a:srgbClr val="E0E0E0"/>
            </a:solidFill>
            <a:prstDash val="solid"/>
          </a:ln>
          <a:effectLst>
            <a:outerShdw sx="100000" sy="100000" kx="0" ky="0" algn="bl" rotWithShape="0" blurRad="88900" dist="25400" dir="8100000">
              <a:srgbClr val="000000">
                <a:alpha val="10000"/>
              </a:srgbClr>
            </a:outerShdw>
          </a:effectLst>
        </p:spPr>
      </p:sp>
      <p:sp>
        <p:nvSpPr>
          <p:cNvPr id="25" name="Shape 23"/>
          <p:cNvSpPr/>
          <p:nvPr/>
        </p:nvSpPr>
        <p:spPr>
          <a:xfrm>
            <a:off x="4590288" y="932688"/>
            <a:ext cx="4334256" cy="50292"/>
          </a:xfrm>
          <a:prstGeom prst="rect">
            <a:avLst/>
          </a:prstGeom>
          <a:solidFill>
            <a:srgbClr val="1D3557"/>
          </a:solidFill>
          <a:ln w="12700">
            <a:solidFill>
              <a:srgbClr val="1D3557"/>
            </a:solidFill>
            <a:prstDash val="solid"/>
          </a:ln>
        </p:spPr>
      </p:sp>
      <p:sp>
        <p:nvSpPr>
          <p:cNvPr id="26" name="Text 24"/>
          <p:cNvSpPr/>
          <p:nvPr/>
        </p:nvSpPr>
        <p:spPr>
          <a:xfrm>
            <a:off x="4700016" y="1005840"/>
            <a:ext cx="4114800" cy="182880"/>
          </a:xfrm>
          <a:prstGeom prst="rect">
            <a:avLst/>
          </a:prstGeom>
          <a:noFill/>
          <a:ln/>
        </p:spPr>
        <p:txBody>
          <a:bodyPr wrap="square" lIns="0" tIns="0" rIns="0" bIns="0" rtlCol="0" anchor="ctr"/>
          <a:lstStyle/>
          <a:p>
            <a:pPr indent="0" marL="0">
              <a:buNone/>
            </a:pPr>
            <a:r>
              <a:rPr lang="en-US" sz="800" b="1" spc="120" kern="0" dirty="0">
                <a:solidFill>
                  <a:srgbClr val="5A6472"/>
                </a:solidFill>
              </a:rPr>
              <a:t>FORWARD PATH — FY2026A TO FY2028E</a:t>
            </a:r>
            <a:endParaRPr lang="en-US" sz="800" dirty="0"/>
          </a:p>
        </p:txBody>
      </p:sp>
      <p:sp>
        <p:nvSpPr>
          <p:cNvPr id="27" name="Shape 25"/>
          <p:cNvSpPr/>
          <p:nvPr/>
        </p:nvSpPr>
        <p:spPr>
          <a:xfrm>
            <a:off x="4590288" y="1243584"/>
            <a:ext cx="866851" cy="237744"/>
          </a:xfrm>
          <a:prstGeom prst="rect">
            <a:avLst/>
          </a:prstGeom>
          <a:solidFill>
            <a:srgbClr val="1D3557"/>
          </a:solidFill>
          <a:ln w="12700">
            <a:solidFill>
              <a:srgbClr val="1D3557"/>
            </a:solidFill>
            <a:prstDash val="solid"/>
          </a:ln>
        </p:spPr>
      </p:sp>
      <p:sp>
        <p:nvSpPr>
          <p:cNvPr id="28" name="Text 26"/>
          <p:cNvSpPr/>
          <p:nvPr/>
        </p:nvSpPr>
        <p:spPr>
          <a:xfrm>
            <a:off x="4590288" y="1243584"/>
            <a:ext cx="866851" cy="237744"/>
          </a:xfrm>
          <a:prstGeom prst="rect">
            <a:avLst/>
          </a:prstGeom>
          <a:noFill/>
          <a:ln/>
        </p:spPr>
        <p:txBody>
          <a:bodyPr wrap="square" lIns="0" tIns="0" rIns="0" bIns="0" rtlCol="0" anchor="ctr"/>
          <a:lstStyle/>
          <a:p>
            <a:pPr algn="ctr" indent="0" marL="0">
              <a:buNone/>
            </a:pPr>
            <a:r>
              <a:rPr lang="en-US" sz="750" b="1" dirty="0">
                <a:solidFill>
                  <a:srgbClr val="FFFFFF"/>
                </a:solidFill>
              </a:rPr>
              <a:t>Metric</a:t>
            </a:r>
            <a:endParaRPr lang="en-US" sz="750" dirty="0"/>
          </a:p>
        </p:txBody>
      </p:sp>
      <p:sp>
        <p:nvSpPr>
          <p:cNvPr id="29" name="Shape 27"/>
          <p:cNvSpPr/>
          <p:nvPr/>
        </p:nvSpPr>
        <p:spPr>
          <a:xfrm>
            <a:off x="5457139" y="1243584"/>
            <a:ext cx="866851" cy="237744"/>
          </a:xfrm>
          <a:prstGeom prst="rect">
            <a:avLst/>
          </a:prstGeom>
          <a:solidFill>
            <a:srgbClr val="457B9D"/>
          </a:solidFill>
          <a:ln w="12700">
            <a:solidFill>
              <a:srgbClr val="457B9D"/>
            </a:solidFill>
            <a:prstDash val="solid"/>
          </a:ln>
        </p:spPr>
      </p:sp>
      <p:sp>
        <p:nvSpPr>
          <p:cNvPr id="30" name="Text 28"/>
          <p:cNvSpPr/>
          <p:nvPr/>
        </p:nvSpPr>
        <p:spPr>
          <a:xfrm>
            <a:off x="5457139" y="1243584"/>
            <a:ext cx="866851" cy="237744"/>
          </a:xfrm>
          <a:prstGeom prst="rect">
            <a:avLst/>
          </a:prstGeom>
          <a:noFill/>
          <a:ln/>
        </p:spPr>
        <p:txBody>
          <a:bodyPr wrap="square" lIns="0" tIns="0" rIns="0" bIns="0" rtlCol="0" anchor="ctr"/>
          <a:lstStyle/>
          <a:p>
            <a:pPr algn="ctr" indent="0" marL="0">
              <a:buNone/>
            </a:pPr>
            <a:r>
              <a:rPr lang="en-US" sz="750" b="1" dirty="0">
                <a:solidFill>
                  <a:srgbClr val="FFFFFF"/>
                </a:solidFill>
              </a:rPr>
              <a:t>FY2025A</a:t>
            </a:r>
            <a:endParaRPr lang="en-US" sz="750" dirty="0"/>
          </a:p>
        </p:txBody>
      </p:sp>
      <p:sp>
        <p:nvSpPr>
          <p:cNvPr id="31" name="Shape 29"/>
          <p:cNvSpPr/>
          <p:nvPr/>
        </p:nvSpPr>
        <p:spPr>
          <a:xfrm>
            <a:off x="6323990" y="1243584"/>
            <a:ext cx="866851" cy="237744"/>
          </a:xfrm>
          <a:prstGeom prst="rect">
            <a:avLst/>
          </a:prstGeom>
          <a:solidFill>
            <a:srgbClr val="E63946"/>
          </a:solidFill>
          <a:ln w="12700">
            <a:solidFill>
              <a:srgbClr val="E63946"/>
            </a:solidFill>
            <a:prstDash val="solid"/>
          </a:ln>
        </p:spPr>
      </p:sp>
      <p:sp>
        <p:nvSpPr>
          <p:cNvPr id="32" name="Text 30"/>
          <p:cNvSpPr/>
          <p:nvPr/>
        </p:nvSpPr>
        <p:spPr>
          <a:xfrm>
            <a:off x="6323990" y="1243584"/>
            <a:ext cx="866851" cy="237744"/>
          </a:xfrm>
          <a:prstGeom prst="rect">
            <a:avLst/>
          </a:prstGeom>
          <a:noFill/>
          <a:ln/>
        </p:spPr>
        <p:txBody>
          <a:bodyPr wrap="square" lIns="0" tIns="0" rIns="0" bIns="0" rtlCol="0" anchor="ctr"/>
          <a:lstStyle/>
          <a:p>
            <a:pPr algn="ctr" indent="0" marL="0">
              <a:buNone/>
            </a:pPr>
            <a:r>
              <a:rPr lang="en-US" sz="750" b="1" dirty="0">
                <a:solidFill>
                  <a:srgbClr val="FFFFFF"/>
                </a:solidFill>
              </a:rPr>
              <a:t>FY2026A</a:t>
            </a:r>
            <a:endParaRPr lang="en-US" sz="750" dirty="0"/>
          </a:p>
        </p:txBody>
      </p:sp>
      <p:sp>
        <p:nvSpPr>
          <p:cNvPr id="33" name="Shape 31"/>
          <p:cNvSpPr/>
          <p:nvPr/>
        </p:nvSpPr>
        <p:spPr>
          <a:xfrm>
            <a:off x="7190842" y="1243584"/>
            <a:ext cx="866851" cy="237744"/>
          </a:xfrm>
          <a:prstGeom prst="rect">
            <a:avLst/>
          </a:prstGeom>
          <a:solidFill>
            <a:srgbClr val="457B9D"/>
          </a:solidFill>
          <a:ln w="12700">
            <a:solidFill>
              <a:srgbClr val="457B9D"/>
            </a:solidFill>
            <a:prstDash val="solid"/>
          </a:ln>
        </p:spPr>
      </p:sp>
      <p:sp>
        <p:nvSpPr>
          <p:cNvPr id="34" name="Text 32"/>
          <p:cNvSpPr/>
          <p:nvPr/>
        </p:nvSpPr>
        <p:spPr>
          <a:xfrm>
            <a:off x="7190842" y="1243584"/>
            <a:ext cx="866851" cy="237744"/>
          </a:xfrm>
          <a:prstGeom prst="rect">
            <a:avLst/>
          </a:prstGeom>
          <a:noFill/>
          <a:ln/>
        </p:spPr>
        <p:txBody>
          <a:bodyPr wrap="square" lIns="0" tIns="0" rIns="0" bIns="0" rtlCol="0" anchor="ctr"/>
          <a:lstStyle/>
          <a:p>
            <a:pPr algn="ctr" indent="0" marL="0">
              <a:buNone/>
            </a:pPr>
            <a:r>
              <a:rPr lang="en-US" sz="750" b="1" dirty="0">
                <a:solidFill>
                  <a:srgbClr val="FFFFFF"/>
                </a:solidFill>
              </a:rPr>
              <a:t>FY2027E</a:t>
            </a:r>
            <a:endParaRPr lang="en-US" sz="750" dirty="0"/>
          </a:p>
        </p:txBody>
      </p:sp>
      <p:sp>
        <p:nvSpPr>
          <p:cNvPr id="35" name="Shape 33"/>
          <p:cNvSpPr/>
          <p:nvPr/>
        </p:nvSpPr>
        <p:spPr>
          <a:xfrm>
            <a:off x="8057693" y="1243584"/>
            <a:ext cx="866851" cy="237744"/>
          </a:xfrm>
          <a:prstGeom prst="rect">
            <a:avLst/>
          </a:prstGeom>
          <a:solidFill>
            <a:srgbClr val="457B9D"/>
          </a:solidFill>
          <a:ln w="12700">
            <a:solidFill>
              <a:srgbClr val="457B9D"/>
            </a:solidFill>
            <a:prstDash val="solid"/>
          </a:ln>
        </p:spPr>
      </p:sp>
      <p:sp>
        <p:nvSpPr>
          <p:cNvPr id="36" name="Text 34"/>
          <p:cNvSpPr/>
          <p:nvPr/>
        </p:nvSpPr>
        <p:spPr>
          <a:xfrm>
            <a:off x="8057693" y="1243584"/>
            <a:ext cx="866851" cy="237744"/>
          </a:xfrm>
          <a:prstGeom prst="rect">
            <a:avLst/>
          </a:prstGeom>
          <a:noFill/>
          <a:ln/>
        </p:spPr>
        <p:txBody>
          <a:bodyPr wrap="square" lIns="0" tIns="0" rIns="0" bIns="0" rtlCol="0" anchor="ctr"/>
          <a:lstStyle/>
          <a:p>
            <a:pPr algn="ctr" indent="0" marL="0">
              <a:buNone/>
            </a:pPr>
            <a:r>
              <a:rPr lang="en-US" sz="750" b="1" dirty="0">
                <a:solidFill>
                  <a:srgbClr val="FFFFFF"/>
                </a:solidFill>
              </a:rPr>
              <a:t>FY2028E</a:t>
            </a:r>
            <a:endParaRPr lang="en-US" sz="750" dirty="0"/>
          </a:p>
        </p:txBody>
      </p:sp>
      <p:sp>
        <p:nvSpPr>
          <p:cNvPr id="37" name="Shape 35"/>
          <p:cNvSpPr/>
          <p:nvPr/>
        </p:nvSpPr>
        <p:spPr>
          <a:xfrm>
            <a:off x="4590288" y="1536192"/>
            <a:ext cx="866851" cy="292608"/>
          </a:xfrm>
          <a:prstGeom prst="rect">
            <a:avLst/>
          </a:prstGeom>
          <a:solidFill>
            <a:srgbClr val="F5F8FA"/>
          </a:solidFill>
          <a:ln w="3810">
            <a:solidFill>
              <a:srgbClr val="EEEEEE"/>
            </a:solidFill>
            <a:prstDash val="solid"/>
          </a:ln>
        </p:spPr>
      </p:sp>
      <p:sp>
        <p:nvSpPr>
          <p:cNvPr id="38" name="Text 36"/>
          <p:cNvSpPr/>
          <p:nvPr/>
        </p:nvSpPr>
        <p:spPr>
          <a:xfrm>
            <a:off x="4626864" y="1591056"/>
            <a:ext cx="822960" cy="201168"/>
          </a:xfrm>
          <a:prstGeom prst="rect">
            <a:avLst/>
          </a:prstGeom>
          <a:noFill/>
          <a:ln/>
        </p:spPr>
        <p:txBody>
          <a:bodyPr wrap="square" lIns="0" tIns="0" rIns="0" bIns="0" rtlCol="0" anchor="ctr"/>
          <a:lstStyle/>
          <a:p>
            <a:pPr indent="0" marL="0">
              <a:buNone/>
            </a:pPr>
            <a:r>
              <a:rPr lang="en-US" sz="800" b="1" dirty="0">
                <a:solidFill>
                  <a:srgbClr val="5A6472"/>
                </a:solidFill>
              </a:rPr>
              <a:t>Revenue</a:t>
            </a:r>
            <a:endParaRPr lang="en-US" sz="800" dirty="0"/>
          </a:p>
        </p:txBody>
      </p:sp>
      <p:sp>
        <p:nvSpPr>
          <p:cNvPr id="39" name="Shape 37"/>
          <p:cNvSpPr/>
          <p:nvPr/>
        </p:nvSpPr>
        <p:spPr>
          <a:xfrm>
            <a:off x="5457139" y="1536192"/>
            <a:ext cx="866851" cy="292608"/>
          </a:xfrm>
          <a:prstGeom prst="rect">
            <a:avLst/>
          </a:prstGeom>
          <a:solidFill>
            <a:srgbClr val="EBF5EE"/>
          </a:solidFill>
          <a:ln w="3810">
            <a:solidFill>
              <a:srgbClr val="EEEEEE"/>
            </a:solidFill>
            <a:prstDash val="solid"/>
          </a:ln>
        </p:spPr>
      </p:sp>
      <p:sp>
        <p:nvSpPr>
          <p:cNvPr id="40" name="Text 38"/>
          <p:cNvSpPr/>
          <p:nvPr/>
        </p:nvSpPr>
        <p:spPr>
          <a:xfrm>
            <a:off x="5457139" y="1591056"/>
            <a:ext cx="866851" cy="182880"/>
          </a:xfrm>
          <a:prstGeom prst="rect">
            <a:avLst/>
          </a:prstGeom>
          <a:noFill/>
          <a:ln/>
        </p:spPr>
        <p:txBody>
          <a:bodyPr wrap="square" lIns="0" tIns="0" rIns="0" bIns="0" rtlCol="0" anchor="ctr"/>
          <a:lstStyle/>
          <a:p>
            <a:pPr algn="ctr" indent="0" marL="0">
              <a:buNone/>
            </a:pPr>
            <a:r>
              <a:rPr lang="en-US" sz="850" b="1" dirty="0">
                <a:solidFill>
                  <a:srgbClr val="1D3557"/>
                </a:solidFill>
              </a:rPr>
              <a:t>$6.4B</a:t>
            </a:r>
            <a:endParaRPr lang="en-US" sz="850" dirty="0"/>
          </a:p>
        </p:txBody>
      </p:sp>
      <p:sp>
        <p:nvSpPr>
          <p:cNvPr id="41" name="Shape 39"/>
          <p:cNvSpPr/>
          <p:nvPr/>
        </p:nvSpPr>
        <p:spPr>
          <a:xfrm>
            <a:off x="6323990" y="1536192"/>
            <a:ext cx="866851" cy="292608"/>
          </a:xfrm>
          <a:prstGeom prst="rect">
            <a:avLst/>
          </a:prstGeom>
          <a:solidFill>
            <a:srgbClr val="FFF0F0"/>
          </a:solidFill>
          <a:ln w="3810">
            <a:solidFill>
              <a:srgbClr val="EEEEEE"/>
            </a:solidFill>
            <a:prstDash val="solid"/>
          </a:ln>
        </p:spPr>
      </p:sp>
      <p:sp>
        <p:nvSpPr>
          <p:cNvPr id="42" name="Text 40"/>
          <p:cNvSpPr/>
          <p:nvPr/>
        </p:nvSpPr>
        <p:spPr>
          <a:xfrm>
            <a:off x="6323990" y="1591056"/>
            <a:ext cx="866851" cy="182880"/>
          </a:xfrm>
          <a:prstGeom prst="rect">
            <a:avLst/>
          </a:prstGeom>
          <a:noFill/>
          <a:ln/>
        </p:spPr>
        <p:txBody>
          <a:bodyPr wrap="square" lIns="0" tIns="0" rIns="0" bIns="0" rtlCol="0" anchor="ctr"/>
          <a:lstStyle/>
          <a:p>
            <a:pPr algn="ctr" indent="0" marL="0">
              <a:buNone/>
            </a:pPr>
            <a:r>
              <a:rPr lang="en-US" sz="850" b="1" dirty="0">
                <a:solidFill>
                  <a:srgbClr val="E63946"/>
                </a:solidFill>
              </a:rPr>
              <a:t>$7.3B</a:t>
            </a:r>
            <a:endParaRPr lang="en-US" sz="850" dirty="0"/>
          </a:p>
        </p:txBody>
      </p:sp>
      <p:sp>
        <p:nvSpPr>
          <p:cNvPr id="43" name="Shape 41"/>
          <p:cNvSpPr/>
          <p:nvPr/>
        </p:nvSpPr>
        <p:spPr>
          <a:xfrm>
            <a:off x="7190842" y="1536192"/>
            <a:ext cx="866851" cy="292608"/>
          </a:xfrm>
          <a:prstGeom prst="rect">
            <a:avLst/>
          </a:prstGeom>
          <a:solidFill>
            <a:srgbClr val="F5F8FA"/>
          </a:solidFill>
          <a:ln w="3810">
            <a:solidFill>
              <a:srgbClr val="EEEEEE"/>
            </a:solidFill>
            <a:prstDash val="solid"/>
          </a:ln>
        </p:spPr>
      </p:sp>
      <p:sp>
        <p:nvSpPr>
          <p:cNvPr id="44" name="Text 42"/>
          <p:cNvSpPr/>
          <p:nvPr/>
        </p:nvSpPr>
        <p:spPr>
          <a:xfrm>
            <a:off x="7190842" y="1591056"/>
            <a:ext cx="866851" cy="182880"/>
          </a:xfrm>
          <a:prstGeom prst="rect">
            <a:avLst/>
          </a:prstGeom>
          <a:noFill/>
          <a:ln/>
        </p:spPr>
        <p:txBody>
          <a:bodyPr wrap="square" lIns="0" tIns="0" rIns="0" bIns="0" rtlCol="0" anchor="ctr"/>
          <a:lstStyle/>
          <a:p>
            <a:pPr algn="ctr" indent="0" marL="0">
              <a:buNone/>
            </a:pPr>
            <a:r>
              <a:rPr lang="en-US" sz="850" dirty="0">
                <a:solidFill>
                  <a:srgbClr val="457B9D"/>
                </a:solidFill>
              </a:rPr>
              <a:t>$7.9B</a:t>
            </a:r>
            <a:endParaRPr lang="en-US" sz="850" dirty="0"/>
          </a:p>
        </p:txBody>
      </p:sp>
      <p:sp>
        <p:nvSpPr>
          <p:cNvPr id="45" name="Shape 43"/>
          <p:cNvSpPr/>
          <p:nvPr/>
        </p:nvSpPr>
        <p:spPr>
          <a:xfrm>
            <a:off x="8057693" y="1536192"/>
            <a:ext cx="866851" cy="292608"/>
          </a:xfrm>
          <a:prstGeom prst="rect">
            <a:avLst/>
          </a:prstGeom>
          <a:solidFill>
            <a:srgbClr val="F5F8FA"/>
          </a:solidFill>
          <a:ln w="3810">
            <a:solidFill>
              <a:srgbClr val="EEEEEE"/>
            </a:solidFill>
            <a:prstDash val="solid"/>
          </a:ln>
        </p:spPr>
      </p:sp>
      <p:sp>
        <p:nvSpPr>
          <p:cNvPr id="46" name="Text 44"/>
          <p:cNvSpPr/>
          <p:nvPr/>
        </p:nvSpPr>
        <p:spPr>
          <a:xfrm>
            <a:off x="8057693" y="1591056"/>
            <a:ext cx="866851" cy="182880"/>
          </a:xfrm>
          <a:prstGeom prst="rect">
            <a:avLst/>
          </a:prstGeom>
          <a:noFill/>
          <a:ln/>
        </p:spPr>
        <p:txBody>
          <a:bodyPr wrap="square" lIns="0" tIns="0" rIns="0" bIns="0" rtlCol="0" anchor="ctr"/>
          <a:lstStyle/>
          <a:p>
            <a:pPr algn="ctr" indent="0" marL="0">
              <a:buNone/>
            </a:pPr>
            <a:r>
              <a:rPr lang="en-US" sz="850" dirty="0">
                <a:solidFill>
                  <a:srgbClr val="457B9D"/>
                </a:solidFill>
              </a:rPr>
              <a:t>$8.5B</a:t>
            </a:r>
            <a:endParaRPr lang="en-US" sz="850" dirty="0"/>
          </a:p>
        </p:txBody>
      </p:sp>
      <p:sp>
        <p:nvSpPr>
          <p:cNvPr id="47" name="Shape 45"/>
          <p:cNvSpPr/>
          <p:nvPr/>
        </p:nvSpPr>
        <p:spPr>
          <a:xfrm>
            <a:off x="4590288" y="1865376"/>
            <a:ext cx="866851" cy="292608"/>
          </a:xfrm>
          <a:prstGeom prst="rect">
            <a:avLst/>
          </a:prstGeom>
          <a:solidFill>
            <a:srgbClr val="FFFFFF"/>
          </a:solidFill>
          <a:ln w="3810">
            <a:solidFill>
              <a:srgbClr val="EEEEEE"/>
            </a:solidFill>
            <a:prstDash val="solid"/>
          </a:ln>
        </p:spPr>
      </p:sp>
      <p:sp>
        <p:nvSpPr>
          <p:cNvPr id="48" name="Text 46"/>
          <p:cNvSpPr/>
          <p:nvPr/>
        </p:nvSpPr>
        <p:spPr>
          <a:xfrm>
            <a:off x="4626864" y="1920240"/>
            <a:ext cx="822960" cy="201168"/>
          </a:xfrm>
          <a:prstGeom prst="rect">
            <a:avLst/>
          </a:prstGeom>
          <a:noFill/>
          <a:ln/>
        </p:spPr>
        <p:txBody>
          <a:bodyPr wrap="square" lIns="0" tIns="0" rIns="0" bIns="0" rtlCol="0" anchor="ctr"/>
          <a:lstStyle/>
          <a:p>
            <a:pPr indent="0" marL="0">
              <a:buNone/>
            </a:pPr>
            <a:r>
              <a:rPr lang="en-US" sz="800" b="1" dirty="0">
                <a:solidFill>
                  <a:srgbClr val="5A6472"/>
                </a:solidFill>
              </a:rPr>
              <a:t>Rev Growth</a:t>
            </a:r>
            <a:endParaRPr lang="en-US" sz="800" dirty="0"/>
          </a:p>
        </p:txBody>
      </p:sp>
      <p:sp>
        <p:nvSpPr>
          <p:cNvPr id="49" name="Shape 47"/>
          <p:cNvSpPr/>
          <p:nvPr/>
        </p:nvSpPr>
        <p:spPr>
          <a:xfrm>
            <a:off x="5457139" y="1865376"/>
            <a:ext cx="866851" cy="292608"/>
          </a:xfrm>
          <a:prstGeom prst="rect">
            <a:avLst/>
          </a:prstGeom>
          <a:solidFill>
            <a:srgbClr val="EBF5EE"/>
          </a:solidFill>
          <a:ln w="3810">
            <a:solidFill>
              <a:srgbClr val="EEEEEE"/>
            </a:solidFill>
            <a:prstDash val="solid"/>
          </a:ln>
        </p:spPr>
      </p:sp>
      <p:sp>
        <p:nvSpPr>
          <p:cNvPr id="50" name="Text 48"/>
          <p:cNvSpPr/>
          <p:nvPr/>
        </p:nvSpPr>
        <p:spPr>
          <a:xfrm>
            <a:off x="5457139" y="1920240"/>
            <a:ext cx="866851" cy="182880"/>
          </a:xfrm>
          <a:prstGeom prst="rect">
            <a:avLst/>
          </a:prstGeom>
          <a:noFill/>
          <a:ln/>
        </p:spPr>
        <p:txBody>
          <a:bodyPr wrap="square" lIns="0" tIns="0" rIns="0" bIns="0" rtlCol="0" anchor="ctr"/>
          <a:lstStyle/>
          <a:p>
            <a:pPr algn="ctr" indent="0" marL="0">
              <a:buNone/>
            </a:pPr>
            <a:r>
              <a:rPr lang="en-US" sz="850" b="1" dirty="0">
                <a:solidFill>
                  <a:srgbClr val="1D3557"/>
                </a:solidFill>
              </a:rPr>
              <a:t>+9.3%</a:t>
            </a:r>
            <a:endParaRPr lang="en-US" sz="850" dirty="0"/>
          </a:p>
        </p:txBody>
      </p:sp>
      <p:sp>
        <p:nvSpPr>
          <p:cNvPr id="51" name="Shape 49"/>
          <p:cNvSpPr/>
          <p:nvPr/>
        </p:nvSpPr>
        <p:spPr>
          <a:xfrm>
            <a:off x="6323990" y="1865376"/>
            <a:ext cx="866851" cy="292608"/>
          </a:xfrm>
          <a:prstGeom prst="rect">
            <a:avLst/>
          </a:prstGeom>
          <a:solidFill>
            <a:srgbClr val="FFF0F0"/>
          </a:solidFill>
          <a:ln w="3810">
            <a:solidFill>
              <a:srgbClr val="EEEEEE"/>
            </a:solidFill>
            <a:prstDash val="solid"/>
          </a:ln>
        </p:spPr>
      </p:sp>
      <p:sp>
        <p:nvSpPr>
          <p:cNvPr id="52" name="Text 50"/>
          <p:cNvSpPr/>
          <p:nvPr/>
        </p:nvSpPr>
        <p:spPr>
          <a:xfrm>
            <a:off x="6323990" y="1920240"/>
            <a:ext cx="866851" cy="182880"/>
          </a:xfrm>
          <a:prstGeom prst="rect">
            <a:avLst/>
          </a:prstGeom>
          <a:noFill/>
          <a:ln/>
        </p:spPr>
        <p:txBody>
          <a:bodyPr wrap="square" lIns="0" tIns="0" rIns="0" bIns="0" rtlCol="0" anchor="ctr"/>
          <a:lstStyle/>
          <a:p>
            <a:pPr algn="ctr" indent="0" marL="0">
              <a:buNone/>
            </a:pPr>
            <a:r>
              <a:rPr lang="en-US" sz="850" b="1" dirty="0">
                <a:solidFill>
                  <a:srgbClr val="E63946"/>
                </a:solidFill>
              </a:rPr>
              <a:t>+13.1%</a:t>
            </a:r>
            <a:endParaRPr lang="en-US" sz="850" dirty="0"/>
          </a:p>
        </p:txBody>
      </p:sp>
      <p:sp>
        <p:nvSpPr>
          <p:cNvPr id="53" name="Shape 51"/>
          <p:cNvSpPr/>
          <p:nvPr/>
        </p:nvSpPr>
        <p:spPr>
          <a:xfrm>
            <a:off x="7190842" y="1865376"/>
            <a:ext cx="866851" cy="292608"/>
          </a:xfrm>
          <a:prstGeom prst="rect">
            <a:avLst/>
          </a:prstGeom>
          <a:solidFill>
            <a:srgbClr val="FFFFFF"/>
          </a:solidFill>
          <a:ln w="3810">
            <a:solidFill>
              <a:srgbClr val="EEEEEE"/>
            </a:solidFill>
            <a:prstDash val="solid"/>
          </a:ln>
        </p:spPr>
      </p:sp>
      <p:sp>
        <p:nvSpPr>
          <p:cNvPr id="54" name="Text 52"/>
          <p:cNvSpPr/>
          <p:nvPr/>
        </p:nvSpPr>
        <p:spPr>
          <a:xfrm>
            <a:off x="7190842" y="1920240"/>
            <a:ext cx="866851" cy="182880"/>
          </a:xfrm>
          <a:prstGeom prst="rect">
            <a:avLst/>
          </a:prstGeom>
          <a:noFill/>
          <a:ln/>
        </p:spPr>
        <p:txBody>
          <a:bodyPr wrap="square" lIns="0" tIns="0" rIns="0" bIns="0" rtlCol="0" anchor="ctr"/>
          <a:lstStyle/>
          <a:p>
            <a:pPr algn="ctr" indent="0" marL="0">
              <a:buNone/>
            </a:pPr>
            <a:r>
              <a:rPr lang="en-US" sz="850" dirty="0">
                <a:solidFill>
                  <a:srgbClr val="457B9D"/>
                </a:solidFill>
              </a:rPr>
              <a:t>+8.1%</a:t>
            </a:r>
            <a:endParaRPr lang="en-US" sz="850" dirty="0"/>
          </a:p>
        </p:txBody>
      </p:sp>
      <p:sp>
        <p:nvSpPr>
          <p:cNvPr id="55" name="Shape 53"/>
          <p:cNvSpPr/>
          <p:nvPr/>
        </p:nvSpPr>
        <p:spPr>
          <a:xfrm>
            <a:off x="8057693" y="1865376"/>
            <a:ext cx="866851" cy="292608"/>
          </a:xfrm>
          <a:prstGeom prst="rect">
            <a:avLst/>
          </a:prstGeom>
          <a:solidFill>
            <a:srgbClr val="FFFFFF"/>
          </a:solidFill>
          <a:ln w="3810">
            <a:solidFill>
              <a:srgbClr val="EEEEEE"/>
            </a:solidFill>
            <a:prstDash val="solid"/>
          </a:ln>
        </p:spPr>
      </p:sp>
      <p:sp>
        <p:nvSpPr>
          <p:cNvPr id="56" name="Text 54"/>
          <p:cNvSpPr/>
          <p:nvPr/>
        </p:nvSpPr>
        <p:spPr>
          <a:xfrm>
            <a:off x="8057693" y="1920240"/>
            <a:ext cx="866851" cy="182880"/>
          </a:xfrm>
          <a:prstGeom prst="rect">
            <a:avLst/>
          </a:prstGeom>
          <a:noFill/>
          <a:ln/>
        </p:spPr>
        <p:txBody>
          <a:bodyPr wrap="square" lIns="0" tIns="0" rIns="0" bIns="0" rtlCol="0" anchor="ctr"/>
          <a:lstStyle/>
          <a:p>
            <a:pPr algn="ctr" indent="0" marL="0">
              <a:buNone/>
            </a:pPr>
            <a:r>
              <a:rPr lang="en-US" sz="850" dirty="0">
                <a:solidFill>
                  <a:srgbClr val="457B9D"/>
                </a:solidFill>
              </a:rPr>
              <a:t>+8.2%</a:t>
            </a:r>
            <a:endParaRPr lang="en-US" sz="850" dirty="0"/>
          </a:p>
        </p:txBody>
      </p:sp>
      <p:sp>
        <p:nvSpPr>
          <p:cNvPr id="57" name="Shape 55"/>
          <p:cNvSpPr/>
          <p:nvPr/>
        </p:nvSpPr>
        <p:spPr>
          <a:xfrm>
            <a:off x="4590288" y="2194560"/>
            <a:ext cx="866851" cy="292608"/>
          </a:xfrm>
          <a:prstGeom prst="rect">
            <a:avLst/>
          </a:prstGeom>
          <a:solidFill>
            <a:srgbClr val="F5F8FA"/>
          </a:solidFill>
          <a:ln w="3810">
            <a:solidFill>
              <a:srgbClr val="EEEEEE"/>
            </a:solidFill>
            <a:prstDash val="solid"/>
          </a:ln>
        </p:spPr>
      </p:sp>
      <p:sp>
        <p:nvSpPr>
          <p:cNvPr id="58" name="Text 56"/>
          <p:cNvSpPr/>
          <p:nvPr/>
        </p:nvSpPr>
        <p:spPr>
          <a:xfrm>
            <a:off x="4626864" y="2249424"/>
            <a:ext cx="822960" cy="201168"/>
          </a:xfrm>
          <a:prstGeom prst="rect">
            <a:avLst/>
          </a:prstGeom>
          <a:noFill/>
          <a:ln/>
        </p:spPr>
        <p:txBody>
          <a:bodyPr wrap="square" lIns="0" tIns="0" rIns="0" bIns="0" rtlCol="0" anchor="ctr"/>
          <a:lstStyle/>
          <a:p>
            <a:pPr indent="0" marL="0">
              <a:buNone/>
            </a:pPr>
            <a:r>
              <a:rPr lang="en-US" sz="800" b="1" dirty="0">
                <a:solidFill>
                  <a:srgbClr val="5A6472"/>
                </a:solidFill>
              </a:rPr>
              <a:t>EBITDA Margin</a:t>
            </a:r>
            <a:endParaRPr lang="en-US" sz="800" dirty="0"/>
          </a:p>
        </p:txBody>
      </p:sp>
      <p:sp>
        <p:nvSpPr>
          <p:cNvPr id="59" name="Shape 57"/>
          <p:cNvSpPr/>
          <p:nvPr/>
        </p:nvSpPr>
        <p:spPr>
          <a:xfrm>
            <a:off x="5457139" y="2194560"/>
            <a:ext cx="866851" cy="292608"/>
          </a:xfrm>
          <a:prstGeom prst="rect">
            <a:avLst/>
          </a:prstGeom>
          <a:solidFill>
            <a:srgbClr val="EBF5EE"/>
          </a:solidFill>
          <a:ln w="3810">
            <a:solidFill>
              <a:srgbClr val="EEEEEE"/>
            </a:solidFill>
            <a:prstDash val="solid"/>
          </a:ln>
        </p:spPr>
      </p:sp>
      <p:sp>
        <p:nvSpPr>
          <p:cNvPr id="60" name="Text 58"/>
          <p:cNvSpPr/>
          <p:nvPr/>
        </p:nvSpPr>
        <p:spPr>
          <a:xfrm>
            <a:off x="5457139" y="2249424"/>
            <a:ext cx="866851" cy="182880"/>
          </a:xfrm>
          <a:prstGeom prst="rect">
            <a:avLst/>
          </a:prstGeom>
          <a:noFill/>
          <a:ln/>
        </p:spPr>
        <p:txBody>
          <a:bodyPr wrap="square" lIns="0" tIns="0" rIns="0" bIns="0" rtlCol="0" anchor="ctr"/>
          <a:lstStyle/>
          <a:p>
            <a:pPr algn="ctr" indent="0" marL="0">
              <a:buNone/>
            </a:pPr>
            <a:r>
              <a:rPr lang="en-US" sz="850" b="1" dirty="0">
                <a:solidFill>
                  <a:srgbClr val="1D3557"/>
                </a:solidFill>
              </a:rPr>
              <a:t>33.5%</a:t>
            </a:r>
            <a:endParaRPr lang="en-US" sz="850" dirty="0"/>
          </a:p>
        </p:txBody>
      </p:sp>
      <p:sp>
        <p:nvSpPr>
          <p:cNvPr id="61" name="Shape 59"/>
          <p:cNvSpPr/>
          <p:nvPr/>
        </p:nvSpPr>
        <p:spPr>
          <a:xfrm>
            <a:off x="6323990" y="2194560"/>
            <a:ext cx="866851" cy="292608"/>
          </a:xfrm>
          <a:prstGeom prst="rect">
            <a:avLst/>
          </a:prstGeom>
          <a:solidFill>
            <a:srgbClr val="FFF0F0"/>
          </a:solidFill>
          <a:ln w="3810">
            <a:solidFill>
              <a:srgbClr val="EEEEEE"/>
            </a:solidFill>
            <a:prstDash val="solid"/>
          </a:ln>
        </p:spPr>
      </p:sp>
      <p:sp>
        <p:nvSpPr>
          <p:cNvPr id="62" name="Text 60"/>
          <p:cNvSpPr/>
          <p:nvPr/>
        </p:nvSpPr>
        <p:spPr>
          <a:xfrm>
            <a:off x="6323990" y="2249424"/>
            <a:ext cx="866851" cy="182880"/>
          </a:xfrm>
          <a:prstGeom prst="rect">
            <a:avLst/>
          </a:prstGeom>
          <a:noFill/>
          <a:ln/>
        </p:spPr>
        <p:txBody>
          <a:bodyPr wrap="square" lIns="0" tIns="0" rIns="0" bIns="0" rtlCol="0" anchor="ctr"/>
          <a:lstStyle/>
          <a:p>
            <a:pPr algn="ctr" indent="0" marL="0">
              <a:buNone/>
            </a:pPr>
            <a:r>
              <a:rPr lang="en-US" sz="850" b="1" dirty="0">
                <a:solidFill>
                  <a:srgbClr val="E63946"/>
                </a:solidFill>
              </a:rPr>
              <a:t>31.1%*</a:t>
            </a:r>
            <a:endParaRPr lang="en-US" sz="850" dirty="0"/>
          </a:p>
        </p:txBody>
      </p:sp>
      <p:sp>
        <p:nvSpPr>
          <p:cNvPr id="63" name="Shape 61"/>
          <p:cNvSpPr/>
          <p:nvPr/>
        </p:nvSpPr>
        <p:spPr>
          <a:xfrm>
            <a:off x="7190842" y="2194560"/>
            <a:ext cx="866851" cy="292608"/>
          </a:xfrm>
          <a:prstGeom prst="rect">
            <a:avLst/>
          </a:prstGeom>
          <a:solidFill>
            <a:srgbClr val="F5F8FA"/>
          </a:solidFill>
          <a:ln w="3810">
            <a:solidFill>
              <a:srgbClr val="EEEEEE"/>
            </a:solidFill>
            <a:prstDash val="solid"/>
          </a:ln>
        </p:spPr>
      </p:sp>
      <p:sp>
        <p:nvSpPr>
          <p:cNvPr id="64" name="Text 62"/>
          <p:cNvSpPr/>
          <p:nvPr/>
        </p:nvSpPr>
        <p:spPr>
          <a:xfrm>
            <a:off x="7190842" y="2249424"/>
            <a:ext cx="866851" cy="182880"/>
          </a:xfrm>
          <a:prstGeom prst="rect">
            <a:avLst/>
          </a:prstGeom>
          <a:noFill/>
          <a:ln/>
        </p:spPr>
        <p:txBody>
          <a:bodyPr wrap="square" lIns="0" tIns="0" rIns="0" bIns="0" rtlCol="0" anchor="ctr"/>
          <a:lstStyle/>
          <a:p>
            <a:pPr algn="ctr" indent="0" marL="0">
              <a:buNone/>
            </a:pPr>
            <a:r>
              <a:rPr lang="en-US" sz="850" dirty="0">
                <a:solidFill>
                  <a:srgbClr val="457B9D"/>
                </a:solidFill>
              </a:rPr>
              <a:t>32.5%</a:t>
            </a:r>
            <a:endParaRPr lang="en-US" sz="850" dirty="0"/>
          </a:p>
        </p:txBody>
      </p:sp>
      <p:sp>
        <p:nvSpPr>
          <p:cNvPr id="65" name="Shape 63"/>
          <p:cNvSpPr/>
          <p:nvPr/>
        </p:nvSpPr>
        <p:spPr>
          <a:xfrm>
            <a:off x="8057693" y="2194560"/>
            <a:ext cx="866851" cy="292608"/>
          </a:xfrm>
          <a:prstGeom prst="rect">
            <a:avLst/>
          </a:prstGeom>
          <a:solidFill>
            <a:srgbClr val="F5F8FA"/>
          </a:solidFill>
          <a:ln w="3810">
            <a:solidFill>
              <a:srgbClr val="EEEEEE"/>
            </a:solidFill>
            <a:prstDash val="solid"/>
          </a:ln>
        </p:spPr>
      </p:sp>
      <p:sp>
        <p:nvSpPr>
          <p:cNvPr id="66" name="Text 64"/>
          <p:cNvSpPr/>
          <p:nvPr/>
        </p:nvSpPr>
        <p:spPr>
          <a:xfrm>
            <a:off x="8057693" y="2249424"/>
            <a:ext cx="866851" cy="182880"/>
          </a:xfrm>
          <a:prstGeom prst="rect">
            <a:avLst/>
          </a:prstGeom>
          <a:noFill/>
          <a:ln/>
        </p:spPr>
        <p:txBody>
          <a:bodyPr wrap="square" lIns="0" tIns="0" rIns="0" bIns="0" rtlCol="0" anchor="ctr"/>
          <a:lstStyle/>
          <a:p>
            <a:pPr algn="ctr" indent="0" marL="0">
              <a:buNone/>
            </a:pPr>
            <a:r>
              <a:rPr lang="en-US" sz="850" dirty="0">
                <a:solidFill>
                  <a:srgbClr val="457B9D"/>
                </a:solidFill>
              </a:rPr>
              <a:t>33.0%</a:t>
            </a:r>
            <a:endParaRPr lang="en-US" sz="850" dirty="0"/>
          </a:p>
        </p:txBody>
      </p:sp>
      <p:sp>
        <p:nvSpPr>
          <p:cNvPr id="67" name="Shape 65"/>
          <p:cNvSpPr/>
          <p:nvPr/>
        </p:nvSpPr>
        <p:spPr>
          <a:xfrm>
            <a:off x="4590288" y="2523744"/>
            <a:ext cx="866851" cy="292608"/>
          </a:xfrm>
          <a:prstGeom prst="rect">
            <a:avLst/>
          </a:prstGeom>
          <a:solidFill>
            <a:srgbClr val="FFFFFF"/>
          </a:solidFill>
          <a:ln w="3810">
            <a:solidFill>
              <a:srgbClr val="EEEEEE"/>
            </a:solidFill>
            <a:prstDash val="solid"/>
          </a:ln>
        </p:spPr>
      </p:sp>
      <p:sp>
        <p:nvSpPr>
          <p:cNvPr id="68" name="Text 66"/>
          <p:cNvSpPr/>
          <p:nvPr/>
        </p:nvSpPr>
        <p:spPr>
          <a:xfrm>
            <a:off x="4626864" y="2578608"/>
            <a:ext cx="822960" cy="201168"/>
          </a:xfrm>
          <a:prstGeom prst="rect">
            <a:avLst/>
          </a:prstGeom>
          <a:noFill/>
          <a:ln/>
        </p:spPr>
        <p:txBody>
          <a:bodyPr wrap="square" lIns="0" tIns="0" rIns="0" bIns="0" rtlCol="0" anchor="ctr"/>
          <a:lstStyle/>
          <a:p>
            <a:pPr indent="0" marL="0">
              <a:buNone/>
            </a:pPr>
            <a:r>
              <a:rPr lang="en-US" sz="800" b="1" dirty="0">
                <a:solidFill>
                  <a:srgbClr val="5A6472"/>
                </a:solidFill>
              </a:rPr>
              <a:t>EPS</a:t>
            </a:r>
            <a:endParaRPr lang="en-US" sz="800" dirty="0"/>
          </a:p>
        </p:txBody>
      </p:sp>
      <p:sp>
        <p:nvSpPr>
          <p:cNvPr id="69" name="Shape 67"/>
          <p:cNvSpPr/>
          <p:nvPr/>
        </p:nvSpPr>
        <p:spPr>
          <a:xfrm>
            <a:off x="5457139" y="2523744"/>
            <a:ext cx="866851" cy="292608"/>
          </a:xfrm>
          <a:prstGeom prst="rect">
            <a:avLst/>
          </a:prstGeom>
          <a:solidFill>
            <a:srgbClr val="EBF5EE"/>
          </a:solidFill>
          <a:ln w="3810">
            <a:solidFill>
              <a:srgbClr val="EEEEEE"/>
            </a:solidFill>
            <a:prstDash val="solid"/>
          </a:ln>
        </p:spPr>
      </p:sp>
      <p:sp>
        <p:nvSpPr>
          <p:cNvPr id="70" name="Text 68"/>
          <p:cNvSpPr/>
          <p:nvPr/>
        </p:nvSpPr>
        <p:spPr>
          <a:xfrm>
            <a:off x="5457139" y="2578608"/>
            <a:ext cx="866851" cy="182880"/>
          </a:xfrm>
          <a:prstGeom prst="rect">
            <a:avLst/>
          </a:prstGeom>
          <a:noFill/>
          <a:ln/>
        </p:spPr>
        <p:txBody>
          <a:bodyPr wrap="square" lIns="0" tIns="0" rIns="0" bIns="0" rtlCol="0" anchor="ctr"/>
          <a:lstStyle/>
          <a:p>
            <a:pPr algn="ctr" indent="0" marL="0">
              <a:buNone/>
            </a:pPr>
            <a:r>
              <a:rPr lang="en-US" sz="850" b="1" dirty="0">
                <a:solidFill>
                  <a:srgbClr val="1D3557"/>
                </a:solidFill>
              </a:rPr>
              <a:t>$4.16</a:t>
            </a:r>
            <a:endParaRPr lang="en-US" sz="850" dirty="0"/>
          </a:p>
        </p:txBody>
      </p:sp>
      <p:sp>
        <p:nvSpPr>
          <p:cNvPr id="71" name="Shape 69"/>
          <p:cNvSpPr/>
          <p:nvPr/>
        </p:nvSpPr>
        <p:spPr>
          <a:xfrm>
            <a:off x="6323990" y="2523744"/>
            <a:ext cx="866851" cy="292608"/>
          </a:xfrm>
          <a:prstGeom prst="rect">
            <a:avLst/>
          </a:prstGeom>
          <a:solidFill>
            <a:srgbClr val="FFF0F0"/>
          </a:solidFill>
          <a:ln w="3810">
            <a:solidFill>
              <a:srgbClr val="EEEEEE"/>
            </a:solidFill>
            <a:prstDash val="solid"/>
          </a:ln>
        </p:spPr>
      </p:sp>
      <p:sp>
        <p:nvSpPr>
          <p:cNvPr id="72" name="Text 70"/>
          <p:cNvSpPr/>
          <p:nvPr/>
        </p:nvSpPr>
        <p:spPr>
          <a:xfrm>
            <a:off x="6323990" y="2578608"/>
            <a:ext cx="866851" cy="182880"/>
          </a:xfrm>
          <a:prstGeom prst="rect">
            <a:avLst/>
          </a:prstGeom>
          <a:noFill/>
          <a:ln/>
        </p:spPr>
        <p:txBody>
          <a:bodyPr wrap="square" lIns="0" tIns="0" rIns="0" bIns="0" rtlCol="0" anchor="ctr"/>
          <a:lstStyle/>
          <a:p>
            <a:pPr algn="ctr" indent="0" marL="0">
              <a:buNone/>
            </a:pPr>
            <a:r>
              <a:rPr lang="en-US" sz="850" b="1" dirty="0">
                <a:solidFill>
                  <a:srgbClr val="E63946"/>
                </a:solidFill>
              </a:rPr>
              <a:t>$4.70</a:t>
            </a:r>
            <a:endParaRPr lang="en-US" sz="850" dirty="0"/>
          </a:p>
        </p:txBody>
      </p:sp>
      <p:sp>
        <p:nvSpPr>
          <p:cNvPr id="73" name="Shape 71"/>
          <p:cNvSpPr/>
          <p:nvPr/>
        </p:nvSpPr>
        <p:spPr>
          <a:xfrm>
            <a:off x="7190842" y="2523744"/>
            <a:ext cx="866851" cy="292608"/>
          </a:xfrm>
          <a:prstGeom prst="rect">
            <a:avLst/>
          </a:prstGeom>
          <a:solidFill>
            <a:srgbClr val="FFFFFF"/>
          </a:solidFill>
          <a:ln w="3810">
            <a:solidFill>
              <a:srgbClr val="EEEEEE"/>
            </a:solidFill>
            <a:prstDash val="solid"/>
          </a:ln>
        </p:spPr>
      </p:sp>
      <p:sp>
        <p:nvSpPr>
          <p:cNvPr id="74" name="Text 72"/>
          <p:cNvSpPr/>
          <p:nvPr/>
        </p:nvSpPr>
        <p:spPr>
          <a:xfrm>
            <a:off x="7190842" y="2578608"/>
            <a:ext cx="866851" cy="182880"/>
          </a:xfrm>
          <a:prstGeom prst="rect">
            <a:avLst/>
          </a:prstGeom>
          <a:noFill/>
          <a:ln/>
        </p:spPr>
        <p:txBody>
          <a:bodyPr wrap="square" lIns="0" tIns="0" rIns="0" bIns="0" rtlCol="0" anchor="ctr"/>
          <a:lstStyle/>
          <a:p>
            <a:pPr algn="ctr" indent="0" marL="0">
              <a:buNone/>
            </a:pPr>
            <a:r>
              <a:rPr lang="en-US" sz="850" dirty="0">
                <a:solidFill>
                  <a:srgbClr val="457B9D"/>
                </a:solidFill>
              </a:rPr>
              <a:t>$5.20</a:t>
            </a:r>
            <a:endParaRPr lang="en-US" sz="850" dirty="0"/>
          </a:p>
        </p:txBody>
      </p:sp>
      <p:sp>
        <p:nvSpPr>
          <p:cNvPr id="75" name="Shape 73"/>
          <p:cNvSpPr/>
          <p:nvPr/>
        </p:nvSpPr>
        <p:spPr>
          <a:xfrm>
            <a:off x="8057693" y="2523744"/>
            <a:ext cx="866851" cy="292608"/>
          </a:xfrm>
          <a:prstGeom prst="rect">
            <a:avLst/>
          </a:prstGeom>
          <a:solidFill>
            <a:srgbClr val="FFFFFF"/>
          </a:solidFill>
          <a:ln w="3810">
            <a:solidFill>
              <a:srgbClr val="EEEEEE"/>
            </a:solidFill>
            <a:prstDash val="solid"/>
          </a:ln>
        </p:spPr>
      </p:sp>
      <p:sp>
        <p:nvSpPr>
          <p:cNvPr id="76" name="Text 74"/>
          <p:cNvSpPr/>
          <p:nvPr/>
        </p:nvSpPr>
        <p:spPr>
          <a:xfrm>
            <a:off x="8057693" y="2578608"/>
            <a:ext cx="866851" cy="182880"/>
          </a:xfrm>
          <a:prstGeom prst="rect">
            <a:avLst/>
          </a:prstGeom>
          <a:noFill/>
          <a:ln/>
        </p:spPr>
        <p:txBody>
          <a:bodyPr wrap="square" lIns="0" tIns="0" rIns="0" bIns="0" rtlCol="0" anchor="ctr"/>
          <a:lstStyle/>
          <a:p>
            <a:pPr algn="ctr" indent="0" marL="0">
              <a:buNone/>
            </a:pPr>
            <a:r>
              <a:rPr lang="en-US" sz="850" dirty="0">
                <a:solidFill>
                  <a:srgbClr val="457B9D"/>
                </a:solidFill>
              </a:rPr>
              <a:t>$5.80</a:t>
            </a:r>
            <a:endParaRPr lang="en-US" sz="850" dirty="0"/>
          </a:p>
        </p:txBody>
      </p:sp>
      <p:sp>
        <p:nvSpPr>
          <p:cNvPr id="77" name="Shape 75"/>
          <p:cNvSpPr/>
          <p:nvPr/>
        </p:nvSpPr>
        <p:spPr>
          <a:xfrm>
            <a:off x="4590288" y="2852928"/>
            <a:ext cx="866851" cy="292608"/>
          </a:xfrm>
          <a:prstGeom prst="rect">
            <a:avLst/>
          </a:prstGeom>
          <a:solidFill>
            <a:srgbClr val="F5F8FA"/>
          </a:solidFill>
          <a:ln w="3810">
            <a:solidFill>
              <a:srgbClr val="EEEEEE"/>
            </a:solidFill>
            <a:prstDash val="solid"/>
          </a:ln>
        </p:spPr>
      </p:sp>
      <p:sp>
        <p:nvSpPr>
          <p:cNvPr id="78" name="Text 76"/>
          <p:cNvSpPr/>
          <p:nvPr/>
        </p:nvSpPr>
        <p:spPr>
          <a:xfrm>
            <a:off x="4626864" y="2907792"/>
            <a:ext cx="822960" cy="201168"/>
          </a:xfrm>
          <a:prstGeom prst="rect">
            <a:avLst/>
          </a:prstGeom>
          <a:noFill/>
          <a:ln/>
        </p:spPr>
        <p:txBody>
          <a:bodyPr wrap="square" lIns="0" tIns="0" rIns="0" bIns="0" rtlCol="0" anchor="ctr"/>
          <a:lstStyle/>
          <a:p>
            <a:pPr indent="0" marL="0">
              <a:buNone/>
            </a:pPr>
            <a:r>
              <a:rPr lang="en-US" sz="800" b="1" dirty="0">
                <a:solidFill>
                  <a:srgbClr val="5A6472"/>
                </a:solidFill>
              </a:rPr>
              <a:t>EPS Growth</a:t>
            </a:r>
            <a:endParaRPr lang="en-US" sz="800" dirty="0"/>
          </a:p>
        </p:txBody>
      </p:sp>
      <p:sp>
        <p:nvSpPr>
          <p:cNvPr id="79" name="Shape 77"/>
          <p:cNvSpPr/>
          <p:nvPr/>
        </p:nvSpPr>
        <p:spPr>
          <a:xfrm>
            <a:off x="5457139" y="2852928"/>
            <a:ext cx="866851" cy="292608"/>
          </a:xfrm>
          <a:prstGeom prst="rect">
            <a:avLst/>
          </a:prstGeom>
          <a:solidFill>
            <a:srgbClr val="EBF5EE"/>
          </a:solidFill>
          <a:ln w="3810">
            <a:solidFill>
              <a:srgbClr val="EEEEEE"/>
            </a:solidFill>
            <a:prstDash val="solid"/>
          </a:ln>
        </p:spPr>
      </p:sp>
      <p:sp>
        <p:nvSpPr>
          <p:cNvPr id="80" name="Text 78"/>
          <p:cNvSpPr/>
          <p:nvPr/>
        </p:nvSpPr>
        <p:spPr>
          <a:xfrm>
            <a:off x="5457139" y="2907792"/>
            <a:ext cx="866851" cy="182880"/>
          </a:xfrm>
          <a:prstGeom prst="rect">
            <a:avLst/>
          </a:prstGeom>
          <a:noFill/>
          <a:ln/>
        </p:spPr>
        <p:txBody>
          <a:bodyPr wrap="square" lIns="0" tIns="0" rIns="0" bIns="0" rtlCol="0" anchor="ctr"/>
          <a:lstStyle/>
          <a:p>
            <a:pPr algn="ctr" indent="0" marL="0">
              <a:buNone/>
            </a:pPr>
            <a:r>
              <a:rPr lang="en-US" sz="850" b="1" dirty="0">
                <a:solidFill>
                  <a:srgbClr val="1D3557"/>
                </a:solidFill>
              </a:rPr>
              <a:t>+16.9%</a:t>
            </a:r>
            <a:endParaRPr lang="en-US" sz="850" dirty="0"/>
          </a:p>
        </p:txBody>
      </p:sp>
      <p:sp>
        <p:nvSpPr>
          <p:cNvPr id="81" name="Shape 79"/>
          <p:cNvSpPr/>
          <p:nvPr/>
        </p:nvSpPr>
        <p:spPr>
          <a:xfrm>
            <a:off x="6323990" y="2852928"/>
            <a:ext cx="866851" cy="292608"/>
          </a:xfrm>
          <a:prstGeom prst="rect">
            <a:avLst/>
          </a:prstGeom>
          <a:solidFill>
            <a:srgbClr val="FFF0F0"/>
          </a:solidFill>
          <a:ln w="3810">
            <a:solidFill>
              <a:srgbClr val="EEEEEE"/>
            </a:solidFill>
            <a:prstDash val="solid"/>
          </a:ln>
        </p:spPr>
      </p:sp>
      <p:sp>
        <p:nvSpPr>
          <p:cNvPr id="82" name="Text 80"/>
          <p:cNvSpPr/>
          <p:nvPr/>
        </p:nvSpPr>
        <p:spPr>
          <a:xfrm>
            <a:off x="6323990" y="2907792"/>
            <a:ext cx="866851" cy="182880"/>
          </a:xfrm>
          <a:prstGeom prst="rect">
            <a:avLst/>
          </a:prstGeom>
          <a:noFill/>
          <a:ln/>
        </p:spPr>
        <p:txBody>
          <a:bodyPr wrap="square" lIns="0" tIns="0" rIns="0" bIns="0" rtlCol="0" anchor="ctr"/>
          <a:lstStyle/>
          <a:p>
            <a:pPr algn="ctr" indent="0" marL="0">
              <a:buNone/>
            </a:pPr>
            <a:r>
              <a:rPr lang="en-US" sz="850" b="1" dirty="0">
                <a:solidFill>
                  <a:srgbClr val="E63946"/>
                </a:solidFill>
              </a:rPr>
              <a:t>+12.9%</a:t>
            </a:r>
            <a:endParaRPr lang="en-US" sz="850" dirty="0"/>
          </a:p>
        </p:txBody>
      </p:sp>
      <p:sp>
        <p:nvSpPr>
          <p:cNvPr id="83" name="Shape 81"/>
          <p:cNvSpPr/>
          <p:nvPr/>
        </p:nvSpPr>
        <p:spPr>
          <a:xfrm>
            <a:off x="7190842" y="2852928"/>
            <a:ext cx="866851" cy="292608"/>
          </a:xfrm>
          <a:prstGeom prst="rect">
            <a:avLst/>
          </a:prstGeom>
          <a:solidFill>
            <a:srgbClr val="F5F8FA"/>
          </a:solidFill>
          <a:ln w="3810">
            <a:solidFill>
              <a:srgbClr val="EEEEEE"/>
            </a:solidFill>
            <a:prstDash val="solid"/>
          </a:ln>
        </p:spPr>
      </p:sp>
      <p:sp>
        <p:nvSpPr>
          <p:cNvPr id="84" name="Text 82"/>
          <p:cNvSpPr/>
          <p:nvPr/>
        </p:nvSpPr>
        <p:spPr>
          <a:xfrm>
            <a:off x="7190842" y="2907792"/>
            <a:ext cx="866851" cy="182880"/>
          </a:xfrm>
          <a:prstGeom prst="rect">
            <a:avLst/>
          </a:prstGeom>
          <a:noFill/>
          <a:ln/>
        </p:spPr>
        <p:txBody>
          <a:bodyPr wrap="square" lIns="0" tIns="0" rIns="0" bIns="0" rtlCol="0" anchor="ctr"/>
          <a:lstStyle/>
          <a:p>
            <a:pPr algn="ctr" indent="0" marL="0">
              <a:buNone/>
            </a:pPr>
            <a:r>
              <a:rPr lang="en-US" sz="850" dirty="0">
                <a:solidFill>
                  <a:srgbClr val="457B9D"/>
                </a:solidFill>
              </a:rPr>
              <a:t>+10.6%</a:t>
            </a:r>
            <a:endParaRPr lang="en-US" sz="850" dirty="0"/>
          </a:p>
        </p:txBody>
      </p:sp>
      <p:sp>
        <p:nvSpPr>
          <p:cNvPr id="85" name="Shape 83"/>
          <p:cNvSpPr/>
          <p:nvPr/>
        </p:nvSpPr>
        <p:spPr>
          <a:xfrm>
            <a:off x="8057693" y="2852928"/>
            <a:ext cx="866851" cy="292608"/>
          </a:xfrm>
          <a:prstGeom prst="rect">
            <a:avLst/>
          </a:prstGeom>
          <a:solidFill>
            <a:srgbClr val="F5F8FA"/>
          </a:solidFill>
          <a:ln w="3810">
            <a:solidFill>
              <a:srgbClr val="EEEEEE"/>
            </a:solidFill>
            <a:prstDash val="solid"/>
          </a:ln>
        </p:spPr>
      </p:sp>
      <p:sp>
        <p:nvSpPr>
          <p:cNvPr id="86" name="Text 84"/>
          <p:cNvSpPr/>
          <p:nvPr/>
        </p:nvSpPr>
        <p:spPr>
          <a:xfrm>
            <a:off x="8057693" y="2907792"/>
            <a:ext cx="866851" cy="182880"/>
          </a:xfrm>
          <a:prstGeom prst="rect">
            <a:avLst/>
          </a:prstGeom>
          <a:noFill/>
          <a:ln/>
        </p:spPr>
        <p:txBody>
          <a:bodyPr wrap="square" lIns="0" tIns="0" rIns="0" bIns="0" rtlCol="0" anchor="ctr"/>
          <a:lstStyle/>
          <a:p>
            <a:pPr algn="ctr" indent="0" marL="0">
              <a:buNone/>
            </a:pPr>
            <a:r>
              <a:rPr lang="en-US" sz="850" dirty="0">
                <a:solidFill>
                  <a:srgbClr val="457B9D"/>
                </a:solidFill>
              </a:rPr>
              <a:t>+11.5%</a:t>
            </a:r>
            <a:endParaRPr lang="en-US" sz="850" dirty="0"/>
          </a:p>
        </p:txBody>
      </p:sp>
      <p:sp>
        <p:nvSpPr>
          <p:cNvPr id="87" name="Shape 85"/>
          <p:cNvSpPr/>
          <p:nvPr/>
        </p:nvSpPr>
        <p:spPr>
          <a:xfrm>
            <a:off x="4590288" y="3182112"/>
            <a:ext cx="866851" cy="292608"/>
          </a:xfrm>
          <a:prstGeom prst="rect">
            <a:avLst/>
          </a:prstGeom>
          <a:solidFill>
            <a:srgbClr val="FFFFFF"/>
          </a:solidFill>
          <a:ln w="3810">
            <a:solidFill>
              <a:srgbClr val="EEEEEE"/>
            </a:solidFill>
            <a:prstDash val="solid"/>
          </a:ln>
        </p:spPr>
      </p:sp>
      <p:sp>
        <p:nvSpPr>
          <p:cNvPr id="88" name="Text 86"/>
          <p:cNvSpPr/>
          <p:nvPr/>
        </p:nvSpPr>
        <p:spPr>
          <a:xfrm>
            <a:off x="4626864" y="3236976"/>
            <a:ext cx="822960" cy="201168"/>
          </a:xfrm>
          <a:prstGeom prst="rect">
            <a:avLst/>
          </a:prstGeom>
          <a:noFill/>
          <a:ln/>
        </p:spPr>
        <p:txBody>
          <a:bodyPr wrap="square" lIns="0" tIns="0" rIns="0" bIns="0" rtlCol="0" anchor="ctr"/>
          <a:lstStyle/>
          <a:p>
            <a:pPr indent="0" marL="0">
              <a:buNone/>
            </a:pPr>
            <a:r>
              <a:rPr lang="en-US" sz="800" b="1" dirty="0">
                <a:solidFill>
                  <a:srgbClr val="5A6472"/>
                </a:solidFill>
              </a:rPr>
              <a:t>Dollarcity stores</a:t>
            </a:r>
            <a:endParaRPr lang="en-US" sz="800" dirty="0"/>
          </a:p>
        </p:txBody>
      </p:sp>
      <p:sp>
        <p:nvSpPr>
          <p:cNvPr id="89" name="Shape 87"/>
          <p:cNvSpPr/>
          <p:nvPr/>
        </p:nvSpPr>
        <p:spPr>
          <a:xfrm>
            <a:off x="5457139" y="3182112"/>
            <a:ext cx="866851" cy="292608"/>
          </a:xfrm>
          <a:prstGeom prst="rect">
            <a:avLst/>
          </a:prstGeom>
          <a:solidFill>
            <a:srgbClr val="EBF5EE"/>
          </a:solidFill>
          <a:ln w="3810">
            <a:solidFill>
              <a:srgbClr val="EEEEEE"/>
            </a:solidFill>
            <a:prstDash val="solid"/>
          </a:ln>
        </p:spPr>
      </p:sp>
      <p:sp>
        <p:nvSpPr>
          <p:cNvPr id="90" name="Text 88"/>
          <p:cNvSpPr/>
          <p:nvPr/>
        </p:nvSpPr>
        <p:spPr>
          <a:xfrm>
            <a:off x="5457139" y="3236976"/>
            <a:ext cx="866851" cy="182880"/>
          </a:xfrm>
          <a:prstGeom prst="rect">
            <a:avLst/>
          </a:prstGeom>
          <a:noFill/>
          <a:ln/>
        </p:spPr>
        <p:txBody>
          <a:bodyPr wrap="square" lIns="0" tIns="0" rIns="0" bIns="0" rtlCol="0" anchor="ctr"/>
          <a:lstStyle/>
          <a:p>
            <a:pPr algn="ctr" indent="0" marL="0">
              <a:buNone/>
            </a:pPr>
            <a:r>
              <a:rPr lang="en-US" sz="850" b="1" dirty="0">
                <a:solidFill>
                  <a:srgbClr val="1D3557"/>
                </a:solidFill>
              </a:rPr>
              <a:t>632</a:t>
            </a:r>
            <a:endParaRPr lang="en-US" sz="850" dirty="0"/>
          </a:p>
        </p:txBody>
      </p:sp>
      <p:sp>
        <p:nvSpPr>
          <p:cNvPr id="91" name="Shape 89"/>
          <p:cNvSpPr/>
          <p:nvPr/>
        </p:nvSpPr>
        <p:spPr>
          <a:xfrm>
            <a:off x="6323990" y="3182112"/>
            <a:ext cx="866851" cy="292608"/>
          </a:xfrm>
          <a:prstGeom prst="rect">
            <a:avLst/>
          </a:prstGeom>
          <a:solidFill>
            <a:srgbClr val="FFF0F0"/>
          </a:solidFill>
          <a:ln w="3810">
            <a:solidFill>
              <a:srgbClr val="EEEEEE"/>
            </a:solidFill>
            <a:prstDash val="solid"/>
          </a:ln>
        </p:spPr>
      </p:sp>
      <p:sp>
        <p:nvSpPr>
          <p:cNvPr id="92" name="Text 90"/>
          <p:cNvSpPr/>
          <p:nvPr/>
        </p:nvSpPr>
        <p:spPr>
          <a:xfrm>
            <a:off x="6323990" y="3236976"/>
            <a:ext cx="866851" cy="182880"/>
          </a:xfrm>
          <a:prstGeom prst="rect">
            <a:avLst/>
          </a:prstGeom>
          <a:noFill/>
          <a:ln/>
        </p:spPr>
        <p:txBody>
          <a:bodyPr wrap="square" lIns="0" tIns="0" rIns="0" bIns="0" rtlCol="0" anchor="ctr"/>
          <a:lstStyle/>
          <a:p>
            <a:pPr algn="ctr" indent="0" marL="0">
              <a:buNone/>
            </a:pPr>
            <a:r>
              <a:rPr lang="en-US" sz="850" b="1" dirty="0">
                <a:solidFill>
                  <a:srgbClr val="E63946"/>
                </a:solidFill>
              </a:rPr>
              <a:t>710E</a:t>
            </a:r>
            <a:endParaRPr lang="en-US" sz="850" dirty="0"/>
          </a:p>
        </p:txBody>
      </p:sp>
      <p:sp>
        <p:nvSpPr>
          <p:cNvPr id="93" name="Shape 91"/>
          <p:cNvSpPr/>
          <p:nvPr/>
        </p:nvSpPr>
        <p:spPr>
          <a:xfrm>
            <a:off x="7190842" y="3182112"/>
            <a:ext cx="866851" cy="292608"/>
          </a:xfrm>
          <a:prstGeom prst="rect">
            <a:avLst/>
          </a:prstGeom>
          <a:solidFill>
            <a:srgbClr val="FFFFFF"/>
          </a:solidFill>
          <a:ln w="3810">
            <a:solidFill>
              <a:srgbClr val="EEEEEE"/>
            </a:solidFill>
            <a:prstDash val="solid"/>
          </a:ln>
        </p:spPr>
      </p:sp>
      <p:sp>
        <p:nvSpPr>
          <p:cNvPr id="94" name="Text 92"/>
          <p:cNvSpPr/>
          <p:nvPr/>
        </p:nvSpPr>
        <p:spPr>
          <a:xfrm>
            <a:off x="7190842" y="3236976"/>
            <a:ext cx="866851" cy="182880"/>
          </a:xfrm>
          <a:prstGeom prst="rect">
            <a:avLst/>
          </a:prstGeom>
          <a:noFill/>
          <a:ln/>
        </p:spPr>
        <p:txBody>
          <a:bodyPr wrap="square" lIns="0" tIns="0" rIns="0" bIns="0" rtlCol="0" anchor="ctr"/>
          <a:lstStyle/>
          <a:p>
            <a:pPr algn="ctr" indent="0" marL="0">
              <a:buNone/>
            </a:pPr>
            <a:r>
              <a:rPr lang="en-US" sz="850" dirty="0">
                <a:solidFill>
                  <a:srgbClr val="457B9D"/>
                </a:solidFill>
              </a:rPr>
              <a:t>800E</a:t>
            </a:r>
            <a:endParaRPr lang="en-US" sz="850" dirty="0"/>
          </a:p>
        </p:txBody>
      </p:sp>
      <p:sp>
        <p:nvSpPr>
          <p:cNvPr id="95" name="Shape 93"/>
          <p:cNvSpPr/>
          <p:nvPr/>
        </p:nvSpPr>
        <p:spPr>
          <a:xfrm>
            <a:off x="8057693" y="3182112"/>
            <a:ext cx="866851" cy="292608"/>
          </a:xfrm>
          <a:prstGeom prst="rect">
            <a:avLst/>
          </a:prstGeom>
          <a:solidFill>
            <a:srgbClr val="FFFFFF"/>
          </a:solidFill>
          <a:ln w="3810">
            <a:solidFill>
              <a:srgbClr val="EEEEEE"/>
            </a:solidFill>
            <a:prstDash val="solid"/>
          </a:ln>
        </p:spPr>
      </p:sp>
      <p:sp>
        <p:nvSpPr>
          <p:cNvPr id="96" name="Text 94"/>
          <p:cNvSpPr/>
          <p:nvPr/>
        </p:nvSpPr>
        <p:spPr>
          <a:xfrm>
            <a:off x="8057693" y="3236976"/>
            <a:ext cx="866851" cy="182880"/>
          </a:xfrm>
          <a:prstGeom prst="rect">
            <a:avLst/>
          </a:prstGeom>
          <a:noFill/>
          <a:ln/>
        </p:spPr>
        <p:txBody>
          <a:bodyPr wrap="square" lIns="0" tIns="0" rIns="0" bIns="0" rtlCol="0" anchor="ctr"/>
          <a:lstStyle/>
          <a:p>
            <a:pPr algn="ctr" indent="0" marL="0">
              <a:buNone/>
            </a:pPr>
            <a:r>
              <a:rPr lang="en-US" sz="850" dirty="0">
                <a:solidFill>
                  <a:srgbClr val="457B9D"/>
                </a:solidFill>
              </a:rPr>
              <a:t>900E</a:t>
            </a:r>
            <a:endParaRPr lang="en-US" sz="850" dirty="0"/>
          </a:p>
        </p:txBody>
      </p:sp>
      <p:sp>
        <p:nvSpPr>
          <p:cNvPr id="97" name="Text 95"/>
          <p:cNvSpPr/>
          <p:nvPr/>
        </p:nvSpPr>
        <p:spPr>
          <a:xfrm>
            <a:off x="4700016" y="4114800"/>
            <a:ext cx="4114800" cy="274320"/>
          </a:xfrm>
          <a:prstGeom prst="rect">
            <a:avLst/>
          </a:prstGeom>
          <a:noFill/>
          <a:ln/>
        </p:spPr>
        <p:txBody>
          <a:bodyPr wrap="square" lIns="0" tIns="0" rIns="0" bIns="0" rtlCol="0" anchor="ctr"/>
          <a:lstStyle/>
          <a:p>
            <a:pPr indent="0" marL="0">
              <a:buNone/>
            </a:pPr>
            <a:r>
              <a:rPr lang="en-US" sz="700" i="1" dirty="0">
                <a:solidFill>
                  <a:srgbClr val="5A6472"/>
                </a:solidFill>
              </a:rPr>
              <a:t>*FY2026 margin dip reflects Reject Shop integration. E = analyst consensus. Revenue CAGR 14% exceeds 5% rubric threshold ✓. EPS CAGR 21% exceeds 7% threshold ✓. FY2028E EPS growth +11.5% confirms continued 10%+ shareholder earnings compounding ✓. Shareholder earnings = EPS growth + dividend yield (~1%) = ~22%+ annual compound — well above the 10% benchmark.</a:t>
            </a:r>
            <a:endParaRPr lang="en-US" sz="700" dirty="0"/>
          </a:p>
        </p:txBody>
      </p:sp>
      <p:sp>
        <p:nvSpPr>
          <p:cNvPr id="98" name="Shape 96"/>
          <p:cNvSpPr/>
          <p:nvPr/>
        </p:nvSpPr>
        <p:spPr>
          <a:xfrm>
            <a:off x="201168" y="4114800"/>
            <a:ext cx="4187952" cy="914400"/>
          </a:xfrm>
          <a:prstGeom prst="rect">
            <a:avLst/>
          </a:prstGeom>
          <a:solidFill>
            <a:srgbClr val="1D3557"/>
          </a:solidFill>
          <a:ln w="12700">
            <a:solidFill>
              <a:srgbClr val="1D3557"/>
            </a:solidFill>
            <a:prstDash val="solid"/>
          </a:ln>
        </p:spPr>
      </p:sp>
      <p:sp>
        <p:nvSpPr>
          <p:cNvPr id="99" name="Text 97"/>
          <p:cNvSpPr/>
          <p:nvPr/>
        </p:nvSpPr>
        <p:spPr>
          <a:xfrm>
            <a:off x="310896" y="4187952"/>
            <a:ext cx="3968496" cy="201168"/>
          </a:xfrm>
          <a:prstGeom prst="rect">
            <a:avLst/>
          </a:prstGeom>
          <a:noFill/>
          <a:ln/>
        </p:spPr>
        <p:txBody>
          <a:bodyPr wrap="square" lIns="0" tIns="0" rIns="0" bIns="0" rtlCol="0" anchor="ctr"/>
          <a:lstStyle/>
          <a:p>
            <a:pPr indent="0" marL="0">
              <a:buNone/>
            </a:pPr>
            <a:r>
              <a:rPr lang="en-US" sz="1000" b="1" dirty="0">
                <a:solidFill>
                  <a:srgbClr val="E63946"/>
                </a:solidFill>
              </a:rPr>
              <a:t>The thesis holds if core Canada holds.</a:t>
            </a:r>
            <a:endParaRPr lang="en-US" sz="1000" dirty="0"/>
          </a:p>
        </p:txBody>
      </p:sp>
      <p:sp>
        <p:nvSpPr>
          <p:cNvPr id="100" name="Text 98"/>
          <p:cNvSpPr/>
          <p:nvPr/>
        </p:nvSpPr>
        <p:spPr>
          <a:xfrm>
            <a:off x="310896" y="4389120"/>
            <a:ext cx="3968496" cy="402336"/>
          </a:xfrm>
          <a:prstGeom prst="rect">
            <a:avLst/>
          </a:prstGeom>
          <a:noFill/>
          <a:ln/>
        </p:spPr>
        <p:txBody>
          <a:bodyPr wrap="square" lIns="0" tIns="0" rIns="0" bIns="0" rtlCol="0" anchor="ctr"/>
          <a:lstStyle/>
          <a:p>
            <a:pPr indent="0" marL="0">
              <a:buNone/>
            </a:pPr>
            <a:r>
              <a:rPr lang="en-US" sz="850" dirty="0">
                <a:solidFill>
                  <a:srgbClr val="A8C4DC"/>
                </a:solidFill>
              </a:rPr>
              <a:t>The domestic model has been consistent for 15 years. Risk is concentrated in international execution — Reject Shop integration speed and COGS trajectory.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8F5"/>
        </a:solidFill>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E63946"/>
          </a:solidFill>
          <a:ln w="12700">
            <a:solidFill>
              <a:srgbClr val="E63946"/>
            </a:solidFill>
            <a:prstDash val="solid"/>
          </a:ln>
        </p:spPr>
      </p:sp>
      <p:sp>
        <p:nvSpPr>
          <p:cNvPr id="3" name="Text 1"/>
          <p:cNvSpPr/>
          <p:nvPr/>
        </p:nvSpPr>
        <p:spPr>
          <a:xfrm>
            <a:off x="201168" y="4956048"/>
            <a:ext cx="6400800" cy="146304"/>
          </a:xfrm>
          <a:prstGeom prst="rect">
            <a:avLst/>
          </a:prstGeom>
          <a:noFill/>
          <a:ln/>
        </p:spPr>
        <p:txBody>
          <a:bodyPr wrap="square" lIns="0" tIns="0" rIns="0" bIns="0" rtlCol="0" anchor="ctr"/>
          <a:lstStyle/>
          <a:p>
            <a:pPr indent="0" marL="0">
              <a:buNone/>
            </a:pPr>
            <a:r>
              <a:rPr lang="en-US" sz="650" dirty="0">
                <a:solidFill>
                  <a:srgbClr val="AAAAAA"/>
                </a:solidFill>
              </a:rPr>
              <a:t>MBAN5570  |  Soni &amp; Warner 2025  |  Dollarama Inc. (DOL.TO)</a:t>
            </a:r>
            <a:endParaRPr lang="en-US" sz="650" dirty="0"/>
          </a:p>
        </p:txBody>
      </p:sp>
      <p:sp>
        <p:nvSpPr>
          <p:cNvPr id="4" name="Text 2"/>
          <p:cNvSpPr/>
          <p:nvPr/>
        </p:nvSpPr>
        <p:spPr>
          <a:xfrm>
            <a:off x="7772400" y="4956048"/>
            <a:ext cx="1188720" cy="146304"/>
          </a:xfrm>
          <a:prstGeom prst="rect">
            <a:avLst/>
          </a:prstGeom>
          <a:noFill/>
          <a:ln/>
        </p:spPr>
        <p:txBody>
          <a:bodyPr wrap="square" lIns="0" tIns="0" rIns="0" bIns="0" rtlCol="0" anchor="ctr"/>
          <a:lstStyle/>
          <a:p>
            <a:pPr algn="r" indent="0" marL="0">
              <a:buNone/>
            </a:pPr>
            <a:r>
              <a:rPr lang="en-US" sz="650" dirty="0">
                <a:solidFill>
                  <a:srgbClr val="AAAAAA"/>
                </a:solidFill>
              </a:rPr>
              <a:t>Slide 6 / 6</a:t>
            </a:r>
            <a:endParaRPr lang="en-US" sz="650" dirty="0"/>
          </a:p>
        </p:txBody>
      </p:sp>
      <p:sp>
        <p:nvSpPr>
          <p:cNvPr id="5" name="Shape 3"/>
          <p:cNvSpPr/>
          <p:nvPr/>
        </p:nvSpPr>
        <p:spPr>
          <a:xfrm>
            <a:off x="0" y="164592"/>
            <a:ext cx="91440" cy="292608"/>
          </a:xfrm>
          <a:prstGeom prst="rect">
            <a:avLst/>
          </a:prstGeom>
          <a:solidFill>
            <a:srgbClr val="FFFFFF"/>
          </a:solidFill>
          <a:ln w="12700">
            <a:solidFill>
              <a:srgbClr val="FFFFFF"/>
            </a:solidFill>
            <a:prstDash val="solid"/>
          </a:ln>
        </p:spPr>
      </p:sp>
      <p:sp>
        <p:nvSpPr>
          <p:cNvPr id="6" name="Text 4"/>
          <p:cNvSpPr/>
          <p:nvPr/>
        </p:nvSpPr>
        <p:spPr>
          <a:xfrm>
            <a:off x="0" y="164592"/>
            <a:ext cx="91440" cy="292608"/>
          </a:xfrm>
          <a:prstGeom prst="rect">
            <a:avLst/>
          </a:prstGeom>
          <a:noFill/>
          <a:ln/>
        </p:spPr>
        <p:txBody>
          <a:bodyPr wrap="square" lIns="0" tIns="0" rIns="0" bIns="0" rtlCol="0" anchor="ctr"/>
          <a:lstStyle/>
          <a:p>
            <a:pPr algn="ctr" indent="0" marL="0">
              <a:buNone/>
            </a:pPr>
            <a:r>
              <a:rPr lang="en-US" sz="750" b="1" dirty="0">
                <a:solidFill>
                  <a:srgbClr val="E63946"/>
                </a:solidFill>
              </a:rPr>
              <a:t>6</a:t>
            </a:r>
            <a:endParaRPr lang="en-US" sz="750" dirty="0"/>
          </a:p>
        </p:txBody>
      </p:sp>
      <p:sp>
        <p:nvSpPr>
          <p:cNvPr id="7" name="Text 5"/>
          <p:cNvSpPr/>
          <p:nvPr/>
        </p:nvSpPr>
        <p:spPr>
          <a:xfrm>
            <a:off x="201168" y="91440"/>
            <a:ext cx="7680960" cy="457200"/>
          </a:xfrm>
          <a:prstGeom prst="rect">
            <a:avLst/>
          </a:prstGeom>
          <a:noFill/>
          <a:ln/>
        </p:spPr>
        <p:txBody>
          <a:bodyPr wrap="square" lIns="0" tIns="0" rIns="0" bIns="0" rtlCol="0" anchor="ctr"/>
          <a:lstStyle/>
          <a:p>
            <a:pPr indent="0" marL="0">
              <a:buNone/>
            </a:pPr>
            <a:r>
              <a:rPr lang="en-US" sz="2200" b="1" dirty="0">
                <a:solidFill>
                  <a:srgbClr val="1D3557"/>
                </a:solidFill>
                <a:latin typeface="Georgia" pitchFamily="34" charset="0"/>
                <a:ea typeface="Georgia" pitchFamily="34" charset="-122"/>
                <a:cs typeface="Georgia" pitchFamily="34" charset="-120"/>
              </a:rPr>
              <a:t>AI as Research Tool — Useful, Not Infallible</a:t>
            </a:r>
            <a:endParaRPr lang="en-US" sz="2200" dirty="0"/>
          </a:p>
        </p:txBody>
      </p:sp>
      <p:sp>
        <p:nvSpPr>
          <p:cNvPr id="8" name="Text 6"/>
          <p:cNvSpPr/>
          <p:nvPr/>
        </p:nvSpPr>
        <p:spPr>
          <a:xfrm>
            <a:off x="201168" y="530352"/>
            <a:ext cx="8229600" cy="201168"/>
          </a:xfrm>
          <a:prstGeom prst="rect">
            <a:avLst/>
          </a:prstGeom>
          <a:noFill/>
          <a:ln/>
        </p:spPr>
        <p:txBody>
          <a:bodyPr wrap="square" lIns="0" tIns="0" rIns="0" bIns="0" rtlCol="0" anchor="ctr"/>
          <a:lstStyle/>
          <a:p>
            <a:pPr indent="0" marL="0">
              <a:buNone/>
            </a:pPr>
            <a:r>
              <a:rPr lang="en-US" sz="900" i="1" dirty="0">
                <a:solidFill>
                  <a:srgbClr val="5A6472"/>
                </a:solidFill>
              </a:rPr>
              <a:t>Section 2.C  |  What AI got right | What AI got wrong | What we accepted | What we discarded  |  ~1:00</a:t>
            </a:r>
            <a:endParaRPr lang="en-US" sz="900" dirty="0"/>
          </a:p>
        </p:txBody>
      </p:sp>
      <p:sp>
        <p:nvSpPr>
          <p:cNvPr id="9" name="Shape 7"/>
          <p:cNvSpPr/>
          <p:nvPr/>
        </p:nvSpPr>
        <p:spPr>
          <a:xfrm>
            <a:off x="201168" y="768096"/>
            <a:ext cx="8686800" cy="0"/>
          </a:xfrm>
          <a:prstGeom prst="line">
            <a:avLst/>
          </a:prstGeom>
          <a:noFill/>
          <a:ln w="6350">
            <a:solidFill>
              <a:srgbClr val="D0D0D0"/>
            </a:solidFill>
            <a:prstDash val="solid"/>
          </a:ln>
        </p:spPr>
      </p:sp>
      <p:sp>
        <p:nvSpPr>
          <p:cNvPr id="10" name="Shape 8"/>
          <p:cNvSpPr/>
          <p:nvPr/>
        </p:nvSpPr>
        <p:spPr>
          <a:xfrm>
            <a:off x="201168" y="914400"/>
            <a:ext cx="4206240" cy="877824"/>
          </a:xfrm>
          <a:prstGeom prst="rect">
            <a:avLst/>
          </a:prstGeom>
          <a:solidFill>
            <a:srgbClr val="EBF5EE"/>
          </a:solidFill>
          <a:ln w="10160">
            <a:solidFill>
              <a:srgbClr val="2A9D8F"/>
            </a:solidFill>
            <a:prstDash val="solid"/>
          </a:ln>
        </p:spPr>
      </p:sp>
      <p:sp>
        <p:nvSpPr>
          <p:cNvPr id="11" name="Shape 9"/>
          <p:cNvSpPr/>
          <p:nvPr/>
        </p:nvSpPr>
        <p:spPr>
          <a:xfrm>
            <a:off x="201168" y="914400"/>
            <a:ext cx="54864" cy="877824"/>
          </a:xfrm>
          <a:prstGeom prst="rect">
            <a:avLst/>
          </a:prstGeom>
          <a:solidFill>
            <a:srgbClr val="2A9D8F"/>
          </a:solidFill>
          <a:ln w="12700">
            <a:solidFill>
              <a:srgbClr val="2A9D8F"/>
            </a:solidFill>
            <a:prstDash val="solid"/>
          </a:ln>
        </p:spPr>
      </p:sp>
      <p:sp>
        <p:nvSpPr>
          <p:cNvPr id="12" name="Text 10"/>
          <p:cNvSpPr/>
          <p:nvPr/>
        </p:nvSpPr>
        <p:spPr>
          <a:xfrm>
            <a:off x="329184" y="969264"/>
            <a:ext cx="4005072" cy="164592"/>
          </a:xfrm>
          <a:prstGeom prst="rect">
            <a:avLst/>
          </a:prstGeom>
          <a:noFill/>
          <a:ln/>
        </p:spPr>
        <p:txBody>
          <a:bodyPr wrap="square" lIns="0" tIns="0" rIns="0" bIns="0" rtlCol="0" anchor="ctr"/>
          <a:lstStyle/>
          <a:p>
            <a:pPr indent="0" marL="0">
              <a:buNone/>
            </a:pPr>
            <a:r>
              <a:rPr lang="en-US" sz="800" b="1" spc="100" kern="0" dirty="0">
                <a:solidFill>
                  <a:srgbClr val="2A9D8F"/>
                </a:solidFill>
              </a:rPr>
              <a:t xml:space="preserve">  ACCEPTED</a:t>
            </a:r>
            <a:endParaRPr lang="en-US" sz="800" dirty="0"/>
          </a:p>
        </p:txBody>
      </p:sp>
      <p:sp>
        <p:nvSpPr>
          <p:cNvPr id="13" name="Text 11"/>
          <p:cNvSpPr/>
          <p:nvPr/>
        </p:nvSpPr>
        <p:spPr>
          <a:xfrm>
            <a:off x="329184" y="1115568"/>
            <a:ext cx="4005072" cy="201168"/>
          </a:xfrm>
          <a:prstGeom prst="rect">
            <a:avLst/>
          </a:prstGeom>
          <a:noFill/>
          <a:ln/>
        </p:spPr>
        <p:txBody>
          <a:bodyPr wrap="square" lIns="0" tIns="0" rIns="0" bIns="0" rtlCol="0" anchor="ctr"/>
          <a:lstStyle/>
          <a:p>
            <a:pPr indent="0" marL="0">
              <a:buNone/>
            </a:pPr>
            <a:r>
              <a:rPr lang="en-US" sz="950" b="1" dirty="0">
                <a:solidFill>
                  <a:srgbClr val="1D3557"/>
                </a:solidFill>
              </a:rPr>
              <a:t>EBITDA margin trend detection</a:t>
            </a:r>
            <a:endParaRPr lang="en-US" sz="950" dirty="0"/>
          </a:p>
        </p:txBody>
      </p:sp>
      <p:sp>
        <p:nvSpPr>
          <p:cNvPr id="14" name="Text 12"/>
          <p:cNvSpPr/>
          <p:nvPr/>
        </p:nvSpPr>
        <p:spPr>
          <a:xfrm>
            <a:off x="329184" y="1307592"/>
            <a:ext cx="4005072" cy="438912"/>
          </a:xfrm>
          <a:prstGeom prst="rect">
            <a:avLst/>
          </a:prstGeom>
          <a:noFill/>
          <a:ln/>
        </p:spPr>
        <p:txBody>
          <a:bodyPr wrap="square" lIns="0" tIns="0" rIns="0" bIns="0" rtlCol="0" anchor="ctr"/>
          <a:lstStyle/>
          <a:p>
            <a:pPr indent="0" marL="0">
              <a:buNone/>
            </a:pPr>
            <a:r>
              <a:rPr lang="en-US" sz="800" dirty="0">
                <a:solidFill>
                  <a:srgbClr val="5A6472"/>
                </a:solidFill>
              </a:rPr>
              <a:t>AI correctly identified 5-year margin expansion in every year. Confirmed against Dollarama IR annual reports. Retained as core investment thesis pillar.</a:t>
            </a:r>
            <a:endParaRPr lang="en-US" sz="800" dirty="0"/>
          </a:p>
        </p:txBody>
      </p:sp>
      <p:sp>
        <p:nvSpPr>
          <p:cNvPr id="15" name="Shape 13"/>
          <p:cNvSpPr/>
          <p:nvPr/>
        </p:nvSpPr>
        <p:spPr>
          <a:xfrm>
            <a:off x="4590288" y="914400"/>
            <a:ext cx="4206240" cy="877824"/>
          </a:xfrm>
          <a:prstGeom prst="rect">
            <a:avLst/>
          </a:prstGeom>
          <a:solidFill>
            <a:srgbClr val="FEF0EE"/>
          </a:solidFill>
          <a:ln w="10160">
            <a:solidFill>
              <a:srgbClr val="E63946"/>
            </a:solidFill>
            <a:prstDash val="solid"/>
          </a:ln>
        </p:spPr>
      </p:sp>
      <p:sp>
        <p:nvSpPr>
          <p:cNvPr id="16" name="Shape 14"/>
          <p:cNvSpPr/>
          <p:nvPr/>
        </p:nvSpPr>
        <p:spPr>
          <a:xfrm>
            <a:off x="4590288" y="914400"/>
            <a:ext cx="54864" cy="877824"/>
          </a:xfrm>
          <a:prstGeom prst="rect">
            <a:avLst/>
          </a:prstGeom>
          <a:solidFill>
            <a:srgbClr val="E63946"/>
          </a:solidFill>
          <a:ln w="12700">
            <a:solidFill>
              <a:srgbClr val="E63946"/>
            </a:solidFill>
            <a:prstDash val="solid"/>
          </a:ln>
        </p:spPr>
      </p:sp>
      <p:sp>
        <p:nvSpPr>
          <p:cNvPr id="17" name="Text 15"/>
          <p:cNvSpPr/>
          <p:nvPr/>
        </p:nvSpPr>
        <p:spPr>
          <a:xfrm>
            <a:off x="4718304" y="969264"/>
            <a:ext cx="4005072" cy="164592"/>
          </a:xfrm>
          <a:prstGeom prst="rect">
            <a:avLst/>
          </a:prstGeom>
          <a:noFill/>
          <a:ln/>
        </p:spPr>
        <p:txBody>
          <a:bodyPr wrap="square" lIns="0" tIns="0" rIns="0" bIns="0" rtlCol="0" anchor="ctr"/>
          <a:lstStyle/>
          <a:p>
            <a:pPr indent="0" marL="0">
              <a:buNone/>
            </a:pPr>
            <a:r>
              <a:rPr lang="en-US" sz="800" b="1" spc="100" kern="0" dirty="0">
                <a:solidFill>
                  <a:srgbClr val="E63946"/>
                </a:solidFill>
              </a:rPr>
              <a:t xml:space="preserve">  DISCARDED</a:t>
            </a:r>
            <a:endParaRPr lang="en-US" sz="800" dirty="0"/>
          </a:p>
        </p:txBody>
      </p:sp>
      <p:sp>
        <p:nvSpPr>
          <p:cNvPr id="18" name="Text 16"/>
          <p:cNvSpPr/>
          <p:nvPr/>
        </p:nvSpPr>
        <p:spPr>
          <a:xfrm>
            <a:off x="4718304" y="1115568"/>
            <a:ext cx="4005072" cy="201168"/>
          </a:xfrm>
          <a:prstGeom prst="rect">
            <a:avLst/>
          </a:prstGeom>
          <a:noFill/>
          <a:ln/>
        </p:spPr>
        <p:txBody>
          <a:bodyPr wrap="square" lIns="0" tIns="0" rIns="0" bIns="0" rtlCol="0" anchor="ctr"/>
          <a:lstStyle/>
          <a:p>
            <a:pPr indent="0" marL="0">
              <a:buNone/>
            </a:pPr>
            <a:r>
              <a:rPr lang="en-US" sz="950" b="1" dirty="0">
                <a:solidFill>
                  <a:srgbClr val="1D3557"/>
                </a:solidFill>
              </a:rPr>
              <a:t>ROIC using equity denominator</a:t>
            </a:r>
            <a:endParaRPr lang="en-US" sz="950" dirty="0"/>
          </a:p>
        </p:txBody>
      </p:sp>
      <p:sp>
        <p:nvSpPr>
          <p:cNvPr id="19" name="Text 17"/>
          <p:cNvSpPr/>
          <p:nvPr/>
        </p:nvSpPr>
        <p:spPr>
          <a:xfrm>
            <a:off x="4718304" y="1307592"/>
            <a:ext cx="4005072" cy="438912"/>
          </a:xfrm>
          <a:prstGeom prst="rect">
            <a:avLst/>
          </a:prstGeom>
          <a:noFill/>
          <a:ln/>
        </p:spPr>
        <p:txBody>
          <a:bodyPr wrap="square" lIns="0" tIns="0" rIns="0" bIns="0" rtlCol="0" anchor="ctr"/>
          <a:lstStyle/>
          <a:p>
            <a:pPr indent="0" marL="0">
              <a:buNone/>
            </a:pPr>
            <a:r>
              <a:rPr lang="en-US" sz="800" dirty="0">
                <a:solidFill>
                  <a:srgbClr val="5A6472"/>
                </a:solidFill>
              </a:rPr>
              <a:t>AI used NOPAT/Equity — invalid. Dollarama had negative book equity in FY2022 (buybacks &gt; retained earnings). Replaced with EBIT/(Assets-CL-Cash). Most critical correction in the analysis.</a:t>
            </a:r>
            <a:endParaRPr lang="en-US" sz="800" dirty="0"/>
          </a:p>
        </p:txBody>
      </p:sp>
      <p:sp>
        <p:nvSpPr>
          <p:cNvPr id="20" name="Shape 18"/>
          <p:cNvSpPr/>
          <p:nvPr/>
        </p:nvSpPr>
        <p:spPr>
          <a:xfrm>
            <a:off x="201168" y="1865376"/>
            <a:ext cx="4206240" cy="877824"/>
          </a:xfrm>
          <a:prstGeom prst="rect">
            <a:avLst/>
          </a:prstGeom>
          <a:solidFill>
            <a:srgbClr val="EBF5EE"/>
          </a:solidFill>
          <a:ln w="10160">
            <a:solidFill>
              <a:srgbClr val="2A9D8F"/>
            </a:solidFill>
            <a:prstDash val="solid"/>
          </a:ln>
        </p:spPr>
      </p:sp>
      <p:sp>
        <p:nvSpPr>
          <p:cNvPr id="21" name="Shape 19"/>
          <p:cNvSpPr/>
          <p:nvPr/>
        </p:nvSpPr>
        <p:spPr>
          <a:xfrm>
            <a:off x="201168" y="1865376"/>
            <a:ext cx="54864" cy="877824"/>
          </a:xfrm>
          <a:prstGeom prst="rect">
            <a:avLst/>
          </a:prstGeom>
          <a:solidFill>
            <a:srgbClr val="2A9D8F"/>
          </a:solidFill>
          <a:ln w="12700">
            <a:solidFill>
              <a:srgbClr val="2A9D8F"/>
            </a:solidFill>
            <a:prstDash val="solid"/>
          </a:ln>
        </p:spPr>
      </p:sp>
      <p:sp>
        <p:nvSpPr>
          <p:cNvPr id="22" name="Text 20"/>
          <p:cNvSpPr/>
          <p:nvPr/>
        </p:nvSpPr>
        <p:spPr>
          <a:xfrm>
            <a:off x="329184" y="1920240"/>
            <a:ext cx="4005072" cy="164592"/>
          </a:xfrm>
          <a:prstGeom prst="rect">
            <a:avLst/>
          </a:prstGeom>
          <a:noFill/>
          <a:ln/>
        </p:spPr>
        <p:txBody>
          <a:bodyPr wrap="square" lIns="0" tIns="0" rIns="0" bIns="0" rtlCol="0" anchor="ctr"/>
          <a:lstStyle/>
          <a:p>
            <a:pPr indent="0" marL="0">
              <a:buNone/>
            </a:pPr>
            <a:r>
              <a:rPr lang="en-US" sz="800" b="1" spc="100" kern="0" dirty="0">
                <a:solidFill>
                  <a:srgbClr val="2A9D8F"/>
                </a:solidFill>
              </a:rPr>
              <a:t xml:space="preserve">  ACCEPTED</a:t>
            </a:r>
            <a:endParaRPr lang="en-US" sz="800" dirty="0"/>
          </a:p>
        </p:txBody>
      </p:sp>
      <p:sp>
        <p:nvSpPr>
          <p:cNvPr id="23" name="Text 21"/>
          <p:cNvSpPr/>
          <p:nvPr/>
        </p:nvSpPr>
        <p:spPr>
          <a:xfrm>
            <a:off x="329184" y="2066544"/>
            <a:ext cx="4005072" cy="201168"/>
          </a:xfrm>
          <a:prstGeom prst="rect">
            <a:avLst/>
          </a:prstGeom>
          <a:noFill/>
          <a:ln/>
        </p:spPr>
        <p:txBody>
          <a:bodyPr wrap="square" lIns="0" tIns="0" rIns="0" bIns="0" rtlCol="0" anchor="ctr"/>
          <a:lstStyle/>
          <a:p>
            <a:pPr indent="0" marL="0">
              <a:buNone/>
            </a:pPr>
            <a:r>
              <a:rPr lang="en-US" sz="950" b="1" dirty="0">
                <a:solidFill>
                  <a:srgbClr val="1D3557"/>
                </a:solidFill>
              </a:rPr>
              <a:t>Monte Carlo + NLP sentiment</a:t>
            </a:r>
            <a:endParaRPr lang="en-US" sz="950" dirty="0"/>
          </a:p>
        </p:txBody>
      </p:sp>
      <p:sp>
        <p:nvSpPr>
          <p:cNvPr id="24" name="Text 22"/>
          <p:cNvSpPr/>
          <p:nvPr/>
        </p:nvSpPr>
        <p:spPr>
          <a:xfrm>
            <a:off x="329184" y="2258568"/>
            <a:ext cx="4005072" cy="438912"/>
          </a:xfrm>
          <a:prstGeom prst="rect">
            <a:avLst/>
          </a:prstGeom>
          <a:noFill/>
          <a:ln/>
        </p:spPr>
        <p:txBody>
          <a:bodyPr wrap="square" lIns="0" tIns="0" rIns="0" bIns="0" rtlCol="0" anchor="ctr"/>
          <a:lstStyle/>
          <a:p>
            <a:pPr indent="0" marL="0">
              <a:buNone/>
            </a:pPr>
            <a:r>
              <a:rPr lang="en-US" sz="800" dirty="0">
                <a:solidFill>
                  <a:srgbClr val="5A6472"/>
                </a:solidFill>
              </a:rPr>
              <a:t>Monte Carlo: methodologically sound, 5,000 paths, validated bounds. NLP: polarity scoring on 5 real earnings call transcripts. Both accepted as supplementary, not primary drivers.</a:t>
            </a:r>
            <a:endParaRPr lang="en-US" sz="800" dirty="0"/>
          </a:p>
        </p:txBody>
      </p:sp>
      <p:sp>
        <p:nvSpPr>
          <p:cNvPr id="25" name="Shape 23"/>
          <p:cNvSpPr/>
          <p:nvPr/>
        </p:nvSpPr>
        <p:spPr>
          <a:xfrm>
            <a:off x="4590288" y="1865376"/>
            <a:ext cx="4206240" cy="877824"/>
          </a:xfrm>
          <a:prstGeom prst="rect">
            <a:avLst/>
          </a:prstGeom>
          <a:solidFill>
            <a:srgbClr val="FEF0EE"/>
          </a:solidFill>
          <a:ln w="10160">
            <a:solidFill>
              <a:srgbClr val="E63946"/>
            </a:solidFill>
            <a:prstDash val="solid"/>
          </a:ln>
        </p:spPr>
      </p:sp>
      <p:sp>
        <p:nvSpPr>
          <p:cNvPr id="26" name="Shape 24"/>
          <p:cNvSpPr/>
          <p:nvPr/>
        </p:nvSpPr>
        <p:spPr>
          <a:xfrm>
            <a:off x="4590288" y="1865376"/>
            <a:ext cx="54864" cy="877824"/>
          </a:xfrm>
          <a:prstGeom prst="rect">
            <a:avLst/>
          </a:prstGeom>
          <a:solidFill>
            <a:srgbClr val="E63946"/>
          </a:solidFill>
          <a:ln w="12700">
            <a:solidFill>
              <a:srgbClr val="E63946"/>
            </a:solidFill>
            <a:prstDash val="solid"/>
          </a:ln>
        </p:spPr>
      </p:sp>
      <p:sp>
        <p:nvSpPr>
          <p:cNvPr id="27" name="Text 25"/>
          <p:cNvSpPr/>
          <p:nvPr/>
        </p:nvSpPr>
        <p:spPr>
          <a:xfrm>
            <a:off x="4718304" y="1920240"/>
            <a:ext cx="4005072" cy="164592"/>
          </a:xfrm>
          <a:prstGeom prst="rect">
            <a:avLst/>
          </a:prstGeom>
          <a:noFill/>
          <a:ln/>
        </p:spPr>
        <p:txBody>
          <a:bodyPr wrap="square" lIns="0" tIns="0" rIns="0" bIns="0" rtlCol="0" anchor="ctr"/>
          <a:lstStyle/>
          <a:p>
            <a:pPr indent="0" marL="0">
              <a:buNone/>
            </a:pPr>
            <a:r>
              <a:rPr lang="en-US" sz="800" b="1" spc="100" kern="0" dirty="0">
                <a:solidFill>
                  <a:srgbClr val="E63946"/>
                </a:solidFill>
              </a:rPr>
              <a:t xml:space="preserve">  DISCARDED</a:t>
            </a:r>
            <a:endParaRPr lang="en-US" sz="800" dirty="0"/>
          </a:p>
        </p:txBody>
      </p:sp>
      <p:sp>
        <p:nvSpPr>
          <p:cNvPr id="28" name="Text 26"/>
          <p:cNvSpPr/>
          <p:nvPr/>
        </p:nvSpPr>
        <p:spPr>
          <a:xfrm>
            <a:off x="4718304" y="2066544"/>
            <a:ext cx="4005072" cy="201168"/>
          </a:xfrm>
          <a:prstGeom prst="rect">
            <a:avLst/>
          </a:prstGeom>
          <a:noFill/>
          <a:ln/>
        </p:spPr>
        <p:txBody>
          <a:bodyPr wrap="square" lIns="0" tIns="0" rIns="0" bIns="0" rtlCol="0" anchor="ctr"/>
          <a:lstStyle/>
          <a:p>
            <a:pPr indent="0" marL="0">
              <a:buNone/>
            </a:pPr>
            <a:r>
              <a:rPr lang="en-US" sz="950" b="1" dirty="0">
                <a:solidFill>
                  <a:srgbClr val="1D3557"/>
                </a:solidFill>
              </a:rPr>
              <a:t>Altman Z-Score as distress signal</a:t>
            </a:r>
            <a:endParaRPr lang="en-US" sz="950" dirty="0"/>
          </a:p>
        </p:txBody>
      </p:sp>
      <p:sp>
        <p:nvSpPr>
          <p:cNvPr id="29" name="Text 27"/>
          <p:cNvSpPr/>
          <p:nvPr/>
        </p:nvSpPr>
        <p:spPr>
          <a:xfrm>
            <a:off x="4718304" y="2258568"/>
            <a:ext cx="4005072" cy="438912"/>
          </a:xfrm>
          <a:prstGeom prst="rect">
            <a:avLst/>
          </a:prstGeom>
          <a:noFill/>
          <a:ln/>
        </p:spPr>
        <p:txBody>
          <a:bodyPr wrap="square" lIns="0" tIns="0" rIns="0" bIns="0" rtlCol="0" anchor="ctr"/>
          <a:lstStyle/>
          <a:p>
            <a:pPr indent="0" marL="0">
              <a:buNone/>
            </a:pPr>
            <a:r>
              <a:rPr lang="en-US" sz="800" dirty="0">
                <a:solidFill>
                  <a:srgbClr val="5A6472"/>
                </a:solidFill>
              </a:rPr>
              <a:t>AI generated Z &gt; 10 ('Safe Zone'). Discarded: calibrated on 1960s US manufacturers — inapplicable to a Canadian IFRS 16 retailer. Score reflects asset turnover, not solvency.</a:t>
            </a:r>
            <a:endParaRPr lang="en-US" sz="800" dirty="0"/>
          </a:p>
        </p:txBody>
      </p:sp>
      <p:sp>
        <p:nvSpPr>
          <p:cNvPr id="30" name="Shape 28"/>
          <p:cNvSpPr/>
          <p:nvPr/>
        </p:nvSpPr>
        <p:spPr>
          <a:xfrm>
            <a:off x="201168" y="2852928"/>
            <a:ext cx="8723376" cy="457200"/>
          </a:xfrm>
          <a:prstGeom prst="rect">
            <a:avLst/>
          </a:prstGeom>
          <a:solidFill>
            <a:srgbClr val="EBF0F5"/>
          </a:solidFill>
          <a:ln w="6350">
            <a:solidFill>
              <a:srgbClr val="457B9D"/>
            </a:solidFill>
            <a:prstDash val="solid"/>
          </a:ln>
        </p:spPr>
      </p:sp>
      <p:sp>
        <p:nvSpPr>
          <p:cNvPr id="31" name="Text 29"/>
          <p:cNvSpPr/>
          <p:nvPr/>
        </p:nvSpPr>
        <p:spPr>
          <a:xfrm>
            <a:off x="310896" y="2926080"/>
            <a:ext cx="8503920" cy="274320"/>
          </a:xfrm>
          <a:prstGeom prst="rect">
            <a:avLst/>
          </a:prstGeom>
          <a:noFill/>
          <a:ln/>
        </p:spPr>
        <p:txBody>
          <a:bodyPr wrap="square" lIns="0" tIns="0" rIns="0" bIns="0" rtlCol="0" anchor="ctr"/>
          <a:lstStyle/>
          <a:p>
            <a:pPr indent="0" marL="0">
              <a:buNone/>
            </a:pPr>
            <a:r>
              <a:rPr lang="en-US" sz="1000" dirty="0">
                <a:solidFill>
                  <a:srgbClr val="1D3557"/>
                </a:solidFill>
              </a:rPr>
              <a:t>The principle:  AI accelerates research. It compresses weeks into hours. But judgment, accounting discipline, and context cannot be delegated.</a:t>
            </a:r>
            <a:endParaRPr lang="en-US" sz="1000" dirty="0"/>
          </a:p>
        </p:txBody>
      </p:sp>
      <p:sp>
        <p:nvSpPr>
          <p:cNvPr id="32" name="Shape 30"/>
          <p:cNvSpPr/>
          <p:nvPr/>
        </p:nvSpPr>
        <p:spPr>
          <a:xfrm>
            <a:off x="201168" y="3401568"/>
            <a:ext cx="8723376" cy="1536192"/>
          </a:xfrm>
          <a:prstGeom prst="rect">
            <a:avLst/>
          </a:prstGeom>
          <a:solidFill>
            <a:srgbClr val="1D3557"/>
          </a:solidFill>
          <a:ln w="12700">
            <a:solidFill>
              <a:srgbClr val="1D3557"/>
            </a:solidFill>
            <a:prstDash val="solid"/>
          </a:ln>
        </p:spPr>
      </p:sp>
      <p:sp>
        <p:nvSpPr>
          <p:cNvPr id="33" name="Text 31"/>
          <p:cNvSpPr/>
          <p:nvPr/>
        </p:nvSpPr>
        <p:spPr>
          <a:xfrm>
            <a:off x="329184" y="3474720"/>
            <a:ext cx="1005840" cy="585216"/>
          </a:xfrm>
          <a:prstGeom prst="rect">
            <a:avLst/>
          </a:prstGeom>
          <a:noFill/>
          <a:ln/>
        </p:spPr>
        <p:txBody>
          <a:bodyPr wrap="square" lIns="0" tIns="0" rIns="0" bIns="0" rtlCol="0" anchor="ctr"/>
          <a:lstStyle/>
          <a:p>
            <a:pPr indent="0" marL="0">
              <a:buNone/>
            </a:pPr>
            <a:r>
              <a:rPr lang="en-US" sz="3400" b="1" dirty="0">
                <a:solidFill>
                  <a:srgbClr val="E63946"/>
                </a:solidFill>
                <a:latin typeface="Georgia" pitchFamily="34" charset="0"/>
                <a:ea typeface="Georgia" pitchFamily="34" charset="-122"/>
                <a:cs typeface="Georgia" pitchFamily="34" charset="-120"/>
              </a:rPr>
              <a:t>BUY</a:t>
            </a:r>
            <a:endParaRPr lang="en-US" sz="3400" dirty="0"/>
          </a:p>
        </p:txBody>
      </p:sp>
      <p:sp>
        <p:nvSpPr>
          <p:cNvPr id="34" name="Shape 32"/>
          <p:cNvSpPr/>
          <p:nvPr/>
        </p:nvSpPr>
        <p:spPr>
          <a:xfrm>
            <a:off x="1371600" y="3566160"/>
            <a:ext cx="0" cy="420624"/>
          </a:xfrm>
          <a:prstGeom prst="line">
            <a:avLst/>
          </a:prstGeom>
          <a:noFill/>
          <a:ln w="12700">
            <a:solidFill>
              <a:srgbClr val="2A4D6B"/>
            </a:solidFill>
            <a:prstDash val="solid"/>
          </a:ln>
        </p:spPr>
      </p:sp>
      <p:sp>
        <p:nvSpPr>
          <p:cNvPr id="35" name="Text 33"/>
          <p:cNvSpPr/>
          <p:nvPr/>
        </p:nvSpPr>
        <p:spPr>
          <a:xfrm>
            <a:off x="1517904" y="3474720"/>
            <a:ext cx="4114800" cy="27432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Dollarama Inc. (DOL.TO)</a:t>
            </a:r>
            <a:endParaRPr lang="en-US" sz="1600" dirty="0"/>
          </a:p>
        </p:txBody>
      </p:sp>
      <p:sp>
        <p:nvSpPr>
          <p:cNvPr id="36" name="Text 34"/>
          <p:cNvSpPr/>
          <p:nvPr/>
        </p:nvSpPr>
        <p:spPr>
          <a:xfrm>
            <a:off x="1517904" y="3749040"/>
            <a:ext cx="7278624" cy="201168"/>
          </a:xfrm>
          <a:prstGeom prst="rect">
            <a:avLst/>
          </a:prstGeom>
          <a:noFill/>
          <a:ln/>
        </p:spPr>
        <p:txBody>
          <a:bodyPr wrap="square" lIns="0" tIns="0" rIns="0" bIns="0" rtlCol="0" anchor="ctr"/>
          <a:lstStyle/>
          <a:p>
            <a:pPr indent="0" marL="0">
              <a:buNone/>
            </a:pPr>
            <a:r>
              <a:rPr lang="en-US" sz="900" dirty="0">
                <a:solidFill>
                  <a:srgbClr val="A8C4DC"/>
                </a:solidFill>
              </a:rPr>
              <a:t>Target $212 CAD  |  ~25% implied upside  |  ROIC ~30% vs WACC 9%  |  Three growth platforms</a:t>
            </a:r>
            <a:endParaRPr lang="en-US" sz="900" dirty="0"/>
          </a:p>
        </p:txBody>
      </p:sp>
      <p:sp>
        <p:nvSpPr>
          <p:cNvPr id="37" name="Text 35"/>
          <p:cNvSpPr/>
          <p:nvPr/>
        </p:nvSpPr>
        <p:spPr>
          <a:xfrm>
            <a:off x="1517904" y="3968496"/>
            <a:ext cx="7278624" cy="219456"/>
          </a:xfrm>
          <a:prstGeom prst="rect">
            <a:avLst/>
          </a:prstGeom>
          <a:noFill/>
          <a:ln/>
        </p:spPr>
        <p:txBody>
          <a:bodyPr wrap="square" lIns="0" tIns="0" rIns="0" bIns="0" rtlCol="0" anchor="ctr"/>
          <a:lstStyle/>
          <a:p>
            <a:pPr indent="0" marL="0">
              <a:buNone/>
            </a:pPr>
            <a:r>
              <a:rPr lang="en-US" sz="850" i="1" dirty="0">
                <a:solidFill>
                  <a:srgbClr val="6A8FA8"/>
                </a:solidFill>
              </a:rPr>
              <a:t>Risk acknowledgment: thesis is most sensitive to Reject Shop margin recovery timeline and multiple compression in a market re-rating scenario.</a:t>
            </a:r>
            <a:endParaRPr lang="en-US" sz="850" dirty="0"/>
          </a:p>
        </p:txBody>
      </p:sp>
      <p:sp>
        <p:nvSpPr>
          <p:cNvPr id="38" name="Text 36"/>
          <p:cNvSpPr/>
          <p:nvPr/>
        </p:nvSpPr>
        <p:spPr>
          <a:xfrm>
            <a:off x="6858000" y="4626864"/>
            <a:ext cx="1883664" cy="164592"/>
          </a:xfrm>
          <a:prstGeom prst="rect">
            <a:avLst/>
          </a:prstGeom>
          <a:noFill/>
          <a:ln/>
        </p:spPr>
        <p:txBody>
          <a:bodyPr wrap="square" lIns="0" tIns="0" rIns="0" bIns="0" rtlCol="0" anchor="ctr"/>
          <a:lstStyle/>
          <a:p>
            <a:pPr algn="r" indent="0" marL="0">
              <a:buNone/>
            </a:pPr>
            <a:r>
              <a:rPr lang="en-US" sz="700" i="1" dirty="0">
                <a:solidFill>
                  <a:srgbClr val="2A4D6B"/>
                </a:solidFill>
              </a:rPr>
              <a:t>Academic project — not financial advice  |  Soni &amp; Warner 2025</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Dollarama Inc. — Equity Research MBAN5570</dc:title>
  <dc:subject>PptxGenJS Presentation</dc:subject>
  <dc:creator>Soni &amp; Warner</dc:creator>
  <cp:lastModifiedBy>Soni &amp; Warner</cp:lastModifiedBy>
  <cp:revision>1</cp:revision>
  <dcterms:created xsi:type="dcterms:W3CDTF">2026-04-02T17:10:25Z</dcterms:created>
  <dcterms:modified xsi:type="dcterms:W3CDTF">2026-04-02T17:10:25Z</dcterms:modified>
</cp:coreProperties>
</file>