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I'm going to walk you through an equity research dashboard I built for Dollarama — the Canadian dollar-store chain that trades on the TSX under the ticker DOL.TO.
This isn't just a pretty chart collection. It's a full professional-grade analysis tool that does exactly what an equity analyst at a bank or hedge fund would do — collect financial data, run valuation models, and present a clear investment thesis.
By the end of this presentation, you'll understand every number you see in that dashboard, where it comes from, and what it means for investors. Let's start with the big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has three jobs.
First, it collects data. It connects to Yahoo Finance through a Python library called yfinance — totally free, no account needed. You get five years of annual financials for Dollarama with about three lines of code. Alternatively, if you have a university WRDS account, it can pull directly from Compustat, which is the gold standard institutional database.
Second, it transforms that data. Every single metric — EBITDA, free cash flow, ROIC, enterprise value — is calculated from the raw accounting numbers. I'll show you every formula.
Third, it visualises everything across nine tabs. And crucially, there's a raw data tab where every number traces back to its source. No black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Dollarama specifically?
Partly because it's a great business — and great businesses are the best teaching material. When the numbers tell a clear, coherent story, you can see how the financial statements link together.
But there's also a gotcha that makes it perfect for learning. Dollarama's common equity — which is the shareholders' equity line on the balance sheet — is NEGATIVE. About negative $848 million. That sounds alarming until you understand why: the company has bought back so many of its own shares over the years that the buybacks exceed the retained earnings. The company is financially strong, but the balance sheet looks weird if you don't understand what's happening.
This kind of nuance is exactly what professional analysis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system is a four-step pipeline.
Step one: a data source. We either call yfinance — which returns a pandas DataFrame of Yahoo Finance data — or we connect to WRDS Compustat via a database connection. Both feed the same internal column names.
Step two: raw accounting columns. These are standard Compustat variable names. revt is revenue, cogs is cost of goods sold, ni is net income, and so on. We pull about 20 of these.
Step three: the process_dol function. This is the heart of the code. It takes those 20 raw columns and derives every metric we need — EBITDA, FCF, ROIC, margins, multiples. Everything.
Step four: charts and tables across nine tabs. Critically, every chart can be traced back to the raw columns in Tab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go through the actual formulas. This is the most important slide.
In the Profitability group: Gross profit is simply revenue minus the cost of the goods. EBITDA adds back depreciation — because depreciation is a non-cash accounting charge, not real cash going out the door. EBIT keeps the depreciation charge in.
In the Cash &amp; Returns group: Free cash flow is operating cash flow minus capital expenditure. This is the real cash the business generates after paying to maintain and grow itself. ROIC divides the after-tax operating profit by invested capital — it's the single best measure of business quality.
In the Valuation group: Enterprise Value is market cap plus net debt, because when you buy a company you also take on its debt. EV/EBITDA is the standard multiple used to compare retailers.
All of this comes from about 20 raw numbers from the financial statements. That's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ROIC is the single most important metric in this whole dashboard, so I want to spend a moment on it.
ROIC answers one question: for every dollar of capital deployed in this business, how many dollars of after-tax operating profit does it earn?
The bar chart here shows Dollarama's ROIC rising from about 22% in FY2020 to 38% in FY2024. The red line is the WACC — the weighted average cost of capital, which is about 7.8%. That's the hurdle rate: the minimum return that debt and equity investors require.
When ROIC exceeds WACC, the company is creating genuine economic value — earning more than it costs to fund itself. Dollarama's value spread of about 30 percentage points is one of the highest of any major Canadian retailer. This is the core of the investment thesis.
And note the negative equity point. Dollarama's balance sheet shows negative common equity because buybacks have accumulated to more than retained earnings. This looks alarming but is actually a sign of capital discipline. Because equity is negative, we can't use it as our capital base — so we use total assets minus current liabilities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has nine tabs, each answering a different part of the investment question.
Tabs 1 and 2 cover the historical record — how the company has actually performed over the last five years.
Tab 3 is peer comparison. This is crucial because valuation is always relative. Dollarama looks expensive in absolute terms, but relative to Dollar Tree and Dollar General with superior ROIC and growth, the premium is arguable.
Tab 4 is the DCF model. You can move the WACC and growth sliders and the entire model recalculates instantly. This is the most interactive part of the dashboard.
Tab 5 is the Monte Carlo. Instead of one valuation, you get a probability distribution of 10,000 valuations with randomised inputs. This is professional-grade uncertainty quantification.
Tab 9 is the audit trail. Every single number in any chart can be traced back to the raw Compustat columns in Tab 9. This is what separates rigorous analysis from just downloading numbers from somewhere.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has two valuation tools — a DCF and a Monte Carlo.
The DCF is a seven-step calculation. Take last year's free cash flow of $1.2 billion. Grow it at, say, 7% per year for five years. Calculate a terminal value using the Gordon Growth Model — that's just cash flow divided by WACC minus terminal growth rate. Discount everything back to today. Subtract net debt. Divide by shares. You get a per-share intrinsic value.
The problem with a DCF is that it's a single point estimate. Change the WACC by 1% and the answer changes dramatically. That's where Monte Carlo comes in.
Instead of one answer, Monte Carlo runs 10,000 scenarios. In each one, WACC is randomly drawn from a normal distribution, terminal growth from a triangular distribution, revenue growth from a triangular distribution. The result is a probability distribution of outcomes.
So instead of saying "the stock is worth $125", we say "there's a 58% probability the stock is worth more than our $135 target." That's a far more honest and useful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headline findings from FY2024.
Revenue hit $6 billion Canadian — up from $3.8 billion just four years ago. That's a 12% compound annual growth rate. EBITDA margin expanded to 32.7%, which means for every dollar of revenue, over 32 cents drops down to EBITDA. ROIC is approximately 38%. And diluted EPS came in at $4.40.
The investment thesis rests on that ROIC story combined with a clear growth runway. Dollarama can still add stores — it is meaningfully underpenetrated in Western Canada compared to Quebec. And Dollarcity, its Latin American affiliate, offers international upside.
The balance sheet looks weird because equity is negative, but the leverage ratio of about 1x Net Debt/EBITDA is actually quite conservative for a retailer of this quality.
The risks are real — FX on imports, labour cost pressure — but the business model's simplicity and defensive characteristics mitigate them.
With our DCF and comps analysis pointing to around $125–$135, against a current price of around $107.50, we have a BUY with 25% upside.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dashboard is genuinely simple.
Step one: install the packages. It's one pip install command with about eight library names. If you're using Anaconda, this works in the Anaconda prompt too.
Step two: run streamlit run dollarama_app.py. Streamlit is a Python library that turns a Python script into a web app automatically. It opens a browser tab at localhost 8501.
Step three: in the sidebar, select "yfinance (Live)". That's it — no account, no API key, no password. Within a few seconds, the dashboard is populated with live data from Yahoo Finance.
Step four: start moving sliders. The WACC slider, the terminal growth slider, the revenue growth slider — every change instantly updates the DCF model, the sensitivity heatmap, and the Monte Carlo distribution.
And whenever you see a number and wonder where it came from, go to Tab 9. Everything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leave you with five exercises that I think will genuinely deepen your understanding.
The first two are beginner level. Calculate EBITDA by hand from the raw numbers — this forces you to really understand what EBITDA is, not just memorise the name. Then do a WACC sensitivity analysis — move the slider from 6.5% to 9.5% and see how dramatically the DCF changes. This will give you a permanent intuition for why WACC is so hotly debated.
Exercises three and four are intermediate. Write a note explaining why negative equity doesn't mean financial distress — this tests whether you really understand the capital structure. Then write a note on whether the valuation premium to Dollar Tree and Dollar General is justified.
Exercise five is advanced: add a new metric to the code. FCF yield — free cash flow divided by market cap. This teaches you how the entire pipeline works from raw data to displayed chart.
These exercises move you from being someone who looks at a dashboard to someone who can build one and explain every number in it. That's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close by summarising what you've actually learned through this dashboard.
You can now explain where every number in an equity research dashboard comes from — not "it came from a website" but the actual Compustat column or Yahoo Finance line item and the formula applied to it.
You can calculate EBITDA, ROIC, free cash flow, and enterprise value from scratch.
You can run and interpret a DCF model, and you understand why a single point estimate is less useful than a Monte Carlo distribution.
You understand why ROIC above WACC is the fundamental definition of a good business.
And critically — you can connect to live financial data using Python. That skill is genuinely useful whether you go into finance, consulting, data science, or any field that deals with business analysis.
The files are all there: the Streamlit app, the learning guide Word document, and the WRDS export script. The best thing you can do now is pick a company you're curious about, modify the code, and build your own analysis.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E1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F35"/>
          </a:solidFill>
          <a:ln w="12700">
            <a:solidFill>
              <a:srgbClr val="0D1F35"/>
            </a:solidFill>
            <a:prstDash val="solid"/>
          </a:ln>
        </p:spPr>
      </p:sp>
      <p:sp>
        <p:nvSpPr>
          <p:cNvPr id="3" name="Shape 1"/>
          <p:cNvSpPr/>
          <p:nvPr/>
        </p:nvSpPr>
        <p:spPr>
          <a:xfrm>
            <a:off x="0" y="0"/>
            <a:ext cx="164592" cy="5143500"/>
          </a:xfrm>
          <a:prstGeom prst="rect">
            <a:avLst/>
          </a:prstGeom>
          <a:solidFill>
            <a:srgbClr val="0D9E9E"/>
          </a:solidFill>
          <a:ln w="12700">
            <a:solidFill>
              <a:srgbClr val="0D9E9E"/>
            </a:solidFill>
            <a:prstDash val="solid"/>
          </a:ln>
        </p:spPr>
      </p:sp>
      <p:sp>
        <p:nvSpPr>
          <p:cNvPr id="4" name="Shape 2"/>
          <p:cNvSpPr/>
          <p:nvPr/>
        </p:nvSpPr>
        <p:spPr>
          <a:xfrm>
            <a:off x="5669280" y="548640"/>
            <a:ext cx="3108960" cy="3108960"/>
          </a:xfrm>
          <a:prstGeom prst="rect">
            <a:avLst/>
          </a:prstGeom>
          <a:solidFill>
            <a:srgbClr val="162840"/>
          </a:solidFill>
          <a:ln w="25400">
            <a:solidFill>
              <a:srgbClr val="0A7A7A"/>
            </a:solidFill>
            <a:prstDash val="solid"/>
          </a:ln>
          <a:effectLst>
            <a:outerShdw sx="100000" sy="100000" kx="0" ky="0" algn="bl" rotWithShape="0" blurRad="101600" dist="38100" dir="8100000">
              <a:srgbClr val="000000">
                <a:alpha val="20000"/>
              </a:srgbClr>
            </a:outerShdw>
          </a:effectLst>
        </p:spPr>
      </p:sp>
      <p:sp>
        <p:nvSpPr>
          <p:cNvPr id="5" name="Text 3"/>
          <p:cNvSpPr/>
          <p:nvPr/>
        </p:nvSpPr>
        <p:spPr>
          <a:xfrm>
            <a:off x="5669280" y="1097280"/>
            <a:ext cx="3108960" cy="1097280"/>
          </a:xfrm>
          <a:prstGeom prst="rect">
            <a:avLst/>
          </a:prstGeom>
          <a:noFill/>
          <a:ln/>
        </p:spPr>
        <p:txBody>
          <a:bodyPr wrap="square" lIns="0" tIns="0" rIns="0" bIns="0" rtlCol="0" anchor="ctr"/>
          <a:lstStyle/>
          <a:p>
            <a:pPr algn="ctr" indent="0" marL="0">
              <a:buNone/>
            </a:pPr>
            <a:r>
              <a:rPr lang="en-US" sz="7200" b="1" dirty="0">
                <a:solidFill>
                  <a:srgbClr val="0D9E9E"/>
                </a:solidFill>
                <a:latin typeface="Calibri" pitchFamily="34" charset="0"/>
                <a:ea typeface="Calibri" pitchFamily="34" charset="-122"/>
                <a:cs typeface="Calibri" pitchFamily="34" charset="-120"/>
              </a:rPr>
              <a:t>DOL</a:t>
            </a:r>
            <a:endParaRPr lang="en-US" sz="7200" dirty="0"/>
          </a:p>
        </p:txBody>
      </p:sp>
      <p:sp>
        <p:nvSpPr>
          <p:cNvPr id="6" name="Text 4"/>
          <p:cNvSpPr/>
          <p:nvPr/>
        </p:nvSpPr>
        <p:spPr>
          <a:xfrm>
            <a:off x="5669280" y="2103120"/>
            <a:ext cx="3108960" cy="640080"/>
          </a:xfrm>
          <a:prstGeom prst="rect">
            <a:avLst/>
          </a:prstGeom>
          <a:noFill/>
          <a:ln/>
        </p:spPr>
        <p:txBody>
          <a:bodyPr wrap="square" lIns="0" tIns="0" rIns="0" bIns="0" rtlCol="0" anchor="ctr"/>
          <a:lstStyle/>
          <a:p>
            <a:pPr algn="ctr" indent="0" marL="0">
              <a:buNone/>
            </a:pPr>
            <a:r>
              <a:rPr lang="en-US" sz="2800" dirty="0">
                <a:solidFill>
                  <a:srgbClr val="C8A84B"/>
                </a:solidFill>
                <a:latin typeface="Calibri" pitchFamily="34" charset="0"/>
                <a:ea typeface="Calibri" pitchFamily="34" charset="-122"/>
                <a:cs typeface="Calibri" pitchFamily="34" charset="-120"/>
              </a:rPr>
              <a:t>.TO</a:t>
            </a:r>
            <a:endParaRPr lang="en-US" sz="2800" dirty="0"/>
          </a:p>
        </p:txBody>
      </p:sp>
      <p:sp>
        <p:nvSpPr>
          <p:cNvPr id="7" name="Text 5"/>
          <p:cNvSpPr/>
          <p:nvPr/>
        </p:nvSpPr>
        <p:spPr>
          <a:xfrm>
            <a:off x="5669280" y="2651760"/>
            <a:ext cx="3108960" cy="365760"/>
          </a:xfrm>
          <a:prstGeom prst="rect">
            <a:avLst/>
          </a:prstGeom>
          <a:noFill/>
          <a:ln/>
        </p:spPr>
        <p:txBody>
          <a:bodyPr wrap="square" lIns="0" tIns="0" rIns="0" bIns="0" rtlCol="0" anchor="ctr"/>
          <a:lstStyle/>
          <a:p>
            <a:pPr algn="ctr" indent="0" marL="0">
              <a:buNone/>
            </a:pPr>
            <a:r>
              <a:rPr lang="en-US" sz="1300" dirty="0">
                <a:solidFill>
                  <a:srgbClr val="B0BEC5"/>
                </a:solidFill>
                <a:latin typeface="Calibri" pitchFamily="34" charset="0"/>
                <a:ea typeface="Calibri" pitchFamily="34" charset="-122"/>
                <a:cs typeface="Calibri" pitchFamily="34" charset="-120"/>
              </a:rPr>
              <a:t>TSX</a:t>
            </a:r>
            <a:endParaRPr lang="en-US" sz="1300" dirty="0"/>
          </a:p>
        </p:txBody>
      </p:sp>
      <p:sp>
        <p:nvSpPr>
          <p:cNvPr id="8" name="Text 6"/>
          <p:cNvSpPr/>
          <p:nvPr/>
        </p:nvSpPr>
        <p:spPr>
          <a:xfrm>
            <a:off x="457200" y="640080"/>
            <a:ext cx="5029200" cy="640080"/>
          </a:xfrm>
          <a:prstGeom prst="rect">
            <a:avLst/>
          </a:prstGeom>
          <a:noFill/>
          <a:ln/>
        </p:spPr>
        <p:txBody>
          <a:bodyPr wrap="square" lIns="0" tIns="0" rIns="0" bIns="0" rtlCol="0" anchor="ctr"/>
          <a:lstStyle/>
          <a:p>
            <a:pPr indent="0" marL="0">
              <a:buNone/>
            </a:pPr>
            <a:r>
              <a:rPr lang="en-US" sz="3200" b="1" dirty="0">
                <a:solidFill>
                  <a:srgbClr val="F0F0F0"/>
                </a:solidFill>
                <a:latin typeface="Calibri" pitchFamily="34" charset="0"/>
                <a:ea typeface="Calibri" pitchFamily="34" charset="-122"/>
                <a:cs typeface="Calibri" pitchFamily="34" charset="-120"/>
              </a:rPr>
              <a:t>DOLLARAMA INC.</a:t>
            </a:r>
            <a:endParaRPr lang="en-US" sz="3200" dirty="0"/>
          </a:p>
        </p:txBody>
      </p:sp>
      <p:sp>
        <p:nvSpPr>
          <p:cNvPr id="9" name="Text 7"/>
          <p:cNvSpPr/>
          <p:nvPr/>
        </p:nvSpPr>
        <p:spPr>
          <a:xfrm>
            <a:off x="457200" y="1325880"/>
            <a:ext cx="5029200" cy="411480"/>
          </a:xfrm>
          <a:prstGeom prst="rect">
            <a:avLst/>
          </a:prstGeom>
          <a:noFill/>
          <a:ln/>
        </p:spPr>
        <p:txBody>
          <a:bodyPr wrap="square" lIns="0" tIns="0" rIns="0" bIns="0" rtlCol="0" anchor="ctr"/>
          <a:lstStyle/>
          <a:p>
            <a:pPr indent="0" marL="0">
              <a:buNone/>
            </a:pPr>
            <a:r>
              <a:rPr lang="en-US" sz="2000" dirty="0">
                <a:solidFill>
                  <a:srgbClr val="0D9E9E"/>
                </a:solidFill>
                <a:latin typeface="Calibri" pitchFamily="34" charset="0"/>
                <a:ea typeface="Calibri" pitchFamily="34" charset="-122"/>
                <a:cs typeface="Calibri" pitchFamily="34" charset="-120"/>
              </a:rPr>
              <a:t>Equity Research Dashboard</a:t>
            </a:r>
            <a:endParaRPr lang="en-US" sz="2000" dirty="0"/>
          </a:p>
        </p:txBody>
      </p:sp>
      <p:sp>
        <p:nvSpPr>
          <p:cNvPr id="10" name="Text 8"/>
          <p:cNvSpPr/>
          <p:nvPr/>
        </p:nvSpPr>
        <p:spPr>
          <a:xfrm>
            <a:off x="457200" y="1783080"/>
            <a:ext cx="5029200" cy="320040"/>
          </a:xfrm>
          <a:prstGeom prst="rect">
            <a:avLst/>
          </a:prstGeom>
          <a:noFill/>
          <a:ln/>
        </p:spPr>
        <p:txBody>
          <a:bodyPr wrap="square" lIns="0" tIns="0" rIns="0" bIns="0" rtlCol="0" anchor="ctr"/>
          <a:lstStyle/>
          <a:p>
            <a:pPr indent="0" marL="0">
              <a:buNone/>
            </a:pPr>
            <a:r>
              <a:rPr lang="en-US" sz="1400" i="1" dirty="0">
                <a:solidFill>
                  <a:srgbClr val="C8A84B"/>
                </a:solidFill>
                <a:latin typeface="Calibri" pitchFamily="34" charset="0"/>
                <a:ea typeface="Calibri" pitchFamily="34" charset="-122"/>
                <a:cs typeface="Calibri" pitchFamily="34" charset="-120"/>
              </a:rPr>
              <a:t>A Student Learning Guide</a:t>
            </a:r>
            <a:endParaRPr lang="en-US" sz="1400" dirty="0"/>
          </a:p>
        </p:txBody>
      </p:sp>
      <p:sp>
        <p:nvSpPr>
          <p:cNvPr id="11" name="Shape 9"/>
          <p:cNvSpPr/>
          <p:nvPr/>
        </p:nvSpPr>
        <p:spPr>
          <a:xfrm>
            <a:off x="457200" y="2331720"/>
            <a:ext cx="4572000" cy="27432"/>
          </a:xfrm>
          <a:prstGeom prst="rect">
            <a:avLst/>
          </a:prstGeom>
          <a:solidFill>
            <a:srgbClr val="0A7A7A"/>
          </a:solidFill>
          <a:ln w="12700">
            <a:solidFill>
              <a:srgbClr val="0A7A7A"/>
            </a:solidFill>
            <a:prstDash val="solid"/>
          </a:ln>
        </p:spPr>
      </p:sp>
      <p:sp>
        <p:nvSpPr>
          <p:cNvPr id="12" name="Text 10"/>
          <p:cNvSpPr/>
          <p:nvPr/>
        </p:nvSpPr>
        <p:spPr>
          <a:xfrm>
            <a:off x="457200" y="2468880"/>
            <a:ext cx="4754880" cy="1645920"/>
          </a:xfrm>
          <a:prstGeom prst="rect">
            <a:avLst/>
          </a:prstGeom>
          <a:noFill/>
          <a:ln/>
        </p:spPr>
        <p:txBody>
          <a:bodyPr wrap="square" lIns="0" tIns="0" rIns="0" bIns="0" rtlCol="0" anchor="ctr"/>
          <a:lstStyle/>
          <a:p>
            <a:pPr marL="342900" indent="-342900">
              <a:buSzPct val="100000"/>
              <a:buChar char="•"/>
            </a:pPr>
            <a:r>
              <a:rPr lang="en-US" sz="1100" dirty="0">
                <a:solidFill>
                  <a:srgbClr val="B0BEC5"/>
                </a:solidFill>
                <a:latin typeface="Calibri" pitchFamily="34" charset="0"/>
                <a:ea typeface="Calibri" pitchFamily="34" charset="-122"/>
                <a:cs typeface="Calibri" pitchFamily="34" charset="-120"/>
              </a:rPr>
              <a:t>What the dashboard does and why</a:t>
            </a:r>
            <a:endParaRPr lang="en-US" sz="1100" dirty="0"/>
          </a:p>
          <a:p>
            <a:pPr marL="342900" indent="-342900">
              <a:buSzPct val="100000"/>
              <a:buChar char="•"/>
            </a:pPr>
            <a:r>
              <a:rPr lang="en-US" sz="1100" dirty="0">
                <a:solidFill>
                  <a:srgbClr val="B0BEC5"/>
                </a:solidFill>
                <a:latin typeface="Calibri" pitchFamily="34" charset="0"/>
                <a:ea typeface="Calibri" pitchFamily="34" charset="-122"/>
                <a:cs typeface="Calibri" pitchFamily="34" charset="-120"/>
              </a:rPr>
              <a:t>Every data source explained</a:t>
            </a:r>
            <a:endParaRPr lang="en-US" sz="1100" dirty="0"/>
          </a:p>
          <a:p>
            <a:pPr marL="342900" indent="-342900">
              <a:buSzPct val="100000"/>
              <a:buChar char="•"/>
            </a:pPr>
            <a:r>
              <a:rPr lang="en-US" sz="1100" dirty="0">
                <a:solidFill>
                  <a:srgbClr val="B0BEC5"/>
                </a:solidFill>
                <a:latin typeface="Calibri" pitchFamily="34" charset="0"/>
                <a:ea typeface="Calibri" pitchFamily="34" charset="-122"/>
                <a:cs typeface="Calibri" pitchFamily="34" charset="-120"/>
              </a:rPr>
              <a:t>All formulas from scratch</a:t>
            </a:r>
            <a:endParaRPr lang="en-US" sz="1100" dirty="0"/>
          </a:p>
          <a:p>
            <a:pPr marL="342900" indent="-342900">
              <a:buSzPct val="100000"/>
              <a:buChar char="•"/>
            </a:pPr>
            <a:r>
              <a:rPr lang="en-US" sz="1100" dirty="0">
                <a:solidFill>
                  <a:srgbClr val="B0BEC5"/>
                </a:solidFill>
                <a:latin typeface="Calibri" pitchFamily="34" charset="0"/>
                <a:ea typeface="Calibri" pitchFamily="34" charset="-122"/>
                <a:cs typeface="Calibri" pitchFamily="34" charset="-120"/>
              </a:rPr>
              <a:t>Nine analysis tabs — what they show</a:t>
            </a:r>
            <a:endParaRPr lang="en-US" sz="1100" dirty="0"/>
          </a:p>
          <a:p>
            <a:pPr marL="342900" indent="-342900">
              <a:buSzPct val="100000"/>
              <a:buChar char="•"/>
            </a:pPr>
            <a:r>
              <a:rPr lang="en-US" sz="1100" dirty="0">
                <a:solidFill>
                  <a:srgbClr val="B0BEC5"/>
                </a:solidFill>
                <a:latin typeface="Calibri" pitchFamily="34" charset="0"/>
                <a:ea typeface="Calibri" pitchFamily="34" charset="-122"/>
                <a:cs typeface="Calibri" pitchFamily="34" charset="-120"/>
              </a:rPr>
              <a:t>How to run it yourself</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F3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E9E"/>
          </a:solidFill>
          <a:ln w="12700">
            <a:solidFill>
              <a:srgbClr val="0D9E9E"/>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400" b="1" dirty="0">
                <a:solidFill>
                  <a:srgbClr val="F0F0F0"/>
                </a:solidFill>
                <a:latin typeface="Calibri" pitchFamily="34" charset="0"/>
                <a:ea typeface="Calibri" pitchFamily="34" charset="-122"/>
                <a:cs typeface="Calibri" pitchFamily="34" charset="-120"/>
              </a:rPr>
              <a:t>What Is This Dashboard?</a:t>
            </a:r>
            <a:endParaRPr lang="en-US" sz="24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indent="0" marL="0">
              <a:buNone/>
            </a:pPr>
            <a:r>
              <a:rPr lang="en-US" sz="1100" i="1" dirty="0">
                <a:solidFill>
                  <a:srgbClr val="0D9E9E"/>
                </a:solidFill>
                <a:latin typeface="Calibri" pitchFamily="34" charset="0"/>
                <a:ea typeface="Calibri" pitchFamily="34" charset="-122"/>
                <a:cs typeface="Calibri" pitchFamily="34" charset="-120"/>
              </a:rPr>
              <a:t>A professional equity research tool — built in Python, explained from first principles</a:t>
            </a:r>
            <a:endParaRPr lang="en-US" sz="1100" dirty="0"/>
          </a:p>
        </p:txBody>
      </p:sp>
      <p:sp>
        <p:nvSpPr>
          <p:cNvPr id="5" name="Shape 3"/>
          <p:cNvSpPr/>
          <p:nvPr/>
        </p:nvSpPr>
        <p:spPr>
          <a:xfrm>
            <a:off x="457200" y="960120"/>
            <a:ext cx="8229600" cy="22860"/>
          </a:xfrm>
          <a:prstGeom prst="rect">
            <a:avLst/>
          </a:prstGeom>
          <a:solidFill>
            <a:srgbClr val="0A7A7A"/>
          </a:solidFill>
          <a:ln w="12700">
            <a:solidFill>
              <a:srgbClr val="0A7A7A"/>
            </a:solidFill>
            <a:prstDash val="solid"/>
          </a:ln>
        </p:spPr>
      </p:sp>
      <p:sp>
        <p:nvSpPr>
          <p:cNvPr id="6" name="Shape 4"/>
          <p:cNvSpPr/>
          <p:nvPr/>
        </p:nvSpPr>
        <p:spPr>
          <a:xfrm>
            <a:off x="365760" y="1143000"/>
            <a:ext cx="8412480" cy="1051560"/>
          </a:xfrm>
          <a:prstGeom prst="rect">
            <a:avLst/>
          </a:prstGeom>
          <a:solidFill>
            <a:srgbClr val="162840"/>
          </a:solidFill>
          <a:ln w="12700">
            <a:solidFill>
              <a:srgbClr val="0D9E9E"/>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365760" y="1143000"/>
            <a:ext cx="201168" cy="1051560"/>
          </a:xfrm>
          <a:prstGeom prst="rect">
            <a:avLst/>
          </a:prstGeom>
          <a:solidFill>
            <a:srgbClr val="0D9E9E"/>
          </a:solidFill>
          <a:ln w="12700">
            <a:solidFill>
              <a:srgbClr val="0D9E9E"/>
            </a:solidFill>
            <a:prstDash val="solid"/>
          </a:ln>
        </p:spPr>
      </p:sp>
      <p:sp>
        <p:nvSpPr>
          <p:cNvPr id="8" name="Text 6"/>
          <p:cNvSpPr/>
          <p:nvPr/>
        </p:nvSpPr>
        <p:spPr>
          <a:xfrm>
            <a:off x="566928" y="1252728"/>
            <a:ext cx="731520" cy="457200"/>
          </a:xfrm>
          <a:prstGeom prst="rect">
            <a:avLst/>
          </a:prstGeom>
          <a:noFill/>
          <a:ln/>
        </p:spPr>
        <p:txBody>
          <a:bodyPr wrap="square" lIns="0" tIns="0" rIns="0" bIns="0" rtlCol="0" anchor="ctr"/>
          <a:lstStyle/>
          <a:p>
            <a:pPr algn="ctr" indent="0" marL="0">
              <a:buNone/>
            </a:pPr>
            <a:r>
              <a:rPr lang="en-US" sz="2200" b="1" dirty="0">
                <a:solidFill>
                  <a:srgbClr val="F0F0F0"/>
                </a:solidFill>
                <a:latin typeface="Calibri" pitchFamily="34" charset="0"/>
                <a:ea typeface="Calibri" pitchFamily="34" charset="-122"/>
                <a:cs typeface="Calibri" pitchFamily="34" charset="-120"/>
              </a:rPr>
              <a:t>①</a:t>
            </a:r>
            <a:endParaRPr lang="en-US" sz="2200" dirty="0"/>
          </a:p>
        </p:txBody>
      </p:sp>
      <p:sp>
        <p:nvSpPr>
          <p:cNvPr id="9" name="Text 7"/>
          <p:cNvSpPr/>
          <p:nvPr/>
        </p:nvSpPr>
        <p:spPr>
          <a:xfrm>
            <a:off x="1143000" y="1234440"/>
            <a:ext cx="3657600" cy="347472"/>
          </a:xfrm>
          <a:prstGeom prst="rect">
            <a:avLst/>
          </a:prstGeom>
          <a:noFill/>
          <a:ln/>
        </p:spPr>
        <p:txBody>
          <a:bodyPr wrap="square" lIns="0" tIns="0" rIns="0" bIns="0" rtlCol="0" anchor="ctr"/>
          <a:lstStyle/>
          <a:p>
            <a:pPr indent="0" marL="0">
              <a:buNone/>
            </a:pPr>
            <a:r>
              <a:rPr lang="en-US" sz="1400" b="1" dirty="0">
                <a:solidFill>
                  <a:srgbClr val="F0F0F0"/>
                </a:solidFill>
                <a:latin typeface="Calibri" pitchFamily="34" charset="0"/>
                <a:ea typeface="Calibri" pitchFamily="34" charset="-122"/>
                <a:cs typeface="Calibri" pitchFamily="34" charset="-120"/>
              </a:rPr>
              <a:t>Collect Financial Data</a:t>
            </a:r>
            <a:endParaRPr lang="en-US" sz="1400" dirty="0"/>
          </a:p>
        </p:txBody>
      </p:sp>
      <p:sp>
        <p:nvSpPr>
          <p:cNvPr id="10" name="Text 8"/>
          <p:cNvSpPr/>
          <p:nvPr/>
        </p:nvSpPr>
        <p:spPr>
          <a:xfrm>
            <a:off x="1143000" y="1581912"/>
            <a:ext cx="7406640" cy="502920"/>
          </a:xfrm>
          <a:prstGeom prst="rect">
            <a:avLst/>
          </a:prstGeom>
          <a:noFill/>
          <a:ln/>
        </p:spPr>
        <p:txBody>
          <a:bodyPr wrap="square" lIns="0" tIns="0" rIns="0" bIns="0" rtlCol="0" anchor="ctr"/>
          <a:lstStyle/>
          <a:p>
            <a:pPr indent="0" marL="0">
              <a:buNone/>
            </a:pPr>
            <a:r>
              <a:rPr lang="en-US" sz="1050" dirty="0">
                <a:solidFill>
                  <a:srgbClr val="B0BEC5"/>
                </a:solidFill>
                <a:latin typeface="Calibri" pitchFamily="34" charset="0"/>
                <a:ea typeface="Calibri" pitchFamily="34" charset="-122"/>
                <a:cs typeface="Calibri" pitchFamily="34" charset="-120"/>
              </a:rPr>
              <a:t>Pulls annual income statements, balance sheets, and cash flows from Yahoo Finance (yfinance) or WRDS/Compustat — the institutional standard.</a:t>
            </a:r>
            <a:endParaRPr lang="en-US" sz="1050" dirty="0"/>
          </a:p>
        </p:txBody>
      </p:sp>
      <p:sp>
        <p:nvSpPr>
          <p:cNvPr id="11" name="Shape 9"/>
          <p:cNvSpPr/>
          <p:nvPr/>
        </p:nvSpPr>
        <p:spPr>
          <a:xfrm>
            <a:off x="365760" y="2377440"/>
            <a:ext cx="8412480" cy="1051560"/>
          </a:xfrm>
          <a:prstGeom prst="rect">
            <a:avLst/>
          </a:prstGeom>
          <a:solidFill>
            <a:srgbClr val="162840"/>
          </a:solidFill>
          <a:ln w="12700">
            <a:solidFill>
              <a:srgbClr val="C8A84B"/>
            </a:solidFill>
            <a:prstDash val="solid"/>
          </a:ln>
          <a:effectLst>
            <a:outerShdw sx="100000" sy="100000" kx="0" ky="0" algn="bl" rotWithShape="0" blurRad="101600" dist="38100" dir="8100000">
              <a:srgbClr val="000000">
                <a:alpha val="20000"/>
              </a:srgbClr>
            </a:outerShdw>
          </a:effectLst>
        </p:spPr>
      </p:sp>
      <p:sp>
        <p:nvSpPr>
          <p:cNvPr id="12" name="Shape 10"/>
          <p:cNvSpPr/>
          <p:nvPr/>
        </p:nvSpPr>
        <p:spPr>
          <a:xfrm>
            <a:off x="365760" y="2377440"/>
            <a:ext cx="201168" cy="1051560"/>
          </a:xfrm>
          <a:prstGeom prst="rect">
            <a:avLst/>
          </a:prstGeom>
          <a:solidFill>
            <a:srgbClr val="C8A84B"/>
          </a:solidFill>
          <a:ln w="12700">
            <a:solidFill>
              <a:srgbClr val="C8A84B"/>
            </a:solidFill>
            <a:prstDash val="solid"/>
          </a:ln>
        </p:spPr>
      </p:sp>
      <p:sp>
        <p:nvSpPr>
          <p:cNvPr id="13" name="Text 11"/>
          <p:cNvSpPr/>
          <p:nvPr/>
        </p:nvSpPr>
        <p:spPr>
          <a:xfrm>
            <a:off x="566928" y="2487168"/>
            <a:ext cx="731520" cy="457200"/>
          </a:xfrm>
          <a:prstGeom prst="rect">
            <a:avLst/>
          </a:prstGeom>
          <a:noFill/>
          <a:ln/>
        </p:spPr>
        <p:txBody>
          <a:bodyPr wrap="square" lIns="0" tIns="0" rIns="0" bIns="0" rtlCol="0" anchor="ctr"/>
          <a:lstStyle/>
          <a:p>
            <a:pPr algn="ctr" indent="0" marL="0">
              <a:buNone/>
            </a:pPr>
            <a:r>
              <a:rPr lang="en-US" sz="2200" b="1" dirty="0">
                <a:solidFill>
                  <a:srgbClr val="F0F0F0"/>
                </a:solidFill>
                <a:latin typeface="Calibri" pitchFamily="34" charset="0"/>
                <a:ea typeface="Calibri" pitchFamily="34" charset="-122"/>
                <a:cs typeface="Calibri" pitchFamily="34" charset="-120"/>
              </a:rPr>
              <a:t>②</a:t>
            </a:r>
            <a:endParaRPr lang="en-US" sz="2200" dirty="0"/>
          </a:p>
        </p:txBody>
      </p:sp>
      <p:sp>
        <p:nvSpPr>
          <p:cNvPr id="14" name="Text 12"/>
          <p:cNvSpPr/>
          <p:nvPr/>
        </p:nvSpPr>
        <p:spPr>
          <a:xfrm>
            <a:off x="1143000" y="2468880"/>
            <a:ext cx="3657600" cy="347472"/>
          </a:xfrm>
          <a:prstGeom prst="rect">
            <a:avLst/>
          </a:prstGeom>
          <a:noFill/>
          <a:ln/>
        </p:spPr>
        <p:txBody>
          <a:bodyPr wrap="square" lIns="0" tIns="0" rIns="0" bIns="0" rtlCol="0" anchor="ctr"/>
          <a:lstStyle/>
          <a:p>
            <a:pPr indent="0" marL="0">
              <a:buNone/>
            </a:pPr>
            <a:r>
              <a:rPr lang="en-US" sz="1400" b="1" dirty="0">
                <a:solidFill>
                  <a:srgbClr val="F0F0F0"/>
                </a:solidFill>
                <a:latin typeface="Calibri" pitchFamily="34" charset="0"/>
                <a:ea typeface="Calibri" pitchFamily="34" charset="-122"/>
                <a:cs typeface="Calibri" pitchFamily="34" charset="-120"/>
              </a:rPr>
              <a:t>Transform Raw Numbers</a:t>
            </a:r>
            <a:endParaRPr lang="en-US" sz="1400" dirty="0"/>
          </a:p>
        </p:txBody>
      </p:sp>
      <p:sp>
        <p:nvSpPr>
          <p:cNvPr id="15" name="Text 13"/>
          <p:cNvSpPr/>
          <p:nvPr/>
        </p:nvSpPr>
        <p:spPr>
          <a:xfrm>
            <a:off x="1143000" y="2816352"/>
            <a:ext cx="7406640" cy="502920"/>
          </a:xfrm>
          <a:prstGeom prst="rect">
            <a:avLst/>
          </a:prstGeom>
          <a:noFill/>
          <a:ln/>
        </p:spPr>
        <p:txBody>
          <a:bodyPr wrap="square" lIns="0" tIns="0" rIns="0" bIns="0" rtlCol="0" anchor="ctr"/>
          <a:lstStyle/>
          <a:p>
            <a:pPr indent="0" marL="0">
              <a:buNone/>
            </a:pPr>
            <a:r>
              <a:rPr lang="en-US" sz="1050" dirty="0">
                <a:solidFill>
                  <a:srgbClr val="B0BEC5"/>
                </a:solidFill>
                <a:latin typeface="Calibri" pitchFamily="34" charset="0"/>
                <a:ea typeface="Calibri" pitchFamily="34" charset="-122"/>
                <a:cs typeface="Calibri" pitchFamily="34" charset="-120"/>
              </a:rPr>
              <a:t>Calculates every ratio, margin, and valuation metric you need — EBITDA, ROIC, FCF, EV/EBITDA, P/E — from the raw accounting columns. Zero black boxes.</a:t>
            </a:r>
            <a:endParaRPr lang="en-US" sz="1050" dirty="0"/>
          </a:p>
        </p:txBody>
      </p:sp>
      <p:sp>
        <p:nvSpPr>
          <p:cNvPr id="16" name="Shape 14"/>
          <p:cNvSpPr/>
          <p:nvPr/>
        </p:nvSpPr>
        <p:spPr>
          <a:xfrm>
            <a:off x="365760" y="3611880"/>
            <a:ext cx="8412480" cy="1051560"/>
          </a:xfrm>
          <a:prstGeom prst="rect">
            <a:avLst/>
          </a:prstGeom>
          <a:solidFill>
            <a:srgbClr val="162840"/>
          </a:solidFill>
          <a:ln w="12700">
            <a:solidFill>
              <a:srgbClr val="2ECC71"/>
            </a:solidFill>
            <a:prstDash val="solid"/>
          </a:ln>
          <a:effectLst>
            <a:outerShdw sx="100000" sy="100000" kx="0" ky="0" algn="bl" rotWithShape="0" blurRad="101600" dist="38100" dir="8100000">
              <a:srgbClr val="000000">
                <a:alpha val="20000"/>
              </a:srgbClr>
            </a:outerShdw>
          </a:effectLst>
        </p:spPr>
      </p:sp>
      <p:sp>
        <p:nvSpPr>
          <p:cNvPr id="17" name="Shape 15"/>
          <p:cNvSpPr/>
          <p:nvPr/>
        </p:nvSpPr>
        <p:spPr>
          <a:xfrm>
            <a:off x="365760" y="3611880"/>
            <a:ext cx="201168" cy="1051560"/>
          </a:xfrm>
          <a:prstGeom prst="rect">
            <a:avLst/>
          </a:prstGeom>
          <a:solidFill>
            <a:srgbClr val="2ECC71"/>
          </a:solidFill>
          <a:ln w="12700">
            <a:solidFill>
              <a:srgbClr val="2ECC71"/>
            </a:solidFill>
            <a:prstDash val="solid"/>
          </a:ln>
        </p:spPr>
      </p:sp>
      <p:sp>
        <p:nvSpPr>
          <p:cNvPr id="18" name="Text 16"/>
          <p:cNvSpPr/>
          <p:nvPr/>
        </p:nvSpPr>
        <p:spPr>
          <a:xfrm>
            <a:off x="566928" y="3721608"/>
            <a:ext cx="731520" cy="457200"/>
          </a:xfrm>
          <a:prstGeom prst="rect">
            <a:avLst/>
          </a:prstGeom>
          <a:noFill/>
          <a:ln/>
        </p:spPr>
        <p:txBody>
          <a:bodyPr wrap="square" lIns="0" tIns="0" rIns="0" bIns="0" rtlCol="0" anchor="ctr"/>
          <a:lstStyle/>
          <a:p>
            <a:pPr algn="ctr" indent="0" marL="0">
              <a:buNone/>
            </a:pPr>
            <a:r>
              <a:rPr lang="en-US" sz="2200" b="1" dirty="0">
                <a:solidFill>
                  <a:srgbClr val="F0F0F0"/>
                </a:solidFill>
                <a:latin typeface="Calibri" pitchFamily="34" charset="0"/>
                <a:ea typeface="Calibri" pitchFamily="34" charset="-122"/>
                <a:cs typeface="Calibri" pitchFamily="34" charset="-120"/>
              </a:rPr>
              <a:t>③</a:t>
            </a:r>
            <a:endParaRPr lang="en-US" sz="2200" dirty="0"/>
          </a:p>
        </p:txBody>
      </p:sp>
      <p:sp>
        <p:nvSpPr>
          <p:cNvPr id="19" name="Text 17"/>
          <p:cNvSpPr/>
          <p:nvPr/>
        </p:nvSpPr>
        <p:spPr>
          <a:xfrm>
            <a:off x="1143000" y="3703320"/>
            <a:ext cx="3657600" cy="347472"/>
          </a:xfrm>
          <a:prstGeom prst="rect">
            <a:avLst/>
          </a:prstGeom>
          <a:noFill/>
          <a:ln/>
        </p:spPr>
        <p:txBody>
          <a:bodyPr wrap="square" lIns="0" tIns="0" rIns="0" bIns="0" rtlCol="0" anchor="ctr"/>
          <a:lstStyle/>
          <a:p>
            <a:pPr indent="0" marL="0">
              <a:buNone/>
            </a:pPr>
            <a:r>
              <a:rPr lang="en-US" sz="1400" b="1" dirty="0">
                <a:solidFill>
                  <a:srgbClr val="F0F0F0"/>
                </a:solidFill>
                <a:latin typeface="Calibri" pitchFamily="34" charset="0"/>
                <a:ea typeface="Calibri" pitchFamily="34" charset="-122"/>
                <a:cs typeface="Calibri" pitchFamily="34" charset="-120"/>
              </a:rPr>
              <a:t>Visualise &amp; Present</a:t>
            </a:r>
            <a:endParaRPr lang="en-US" sz="1400" dirty="0"/>
          </a:p>
        </p:txBody>
      </p:sp>
      <p:sp>
        <p:nvSpPr>
          <p:cNvPr id="20" name="Text 18"/>
          <p:cNvSpPr/>
          <p:nvPr/>
        </p:nvSpPr>
        <p:spPr>
          <a:xfrm>
            <a:off x="1143000" y="4050792"/>
            <a:ext cx="7406640" cy="502920"/>
          </a:xfrm>
          <a:prstGeom prst="rect">
            <a:avLst/>
          </a:prstGeom>
          <a:noFill/>
          <a:ln/>
        </p:spPr>
        <p:txBody>
          <a:bodyPr wrap="square" lIns="0" tIns="0" rIns="0" bIns="0" rtlCol="0" anchor="ctr"/>
          <a:lstStyle/>
          <a:p>
            <a:pPr indent="0" marL="0">
              <a:buNone/>
            </a:pPr>
            <a:r>
              <a:rPr lang="en-US" sz="1050" dirty="0">
                <a:solidFill>
                  <a:srgbClr val="B0BEC5"/>
                </a:solidFill>
                <a:latin typeface="Calibri" pitchFamily="34" charset="0"/>
                <a:ea typeface="Calibri" pitchFamily="34" charset="-122"/>
                <a:cs typeface="Calibri" pitchFamily="34" charset="-120"/>
              </a:rPr>
              <a:t>Nine interactive tabs with live charts, a full DCF model, Monte Carlo simulation, peer comparisons, and a clear audit trail from raw data to conclusion.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F3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E9E"/>
          </a:solidFill>
          <a:ln w="12700">
            <a:solidFill>
              <a:srgbClr val="0D9E9E"/>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400" b="1" dirty="0">
                <a:solidFill>
                  <a:srgbClr val="F0F0F0"/>
                </a:solidFill>
                <a:latin typeface="Calibri" pitchFamily="34" charset="0"/>
                <a:ea typeface="Calibri" pitchFamily="34" charset="-122"/>
                <a:cs typeface="Calibri" pitchFamily="34" charset="-120"/>
              </a:rPr>
              <a:t>Why Dollarama?</a:t>
            </a:r>
            <a:endParaRPr lang="en-US" sz="24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indent="0" marL="0">
              <a:buNone/>
            </a:pPr>
            <a:r>
              <a:rPr lang="en-US" sz="1100" i="1" dirty="0">
                <a:solidFill>
                  <a:srgbClr val="0D9E9E"/>
                </a:solidFill>
                <a:latin typeface="Calibri" pitchFamily="34" charset="0"/>
                <a:ea typeface="Calibri" pitchFamily="34" charset="-122"/>
                <a:cs typeface="Calibri" pitchFamily="34" charset="-120"/>
              </a:rPr>
              <a:t>A model business for teaching equity research — clean financials, compelling growth story</a:t>
            </a:r>
            <a:endParaRPr lang="en-US" sz="1100" dirty="0"/>
          </a:p>
        </p:txBody>
      </p:sp>
      <p:sp>
        <p:nvSpPr>
          <p:cNvPr id="5" name="Shape 3"/>
          <p:cNvSpPr/>
          <p:nvPr/>
        </p:nvSpPr>
        <p:spPr>
          <a:xfrm>
            <a:off x="457200" y="960120"/>
            <a:ext cx="8229600" cy="22860"/>
          </a:xfrm>
          <a:prstGeom prst="rect">
            <a:avLst/>
          </a:prstGeom>
          <a:solidFill>
            <a:srgbClr val="0A7A7A"/>
          </a:solidFill>
          <a:ln w="12700">
            <a:solidFill>
              <a:srgbClr val="0A7A7A"/>
            </a:solidFill>
            <a:prstDash val="solid"/>
          </a:ln>
        </p:spPr>
      </p:sp>
      <p:sp>
        <p:nvSpPr>
          <p:cNvPr id="6" name="Shape 4"/>
          <p:cNvSpPr/>
          <p:nvPr/>
        </p:nvSpPr>
        <p:spPr>
          <a:xfrm>
            <a:off x="365760" y="1097280"/>
            <a:ext cx="4023360" cy="3566160"/>
          </a:xfrm>
          <a:prstGeom prst="rect">
            <a:avLst/>
          </a:prstGeom>
          <a:solidFill>
            <a:srgbClr val="162840"/>
          </a:solidFill>
          <a:ln w="12700">
            <a:solidFill>
              <a:srgbClr val="0A7A7A"/>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502920" y="1207008"/>
            <a:ext cx="3749040" cy="320040"/>
          </a:xfrm>
          <a:prstGeom prst="rect">
            <a:avLst/>
          </a:prstGeom>
          <a:noFill/>
          <a:ln/>
        </p:spPr>
        <p:txBody>
          <a:bodyPr wrap="square" lIns="0" tIns="0" rIns="0" bIns="0" rtlCol="0" anchor="ctr"/>
          <a:lstStyle/>
          <a:p>
            <a:pPr indent="0" marL="0">
              <a:buNone/>
            </a:pPr>
            <a:r>
              <a:rPr lang="en-US" sz="1300" b="1" dirty="0">
                <a:solidFill>
                  <a:srgbClr val="0D9E9E"/>
                </a:solidFill>
                <a:latin typeface="Calibri" pitchFamily="34" charset="0"/>
                <a:ea typeface="Calibri" pitchFamily="34" charset="-122"/>
                <a:cs typeface="Calibri" pitchFamily="34" charset="-120"/>
              </a:rPr>
              <a:t>The Business</a:t>
            </a:r>
            <a:endParaRPr lang="en-US" sz="1300" dirty="0"/>
          </a:p>
        </p:txBody>
      </p:sp>
      <p:sp>
        <p:nvSpPr>
          <p:cNvPr id="8" name="Text 6"/>
          <p:cNvSpPr/>
          <p:nvPr/>
        </p:nvSpPr>
        <p:spPr>
          <a:xfrm>
            <a:off x="502920" y="1572768"/>
            <a:ext cx="3749040" cy="2880360"/>
          </a:xfrm>
          <a:prstGeom prst="rect">
            <a:avLst/>
          </a:prstGeom>
          <a:noFill/>
          <a:ln/>
        </p:spPr>
        <p:txBody>
          <a:bodyPr wrap="square" lIns="0" tIns="0" rIns="0" bIns="0" rtlCol="0" anchor="ctr"/>
          <a:lstStyle/>
          <a:p>
            <a:pPr marL="342900" indent="-342900">
              <a:buSzPct val="100000"/>
              <a:buChar char="•"/>
            </a:pPr>
            <a:r>
              <a:rPr lang="en-US" sz="1000" dirty="0">
                <a:solidFill>
                  <a:srgbClr val="B0BEC5"/>
                </a:solidFill>
                <a:latin typeface="Calibri" pitchFamily="34" charset="0"/>
                <a:ea typeface="Calibri" pitchFamily="34" charset="-122"/>
                <a:cs typeface="Calibri" pitchFamily="34" charset="-120"/>
              </a:rPr>
              <a:t>Canada's largest dollar-store chain — 1,600+ stores</a:t>
            </a:r>
            <a:endParaRPr lang="en-US" sz="1000" dirty="0"/>
          </a:p>
          <a:p>
            <a:pPr marL="342900" indent="-342900">
              <a:buSzPct val="100000"/>
              <a:buChar char="•"/>
            </a:pPr>
            <a:r>
              <a:rPr lang="en-US" sz="1000" dirty="0">
                <a:solidFill>
                  <a:srgbClr val="B0BEC5"/>
                </a:solidFill>
                <a:latin typeface="Calibri" pitchFamily="34" charset="0"/>
                <a:ea typeface="Calibri" pitchFamily="34" charset="-122"/>
                <a:cs typeface="Calibri" pitchFamily="34" charset="-120"/>
              </a:rPr>
              <a:t>Fixed price points: $1.25 to $5.00 per item</a:t>
            </a:r>
            <a:endParaRPr lang="en-US" sz="1000" dirty="0"/>
          </a:p>
          <a:p>
            <a:pPr marL="342900" indent="-342900">
              <a:buSzPct val="100000"/>
              <a:buChar char="•"/>
            </a:pPr>
            <a:r>
              <a:rPr lang="en-US" sz="1000" dirty="0">
                <a:solidFill>
                  <a:srgbClr val="B0BEC5"/>
                </a:solidFill>
                <a:latin typeface="Calibri" pitchFamily="34" charset="0"/>
                <a:ea typeface="Calibri" pitchFamily="34" charset="-122"/>
                <a:cs typeface="Calibri" pitchFamily="34" charset="-120"/>
              </a:rPr>
              <a:t>No seasonal dependence — recession-resilient model</a:t>
            </a:r>
            <a:endParaRPr lang="en-US" sz="1000" dirty="0"/>
          </a:p>
          <a:p>
            <a:pPr marL="342900" indent="-342900">
              <a:buSzPct val="100000"/>
              <a:buChar char="•"/>
            </a:pPr>
            <a:r>
              <a:rPr lang="en-US" sz="1000" dirty="0">
                <a:solidFill>
                  <a:srgbClr val="B0BEC5"/>
                </a:solidFill>
                <a:latin typeface="Calibri" pitchFamily="34" charset="0"/>
                <a:ea typeface="Calibri" pitchFamily="34" charset="-122"/>
                <a:cs typeface="Calibri" pitchFamily="34" charset="-120"/>
              </a:rPr>
              <a:t>International expansion via Dollarcity (Latin America)</a:t>
            </a:r>
            <a:endParaRPr lang="en-US" sz="1000" dirty="0"/>
          </a:p>
          <a:p>
            <a:pPr marL="342900" indent="-342900">
              <a:buSzPct val="100000"/>
              <a:buChar char="•"/>
            </a:pPr>
            <a:r>
              <a:rPr lang="en-US" sz="1000" dirty="0">
                <a:solidFill>
                  <a:srgbClr val="B0BEC5"/>
                </a:solidFill>
                <a:latin typeface="Calibri" pitchFamily="34" charset="0"/>
                <a:ea typeface="Calibri" pitchFamily="34" charset="-122"/>
                <a:cs typeface="Calibri" pitchFamily="34" charset="-120"/>
              </a:rPr>
              <a:t>Fiscal year ends late January / early February</a:t>
            </a:r>
            <a:endParaRPr lang="en-US" sz="1000" dirty="0"/>
          </a:p>
        </p:txBody>
      </p:sp>
      <p:sp>
        <p:nvSpPr>
          <p:cNvPr id="9" name="Shape 7"/>
          <p:cNvSpPr/>
          <p:nvPr/>
        </p:nvSpPr>
        <p:spPr>
          <a:xfrm>
            <a:off x="4572000" y="1097280"/>
            <a:ext cx="4206240" cy="3566160"/>
          </a:xfrm>
          <a:prstGeom prst="rect">
            <a:avLst/>
          </a:prstGeom>
          <a:solidFill>
            <a:srgbClr val="162840"/>
          </a:solidFill>
          <a:ln w="12700">
            <a:solidFill>
              <a:srgbClr val="C8A84B"/>
            </a:solidFill>
            <a:prstDash val="solid"/>
          </a:ln>
          <a:effectLst>
            <a:outerShdw sx="100000" sy="100000" kx="0" ky="0" algn="bl" rotWithShape="0" blurRad="101600" dist="38100" dir="8100000">
              <a:srgbClr val="000000">
                <a:alpha val="20000"/>
              </a:srgbClr>
            </a:outerShdw>
          </a:effectLst>
        </p:spPr>
      </p:sp>
      <p:sp>
        <p:nvSpPr>
          <p:cNvPr id="10" name="Text 8"/>
          <p:cNvSpPr/>
          <p:nvPr/>
        </p:nvSpPr>
        <p:spPr>
          <a:xfrm>
            <a:off x="4709160" y="1207008"/>
            <a:ext cx="3931920" cy="320040"/>
          </a:xfrm>
          <a:prstGeom prst="rect">
            <a:avLst/>
          </a:prstGeom>
          <a:noFill/>
          <a:ln/>
        </p:spPr>
        <p:txBody>
          <a:bodyPr wrap="square" lIns="0" tIns="0" rIns="0" bIns="0" rtlCol="0" anchor="ctr"/>
          <a:lstStyle/>
          <a:p>
            <a:pPr indent="0" marL="0">
              <a:buNone/>
            </a:pPr>
            <a:r>
              <a:rPr lang="en-US" sz="1300" b="1" dirty="0">
                <a:solidFill>
                  <a:srgbClr val="C8A84B"/>
                </a:solidFill>
                <a:latin typeface="Calibri" pitchFamily="34" charset="0"/>
                <a:ea typeface="Calibri" pitchFamily="34" charset="-122"/>
                <a:cs typeface="Calibri" pitchFamily="34" charset="-120"/>
              </a:rPr>
              <a:t>Why It's A Great Teaching Case</a:t>
            </a:r>
            <a:endParaRPr lang="en-US" sz="1300" dirty="0"/>
          </a:p>
        </p:txBody>
      </p:sp>
      <p:sp>
        <p:nvSpPr>
          <p:cNvPr id="11" name="Text 9"/>
          <p:cNvSpPr/>
          <p:nvPr/>
        </p:nvSpPr>
        <p:spPr>
          <a:xfrm>
            <a:off x="4709160" y="1572768"/>
            <a:ext cx="3931920" cy="2880360"/>
          </a:xfrm>
          <a:prstGeom prst="rect">
            <a:avLst/>
          </a:prstGeom>
          <a:noFill/>
          <a:ln/>
        </p:spPr>
        <p:txBody>
          <a:bodyPr wrap="square" lIns="0" tIns="0" rIns="0" bIns="0" rtlCol="0" anchor="ctr"/>
          <a:lstStyle/>
          <a:p>
            <a:pPr marL="342900" indent="-342900">
              <a:buSzPct val="100000"/>
              <a:buChar char="•"/>
            </a:pPr>
            <a:r>
              <a:rPr lang="en-US" sz="1000" dirty="0">
                <a:solidFill>
                  <a:srgbClr val="B0BEC5"/>
                </a:solidFill>
                <a:latin typeface="Calibri" pitchFamily="34" charset="0"/>
                <a:ea typeface="Calibri" pitchFamily="34" charset="-122"/>
                <a:cs typeface="Calibri" pitchFamily="34" charset="-120"/>
              </a:rPr>
              <a:t>Simple business model — easy to understand the economics</a:t>
            </a:r>
            <a:endParaRPr lang="en-US" sz="1000" dirty="0"/>
          </a:p>
          <a:p>
            <a:pPr marL="342900" indent="-342900">
              <a:buSzPct val="100000"/>
              <a:buChar char="•"/>
            </a:pPr>
            <a:r>
              <a:rPr lang="en-US" sz="1000" dirty="0">
                <a:solidFill>
                  <a:srgbClr val="B0BEC5"/>
                </a:solidFill>
                <a:latin typeface="Calibri" pitchFamily="34" charset="0"/>
                <a:ea typeface="Calibri" pitchFamily="34" charset="-122"/>
                <a:cs typeface="Calibri" pitchFamily="34" charset="-120"/>
              </a:rPr>
              <a:t>Exceptional ROIC (~38%) — one of the best in Canadian retail</a:t>
            </a:r>
            <a:endParaRPr lang="en-US" sz="1000" dirty="0"/>
          </a:p>
          <a:p>
            <a:pPr marL="342900" indent="-342900">
              <a:buSzPct val="100000"/>
              <a:buChar char="•"/>
            </a:pPr>
            <a:r>
              <a:rPr lang="en-US" sz="1000" dirty="0">
                <a:solidFill>
                  <a:srgbClr val="B0BEC5"/>
                </a:solidFill>
                <a:latin typeface="Calibri" pitchFamily="34" charset="0"/>
                <a:ea typeface="Calibri" pitchFamily="34" charset="-122"/>
                <a:cs typeface="Calibri" pitchFamily="34" charset="-120"/>
              </a:rPr>
              <a:t>NEGATIVE common equity — teaches that equity ≠ quality</a:t>
            </a:r>
            <a:endParaRPr lang="en-US" sz="1000" dirty="0"/>
          </a:p>
          <a:p>
            <a:pPr marL="342900" indent="-342900">
              <a:buSzPct val="100000"/>
              <a:buChar char="•"/>
            </a:pPr>
            <a:r>
              <a:rPr lang="en-US" sz="1000" dirty="0">
                <a:solidFill>
                  <a:srgbClr val="B0BEC5"/>
                </a:solidFill>
                <a:latin typeface="Calibri" pitchFamily="34" charset="0"/>
                <a:ea typeface="Calibri" pitchFamily="34" charset="-122"/>
                <a:cs typeface="Calibri" pitchFamily="34" charset="-120"/>
              </a:rPr>
              <a:t>Live yfinance data — learn data pipelines, not just theory</a:t>
            </a:r>
            <a:endParaRPr lang="en-US" sz="1000" dirty="0"/>
          </a:p>
          <a:p>
            <a:pPr marL="342900" indent="-342900">
              <a:buSzPct val="100000"/>
              <a:buChar char="•"/>
            </a:pPr>
            <a:r>
              <a:rPr lang="en-US" sz="1000" dirty="0">
                <a:solidFill>
                  <a:srgbClr val="B0BEC5"/>
                </a:solidFill>
                <a:latin typeface="Calibri" pitchFamily="34" charset="0"/>
                <a:ea typeface="Calibri" pitchFamily="34" charset="-122"/>
                <a:cs typeface="Calibri" pitchFamily="34" charset="-120"/>
              </a:rPr>
              <a:t>Peer comparison (DLTR, DG) — teaches relative valuation</a:t>
            </a:r>
            <a:endParaRPr lang="en-US" sz="1000" dirty="0"/>
          </a:p>
          <a:p>
            <a:pPr marL="342900" indent="-342900">
              <a:buSzPct val="100000"/>
              <a:buChar char="•"/>
            </a:pPr>
            <a:r>
              <a:rPr lang="en-US" sz="1000" dirty="0">
                <a:solidFill>
                  <a:srgbClr val="B0BEC5"/>
                </a:solidFill>
                <a:latin typeface="Calibri" pitchFamily="34" charset="0"/>
                <a:ea typeface="Calibri" pitchFamily="34" charset="-122"/>
                <a:cs typeface="Calibri" pitchFamily="34" charset="-120"/>
              </a:rPr>
              <a:t>10-year growth track record — great for CAGR analysis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F3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E9E"/>
          </a:solidFill>
          <a:ln w="12700">
            <a:solidFill>
              <a:srgbClr val="0D9E9E"/>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400" b="1" dirty="0">
                <a:solidFill>
                  <a:srgbClr val="F0F0F0"/>
                </a:solidFill>
                <a:latin typeface="Calibri" pitchFamily="34" charset="0"/>
                <a:ea typeface="Calibri" pitchFamily="34" charset="-122"/>
                <a:cs typeface="Calibri" pitchFamily="34" charset="-120"/>
              </a:rPr>
              <a:t>The Data Pipeline</a:t>
            </a:r>
            <a:endParaRPr lang="en-US" sz="24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indent="0" marL="0">
              <a:buNone/>
            </a:pPr>
            <a:r>
              <a:rPr lang="en-US" sz="1100" i="1" dirty="0">
                <a:solidFill>
                  <a:srgbClr val="0D9E9E"/>
                </a:solidFill>
                <a:latin typeface="Calibri" pitchFamily="34" charset="0"/>
                <a:ea typeface="Calibri" pitchFamily="34" charset="-122"/>
                <a:cs typeface="Calibri" pitchFamily="34" charset="-120"/>
              </a:rPr>
              <a:t>Where every number comes from — source → raw columns → derived metrics → charts</a:t>
            </a:r>
            <a:endParaRPr lang="en-US" sz="1100" dirty="0"/>
          </a:p>
        </p:txBody>
      </p:sp>
      <p:sp>
        <p:nvSpPr>
          <p:cNvPr id="5" name="Shape 3"/>
          <p:cNvSpPr/>
          <p:nvPr/>
        </p:nvSpPr>
        <p:spPr>
          <a:xfrm>
            <a:off x="457200" y="960120"/>
            <a:ext cx="8229600" cy="22860"/>
          </a:xfrm>
          <a:prstGeom prst="rect">
            <a:avLst/>
          </a:prstGeom>
          <a:solidFill>
            <a:srgbClr val="0A7A7A"/>
          </a:solidFill>
          <a:ln w="12700">
            <a:solidFill>
              <a:srgbClr val="0A7A7A"/>
            </a:solidFill>
            <a:prstDash val="solid"/>
          </a:ln>
        </p:spPr>
      </p:sp>
      <p:sp>
        <p:nvSpPr>
          <p:cNvPr id="6" name="Shape 4"/>
          <p:cNvSpPr/>
          <p:nvPr/>
        </p:nvSpPr>
        <p:spPr>
          <a:xfrm>
            <a:off x="274320" y="1143000"/>
            <a:ext cx="1874520" cy="1828800"/>
          </a:xfrm>
          <a:prstGeom prst="rect">
            <a:avLst/>
          </a:prstGeom>
          <a:solidFill>
            <a:srgbClr val="1E2D3D"/>
          </a:solidFill>
          <a:ln w="25400">
            <a:solidFill>
              <a:srgbClr val="0D9E9E"/>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1143000"/>
            <a:ext cx="1874520" cy="256032"/>
          </a:xfrm>
          <a:prstGeom prst="rect">
            <a:avLst/>
          </a:prstGeom>
          <a:solidFill>
            <a:srgbClr val="0D9E9E"/>
          </a:solidFill>
          <a:ln w="12700">
            <a:solidFill>
              <a:srgbClr val="0D9E9E"/>
            </a:solidFill>
            <a:prstDash val="solid"/>
          </a:ln>
        </p:spPr>
      </p:sp>
      <p:sp>
        <p:nvSpPr>
          <p:cNvPr id="8" name="Text 6"/>
          <p:cNvSpPr/>
          <p:nvPr/>
        </p:nvSpPr>
        <p:spPr>
          <a:xfrm>
            <a:off x="274320" y="1143000"/>
            <a:ext cx="1874520" cy="256032"/>
          </a:xfrm>
          <a:prstGeom prst="rect">
            <a:avLst/>
          </a:prstGeom>
          <a:noFill/>
          <a:ln/>
        </p:spPr>
        <p:txBody>
          <a:bodyPr wrap="square" lIns="0" tIns="0" rIns="0" bIns="0" rtlCol="0" anchor="ctr"/>
          <a:lstStyle/>
          <a:p>
            <a:pPr algn="ctr" indent="0" marL="0">
              <a:buNone/>
            </a:pPr>
            <a:r>
              <a:rPr lang="en-US" sz="1100" b="1" dirty="0">
                <a:solidFill>
                  <a:srgbClr val="0D1F35"/>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365760" y="1463040"/>
            <a:ext cx="1691640" cy="365760"/>
          </a:xfrm>
          <a:prstGeom prst="rect">
            <a:avLst/>
          </a:prstGeom>
          <a:noFill/>
          <a:ln/>
        </p:spPr>
        <p:txBody>
          <a:bodyPr wrap="square" lIns="0" tIns="0" rIns="0" bIns="0" rtlCol="0" anchor="ctr"/>
          <a:lstStyle/>
          <a:p>
            <a:pPr algn="ctr" indent="0" marL="0">
              <a:buNone/>
            </a:pPr>
            <a:r>
              <a:rPr lang="en-US" sz="1200" b="1" dirty="0">
                <a:solidFill>
                  <a:srgbClr val="F0F0F0"/>
                </a:solidFill>
                <a:latin typeface="Calibri" pitchFamily="34" charset="0"/>
                <a:ea typeface="Calibri" pitchFamily="34" charset="-122"/>
                <a:cs typeface="Calibri" pitchFamily="34" charset="-120"/>
              </a:rPr>
              <a:t>Data Source</a:t>
            </a:r>
            <a:endParaRPr lang="en-US" sz="1200" dirty="0"/>
          </a:p>
        </p:txBody>
      </p:sp>
      <p:sp>
        <p:nvSpPr>
          <p:cNvPr id="10" name="Text 8"/>
          <p:cNvSpPr/>
          <p:nvPr/>
        </p:nvSpPr>
        <p:spPr>
          <a:xfrm>
            <a:off x="365760" y="1874520"/>
            <a:ext cx="1691640" cy="822960"/>
          </a:xfrm>
          <a:prstGeom prst="rect">
            <a:avLst/>
          </a:prstGeom>
          <a:noFill/>
          <a:ln/>
        </p:spPr>
        <p:txBody>
          <a:bodyPr wrap="square" lIns="0" tIns="0" rIns="0" bIns="0" rtlCol="0" anchor="ctr"/>
          <a:lstStyle/>
          <a:p>
            <a:pPr algn="ctr" indent="0" marL="0">
              <a:buNone/>
            </a:pPr>
            <a:r>
              <a:rPr lang="en-US" sz="950" dirty="0">
                <a:solidFill>
                  <a:srgbClr val="B0BEC5"/>
                </a:solidFill>
                <a:latin typeface="Calibri" pitchFamily="34" charset="0"/>
                <a:ea typeface="Calibri" pitchFamily="34" charset="-122"/>
                <a:cs typeface="Calibri" pitchFamily="34" charset="-120"/>
              </a:rPr>
              <a:t>yfinance / WRDS</a:t>
            </a:r>
            <a:endParaRPr lang="en-US" sz="950" dirty="0"/>
          </a:p>
          <a:p>
            <a:pPr algn="ctr" indent="0" marL="0">
              <a:buNone/>
            </a:pPr>
            <a:r>
              <a:rPr lang="en-US" sz="950" dirty="0">
                <a:solidFill>
                  <a:srgbClr val="B0BEC5"/>
                </a:solidFill>
                <a:latin typeface="Calibri" pitchFamily="34" charset="0"/>
                <a:ea typeface="Calibri" pitchFamily="34" charset="-122"/>
                <a:cs typeface="Calibri" pitchFamily="34" charset="-120"/>
              </a:rPr>
              <a:t>Compustat</a:t>
            </a:r>
            <a:endParaRPr lang="en-US" sz="950" dirty="0"/>
          </a:p>
        </p:txBody>
      </p:sp>
      <p:sp>
        <p:nvSpPr>
          <p:cNvPr id="11" name="Shape 9"/>
          <p:cNvSpPr/>
          <p:nvPr/>
        </p:nvSpPr>
        <p:spPr>
          <a:xfrm>
            <a:off x="2148840" y="2322576"/>
            <a:ext cx="301752" cy="109728"/>
          </a:xfrm>
          <a:prstGeom prst="rect">
            <a:avLst/>
          </a:prstGeom>
          <a:solidFill>
            <a:srgbClr val="B0BEC5"/>
          </a:solidFill>
          <a:ln w="12700">
            <a:solidFill>
              <a:srgbClr val="B0BEC5"/>
            </a:solidFill>
            <a:prstDash val="solid"/>
          </a:ln>
        </p:spPr>
      </p:sp>
      <p:sp>
        <p:nvSpPr>
          <p:cNvPr id="12" name="Text 10"/>
          <p:cNvSpPr/>
          <p:nvPr/>
        </p:nvSpPr>
        <p:spPr>
          <a:xfrm>
            <a:off x="2395728" y="2194560"/>
            <a:ext cx="182880" cy="274320"/>
          </a:xfrm>
          <a:prstGeom prst="rect">
            <a:avLst/>
          </a:prstGeom>
          <a:noFill/>
          <a:ln/>
        </p:spPr>
        <p:txBody>
          <a:bodyPr wrap="square" lIns="0" tIns="0" rIns="0" bIns="0" rtlCol="0" anchor="ctr"/>
          <a:lstStyle/>
          <a:p>
            <a:pPr indent="0" marL="0">
              <a:buNone/>
            </a:pPr>
            <a:r>
              <a:rPr lang="en-US" sz="1000" dirty="0">
                <a:solidFill>
                  <a:srgbClr val="B0BEC5"/>
                </a:solidFill>
                <a:latin typeface="Calibri" pitchFamily="34" charset="0"/>
                <a:ea typeface="Calibri" pitchFamily="34" charset="-122"/>
                <a:cs typeface="Calibri" pitchFamily="34" charset="-120"/>
              </a:rPr>
              <a:t>▶</a:t>
            </a:r>
            <a:endParaRPr lang="en-US" sz="1000" dirty="0"/>
          </a:p>
        </p:txBody>
      </p:sp>
      <p:sp>
        <p:nvSpPr>
          <p:cNvPr id="13" name="Shape 11"/>
          <p:cNvSpPr/>
          <p:nvPr/>
        </p:nvSpPr>
        <p:spPr>
          <a:xfrm>
            <a:off x="2450592" y="1143000"/>
            <a:ext cx="1874520" cy="1828800"/>
          </a:xfrm>
          <a:prstGeom prst="rect">
            <a:avLst/>
          </a:prstGeom>
          <a:solidFill>
            <a:srgbClr val="1E2D3D"/>
          </a:solidFill>
          <a:ln w="25400">
            <a:solidFill>
              <a:srgbClr val="C8A84B"/>
            </a:solidFill>
            <a:prstDash val="solid"/>
          </a:ln>
          <a:effectLst>
            <a:outerShdw sx="100000" sy="100000" kx="0" ky="0" algn="bl" rotWithShape="0" blurRad="101600" dist="38100" dir="8100000">
              <a:srgbClr val="000000">
                <a:alpha val="20000"/>
              </a:srgbClr>
            </a:outerShdw>
          </a:effectLst>
        </p:spPr>
      </p:sp>
      <p:sp>
        <p:nvSpPr>
          <p:cNvPr id="14" name="Shape 12"/>
          <p:cNvSpPr/>
          <p:nvPr/>
        </p:nvSpPr>
        <p:spPr>
          <a:xfrm>
            <a:off x="2450592" y="1143000"/>
            <a:ext cx="1874520" cy="256032"/>
          </a:xfrm>
          <a:prstGeom prst="rect">
            <a:avLst/>
          </a:prstGeom>
          <a:solidFill>
            <a:srgbClr val="C8A84B"/>
          </a:solidFill>
          <a:ln w="12700">
            <a:solidFill>
              <a:srgbClr val="C8A84B"/>
            </a:solidFill>
            <a:prstDash val="solid"/>
          </a:ln>
        </p:spPr>
      </p:sp>
      <p:sp>
        <p:nvSpPr>
          <p:cNvPr id="15" name="Text 13"/>
          <p:cNvSpPr/>
          <p:nvPr/>
        </p:nvSpPr>
        <p:spPr>
          <a:xfrm>
            <a:off x="2450592" y="1143000"/>
            <a:ext cx="1874520" cy="256032"/>
          </a:xfrm>
          <a:prstGeom prst="rect">
            <a:avLst/>
          </a:prstGeom>
          <a:noFill/>
          <a:ln/>
        </p:spPr>
        <p:txBody>
          <a:bodyPr wrap="square" lIns="0" tIns="0" rIns="0" bIns="0" rtlCol="0" anchor="ctr"/>
          <a:lstStyle/>
          <a:p>
            <a:pPr algn="ctr" indent="0" marL="0">
              <a:buNone/>
            </a:pPr>
            <a:r>
              <a:rPr lang="en-US" sz="1100" b="1" dirty="0">
                <a:solidFill>
                  <a:srgbClr val="0D1F35"/>
                </a:solidFill>
                <a:latin typeface="Calibri" pitchFamily="34" charset="0"/>
                <a:ea typeface="Calibri" pitchFamily="34" charset="-122"/>
                <a:cs typeface="Calibri" pitchFamily="34" charset="-120"/>
              </a:rPr>
              <a:t>2</a:t>
            </a:r>
            <a:endParaRPr lang="en-US" sz="1100" dirty="0"/>
          </a:p>
        </p:txBody>
      </p:sp>
      <p:sp>
        <p:nvSpPr>
          <p:cNvPr id="16" name="Text 14"/>
          <p:cNvSpPr/>
          <p:nvPr/>
        </p:nvSpPr>
        <p:spPr>
          <a:xfrm>
            <a:off x="2542032" y="1463040"/>
            <a:ext cx="1691640" cy="365760"/>
          </a:xfrm>
          <a:prstGeom prst="rect">
            <a:avLst/>
          </a:prstGeom>
          <a:noFill/>
          <a:ln/>
        </p:spPr>
        <p:txBody>
          <a:bodyPr wrap="square" lIns="0" tIns="0" rIns="0" bIns="0" rtlCol="0" anchor="ctr"/>
          <a:lstStyle/>
          <a:p>
            <a:pPr algn="ctr" indent="0" marL="0">
              <a:buNone/>
            </a:pPr>
            <a:r>
              <a:rPr lang="en-US" sz="1200" b="1" dirty="0">
                <a:solidFill>
                  <a:srgbClr val="F0F0F0"/>
                </a:solidFill>
                <a:latin typeface="Calibri" pitchFamily="34" charset="0"/>
                <a:ea typeface="Calibri" pitchFamily="34" charset="-122"/>
                <a:cs typeface="Calibri" pitchFamily="34" charset="-120"/>
              </a:rPr>
              <a:t>Raw Columns</a:t>
            </a:r>
            <a:endParaRPr lang="en-US" sz="1200" dirty="0"/>
          </a:p>
        </p:txBody>
      </p:sp>
      <p:sp>
        <p:nvSpPr>
          <p:cNvPr id="17" name="Text 15"/>
          <p:cNvSpPr/>
          <p:nvPr/>
        </p:nvSpPr>
        <p:spPr>
          <a:xfrm>
            <a:off x="2542032" y="1874520"/>
            <a:ext cx="1691640" cy="822960"/>
          </a:xfrm>
          <a:prstGeom prst="rect">
            <a:avLst/>
          </a:prstGeom>
          <a:noFill/>
          <a:ln/>
        </p:spPr>
        <p:txBody>
          <a:bodyPr wrap="square" lIns="0" tIns="0" rIns="0" bIns="0" rtlCol="0" anchor="ctr"/>
          <a:lstStyle/>
          <a:p>
            <a:pPr algn="ctr" indent="0" marL="0">
              <a:buNone/>
            </a:pPr>
            <a:r>
              <a:rPr lang="en-US" sz="950" dirty="0">
                <a:solidFill>
                  <a:srgbClr val="B0BEC5"/>
                </a:solidFill>
                <a:latin typeface="Calibri" pitchFamily="34" charset="0"/>
                <a:ea typeface="Calibri" pitchFamily="34" charset="-122"/>
                <a:cs typeface="Calibri" pitchFamily="34" charset="-120"/>
              </a:rPr>
              <a:t>revt, cogs, ni,</a:t>
            </a:r>
            <a:endParaRPr lang="en-US" sz="950" dirty="0"/>
          </a:p>
          <a:p>
            <a:pPr algn="ctr" indent="0" marL="0">
              <a:buNone/>
            </a:pPr>
            <a:r>
              <a:rPr lang="en-US" sz="950" dirty="0">
                <a:solidFill>
                  <a:srgbClr val="B0BEC5"/>
                </a:solidFill>
                <a:latin typeface="Calibri" pitchFamily="34" charset="0"/>
                <a:ea typeface="Calibri" pitchFamily="34" charset="-122"/>
                <a:cs typeface="Calibri" pitchFamily="34" charset="-120"/>
              </a:rPr>
              <a:t>oancf, capx...</a:t>
            </a:r>
            <a:endParaRPr lang="en-US" sz="950" dirty="0"/>
          </a:p>
        </p:txBody>
      </p:sp>
      <p:sp>
        <p:nvSpPr>
          <p:cNvPr id="18" name="Shape 16"/>
          <p:cNvSpPr/>
          <p:nvPr/>
        </p:nvSpPr>
        <p:spPr>
          <a:xfrm>
            <a:off x="4325112" y="2322576"/>
            <a:ext cx="301752" cy="109728"/>
          </a:xfrm>
          <a:prstGeom prst="rect">
            <a:avLst/>
          </a:prstGeom>
          <a:solidFill>
            <a:srgbClr val="B0BEC5"/>
          </a:solidFill>
          <a:ln w="12700">
            <a:solidFill>
              <a:srgbClr val="B0BEC5"/>
            </a:solidFill>
            <a:prstDash val="solid"/>
          </a:ln>
        </p:spPr>
      </p:sp>
      <p:sp>
        <p:nvSpPr>
          <p:cNvPr id="19" name="Text 17"/>
          <p:cNvSpPr/>
          <p:nvPr/>
        </p:nvSpPr>
        <p:spPr>
          <a:xfrm>
            <a:off x="4572000" y="2194560"/>
            <a:ext cx="182880" cy="274320"/>
          </a:xfrm>
          <a:prstGeom prst="rect">
            <a:avLst/>
          </a:prstGeom>
          <a:noFill/>
          <a:ln/>
        </p:spPr>
        <p:txBody>
          <a:bodyPr wrap="square" lIns="0" tIns="0" rIns="0" bIns="0" rtlCol="0" anchor="ctr"/>
          <a:lstStyle/>
          <a:p>
            <a:pPr indent="0" marL="0">
              <a:buNone/>
            </a:pPr>
            <a:r>
              <a:rPr lang="en-US" sz="1000" dirty="0">
                <a:solidFill>
                  <a:srgbClr val="B0BEC5"/>
                </a:solidFill>
                <a:latin typeface="Calibri" pitchFamily="34" charset="0"/>
                <a:ea typeface="Calibri" pitchFamily="34" charset="-122"/>
                <a:cs typeface="Calibri" pitchFamily="34" charset="-120"/>
              </a:rPr>
              <a:t>▶</a:t>
            </a:r>
            <a:endParaRPr lang="en-US" sz="1000" dirty="0"/>
          </a:p>
        </p:txBody>
      </p:sp>
      <p:sp>
        <p:nvSpPr>
          <p:cNvPr id="20" name="Shape 18"/>
          <p:cNvSpPr/>
          <p:nvPr/>
        </p:nvSpPr>
        <p:spPr>
          <a:xfrm>
            <a:off x="4626864" y="1143000"/>
            <a:ext cx="1874520" cy="1828800"/>
          </a:xfrm>
          <a:prstGeom prst="rect">
            <a:avLst/>
          </a:prstGeom>
          <a:solidFill>
            <a:srgbClr val="1E2D3D"/>
          </a:solidFill>
          <a:ln w="25400">
            <a:solidFill>
              <a:srgbClr val="4A90D9"/>
            </a:solidFill>
            <a:prstDash val="solid"/>
          </a:ln>
          <a:effectLst>
            <a:outerShdw sx="100000" sy="100000" kx="0" ky="0" algn="bl" rotWithShape="0" blurRad="101600" dist="38100" dir="8100000">
              <a:srgbClr val="000000">
                <a:alpha val="20000"/>
              </a:srgbClr>
            </a:outerShdw>
          </a:effectLst>
        </p:spPr>
      </p:sp>
      <p:sp>
        <p:nvSpPr>
          <p:cNvPr id="21" name="Shape 19"/>
          <p:cNvSpPr/>
          <p:nvPr/>
        </p:nvSpPr>
        <p:spPr>
          <a:xfrm>
            <a:off x="4626864" y="1143000"/>
            <a:ext cx="1874520" cy="256032"/>
          </a:xfrm>
          <a:prstGeom prst="rect">
            <a:avLst/>
          </a:prstGeom>
          <a:solidFill>
            <a:srgbClr val="4A90D9"/>
          </a:solidFill>
          <a:ln w="12700">
            <a:solidFill>
              <a:srgbClr val="4A90D9"/>
            </a:solidFill>
            <a:prstDash val="solid"/>
          </a:ln>
        </p:spPr>
      </p:sp>
      <p:sp>
        <p:nvSpPr>
          <p:cNvPr id="22" name="Text 20"/>
          <p:cNvSpPr/>
          <p:nvPr/>
        </p:nvSpPr>
        <p:spPr>
          <a:xfrm>
            <a:off x="4626864" y="1143000"/>
            <a:ext cx="1874520" cy="256032"/>
          </a:xfrm>
          <a:prstGeom prst="rect">
            <a:avLst/>
          </a:prstGeom>
          <a:noFill/>
          <a:ln/>
        </p:spPr>
        <p:txBody>
          <a:bodyPr wrap="square" lIns="0" tIns="0" rIns="0" bIns="0" rtlCol="0" anchor="ctr"/>
          <a:lstStyle/>
          <a:p>
            <a:pPr algn="ctr" indent="0" marL="0">
              <a:buNone/>
            </a:pPr>
            <a:r>
              <a:rPr lang="en-US" sz="1100" b="1" dirty="0">
                <a:solidFill>
                  <a:srgbClr val="0D1F35"/>
                </a:solidFill>
                <a:latin typeface="Calibri" pitchFamily="34" charset="0"/>
                <a:ea typeface="Calibri" pitchFamily="34" charset="-122"/>
                <a:cs typeface="Calibri" pitchFamily="34" charset="-120"/>
              </a:rPr>
              <a:t>3</a:t>
            </a:r>
            <a:endParaRPr lang="en-US" sz="1100" dirty="0"/>
          </a:p>
        </p:txBody>
      </p:sp>
      <p:sp>
        <p:nvSpPr>
          <p:cNvPr id="23" name="Text 21"/>
          <p:cNvSpPr/>
          <p:nvPr/>
        </p:nvSpPr>
        <p:spPr>
          <a:xfrm>
            <a:off x="4718304" y="1463040"/>
            <a:ext cx="1691640" cy="365760"/>
          </a:xfrm>
          <a:prstGeom prst="rect">
            <a:avLst/>
          </a:prstGeom>
          <a:noFill/>
          <a:ln/>
        </p:spPr>
        <p:txBody>
          <a:bodyPr wrap="square" lIns="0" tIns="0" rIns="0" bIns="0" rtlCol="0" anchor="ctr"/>
          <a:lstStyle/>
          <a:p>
            <a:pPr algn="ctr" indent="0" marL="0">
              <a:buNone/>
            </a:pPr>
            <a:r>
              <a:rPr lang="en-US" sz="1200" b="1" dirty="0">
                <a:solidFill>
                  <a:srgbClr val="F0F0F0"/>
                </a:solidFill>
                <a:latin typeface="Calibri" pitchFamily="34" charset="0"/>
                <a:ea typeface="Calibri" pitchFamily="34" charset="-122"/>
                <a:cs typeface="Calibri" pitchFamily="34" charset="-120"/>
              </a:rPr>
              <a:t>process_dol()</a:t>
            </a:r>
            <a:endParaRPr lang="en-US" sz="1200" dirty="0"/>
          </a:p>
        </p:txBody>
      </p:sp>
      <p:sp>
        <p:nvSpPr>
          <p:cNvPr id="24" name="Text 22"/>
          <p:cNvSpPr/>
          <p:nvPr/>
        </p:nvSpPr>
        <p:spPr>
          <a:xfrm>
            <a:off x="4718304" y="1874520"/>
            <a:ext cx="1691640" cy="822960"/>
          </a:xfrm>
          <a:prstGeom prst="rect">
            <a:avLst/>
          </a:prstGeom>
          <a:noFill/>
          <a:ln/>
        </p:spPr>
        <p:txBody>
          <a:bodyPr wrap="square" lIns="0" tIns="0" rIns="0" bIns="0" rtlCol="0" anchor="ctr"/>
          <a:lstStyle/>
          <a:p>
            <a:pPr algn="ctr" indent="0" marL="0">
              <a:buNone/>
            </a:pPr>
            <a:r>
              <a:rPr lang="en-US" sz="950" dirty="0">
                <a:solidFill>
                  <a:srgbClr val="B0BEC5"/>
                </a:solidFill>
                <a:latin typeface="Calibri" pitchFamily="34" charset="0"/>
                <a:ea typeface="Calibri" pitchFamily="34" charset="-122"/>
                <a:cs typeface="Calibri" pitchFamily="34" charset="-120"/>
              </a:rPr>
              <a:t>All formulas</a:t>
            </a:r>
            <a:endParaRPr lang="en-US" sz="950" dirty="0"/>
          </a:p>
          <a:p>
            <a:pPr algn="ctr" indent="0" marL="0">
              <a:buNone/>
            </a:pPr>
            <a:r>
              <a:rPr lang="en-US" sz="950" dirty="0">
                <a:solidFill>
                  <a:srgbClr val="B0BEC5"/>
                </a:solidFill>
                <a:latin typeface="Calibri" pitchFamily="34" charset="0"/>
                <a:ea typeface="Calibri" pitchFamily="34" charset="-122"/>
                <a:cs typeface="Calibri" pitchFamily="34" charset="-120"/>
              </a:rPr>
              <a:t>applied here</a:t>
            </a:r>
            <a:endParaRPr lang="en-US" sz="950" dirty="0"/>
          </a:p>
        </p:txBody>
      </p:sp>
      <p:sp>
        <p:nvSpPr>
          <p:cNvPr id="25" name="Shape 23"/>
          <p:cNvSpPr/>
          <p:nvPr/>
        </p:nvSpPr>
        <p:spPr>
          <a:xfrm>
            <a:off x="6501384" y="2322576"/>
            <a:ext cx="301752" cy="109728"/>
          </a:xfrm>
          <a:prstGeom prst="rect">
            <a:avLst/>
          </a:prstGeom>
          <a:solidFill>
            <a:srgbClr val="B0BEC5"/>
          </a:solidFill>
          <a:ln w="12700">
            <a:solidFill>
              <a:srgbClr val="B0BEC5"/>
            </a:solidFill>
            <a:prstDash val="solid"/>
          </a:ln>
        </p:spPr>
      </p:sp>
      <p:sp>
        <p:nvSpPr>
          <p:cNvPr id="26" name="Text 24"/>
          <p:cNvSpPr/>
          <p:nvPr/>
        </p:nvSpPr>
        <p:spPr>
          <a:xfrm>
            <a:off x="6748272" y="2194560"/>
            <a:ext cx="182880" cy="274320"/>
          </a:xfrm>
          <a:prstGeom prst="rect">
            <a:avLst/>
          </a:prstGeom>
          <a:noFill/>
          <a:ln/>
        </p:spPr>
        <p:txBody>
          <a:bodyPr wrap="square" lIns="0" tIns="0" rIns="0" bIns="0" rtlCol="0" anchor="ctr"/>
          <a:lstStyle/>
          <a:p>
            <a:pPr indent="0" marL="0">
              <a:buNone/>
            </a:pPr>
            <a:r>
              <a:rPr lang="en-US" sz="1000" dirty="0">
                <a:solidFill>
                  <a:srgbClr val="B0BEC5"/>
                </a:solidFill>
                <a:latin typeface="Calibri" pitchFamily="34" charset="0"/>
                <a:ea typeface="Calibri" pitchFamily="34" charset="-122"/>
                <a:cs typeface="Calibri" pitchFamily="34" charset="-120"/>
              </a:rPr>
              <a:t>▶</a:t>
            </a:r>
            <a:endParaRPr lang="en-US" sz="1000" dirty="0"/>
          </a:p>
        </p:txBody>
      </p:sp>
      <p:sp>
        <p:nvSpPr>
          <p:cNvPr id="27" name="Shape 25"/>
          <p:cNvSpPr/>
          <p:nvPr/>
        </p:nvSpPr>
        <p:spPr>
          <a:xfrm>
            <a:off x="6803136" y="1143000"/>
            <a:ext cx="1874520" cy="1828800"/>
          </a:xfrm>
          <a:prstGeom prst="rect">
            <a:avLst/>
          </a:prstGeom>
          <a:solidFill>
            <a:srgbClr val="1E2D3D"/>
          </a:solidFill>
          <a:ln w="25400">
            <a:solidFill>
              <a:srgbClr val="2ECC71"/>
            </a:solidFill>
            <a:prstDash val="solid"/>
          </a:ln>
          <a:effectLst>
            <a:outerShdw sx="100000" sy="100000" kx="0" ky="0" algn="bl" rotWithShape="0" blurRad="101600" dist="38100" dir="8100000">
              <a:srgbClr val="000000">
                <a:alpha val="20000"/>
              </a:srgbClr>
            </a:outerShdw>
          </a:effectLst>
        </p:spPr>
      </p:sp>
      <p:sp>
        <p:nvSpPr>
          <p:cNvPr id="28" name="Shape 26"/>
          <p:cNvSpPr/>
          <p:nvPr/>
        </p:nvSpPr>
        <p:spPr>
          <a:xfrm>
            <a:off x="6803136" y="1143000"/>
            <a:ext cx="1874520" cy="256032"/>
          </a:xfrm>
          <a:prstGeom prst="rect">
            <a:avLst/>
          </a:prstGeom>
          <a:solidFill>
            <a:srgbClr val="2ECC71"/>
          </a:solidFill>
          <a:ln w="12700">
            <a:solidFill>
              <a:srgbClr val="2ECC71"/>
            </a:solidFill>
            <a:prstDash val="solid"/>
          </a:ln>
        </p:spPr>
      </p:sp>
      <p:sp>
        <p:nvSpPr>
          <p:cNvPr id="29" name="Text 27"/>
          <p:cNvSpPr/>
          <p:nvPr/>
        </p:nvSpPr>
        <p:spPr>
          <a:xfrm>
            <a:off x="6803136" y="1143000"/>
            <a:ext cx="1874520" cy="256032"/>
          </a:xfrm>
          <a:prstGeom prst="rect">
            <a:avLst/>
          </a:prstGeom>
          <a:noFill/>
          <a:ln/>
        </p:spPr>
        <p:txBody>
          <a:bodyPr wrap="square" lIns="0" tIns="0" rIns="0" bIns="0" rtlCol="0" anchor="ctr"/>
          <a:lstStyle/>
          <a:p>
            <a:pPr algn="ctr" indent="0" marL="0">
              <a:buNone/>
            </a:pPr>
            <a:r>
              <a:rPr lang="en-US" sz="1100" b="1" dirty="0">
                <a:solidFill>
                  <a:srgbClr val="0D1F35"/>
                </a:solidFill>
                <a:latin typeface="Calibri" pitchFamily="34" charset="0"/>
                <a:ea typeface="Calibri" pitchFamily="34" charset="-122"/>
                <a:cs typeface="Calibri" pitchFamily="34" charset="-120"/>
              </a:rPr>
              <a:t>4</a:t>
            </a:r>
            <a:endParaRPr lang="en-US" sz="1100" dirty="0"/>
          </a:p>
        </p:txBody>
      </p:sp>
      <p:sp>
        <p:nvSpPr>
          <p:cNvPr id="30" name="Text 28"/>
          <p:cNvSpPr/>
          <p:nvPr/>
        </p:nvSpPr>
        <p:spPr>
          <a:xfrm>
            <a:off x="6894576" y="1463040"/>
            <a:ext cx="1691640" cy="365760"/>
          </a:xfrm>
          <a:prstGeom prst="rect">
            <a:avLst/>
          </a:prstGeom>
          <a:noFill/>
          <a:ln/>
        </p:spPr>
        <p:txBody>
          <a:bodyPr wrap="square" lIns="0" tIns="0" rIns="0" bIns="0" rtlCol="0" anchor="ctr"/>
          <a:lstStyle/>
          <a:p>
            <a:pPr algn="ctr" indent="0" marL="0">
              <a:buNone/>
            </a:pPr>
            <a:r>
              <a:rPr lang="en-US" sz="1200" b="1" dirty="0">
                <a:solidFill>
                  <a:srgbClr val="F0F0F0"/>
                </a:solidFill>
                <a:latin typeface="Calibri" pitchFamily="34" charset="0"/>
                <a:ea typeface="Calibri" pitchFamily="34" charset="-122"/>
                <a:cs typeface="Calibri" pitchFamily="34" charset="-120"/>
              </a:rPr>
              <a:t>Charts &amp; Tables</a:t>
            </a:r>
            <a:endParaRPr lang="en-US" sz="1200" dirty="0"/>
          </a:p>
        </p:txBody>
      </p:sp>
      <p:sp>
        <p:nvSpPr>
          <p:cNvPr id="31" name="Text 29"/>
          <p:cNvSpPr/>
          <p:nvPr/>
        </p:nvSpPr>
        <p:spPr>
          <a:xfrm>
            <a:off x="6894576" y="1874520"/>
            <a:ext cx="1691640" cy="822960"/>
          </a:xfrm>
          <a:prstGeom prst="rect">
            <a:avLst/>
          </a:prstGeom>
          <a:noFill/>
          <a:ln/>
        </p:spPr>
        <p:txBody>
          <a:bodyPr wrap="square" lIns="0" tIns="0" rIns="0" bIns="0" rtlCol="0" anchor="ctr"/>
          <a:lstStyle/>
          <a:p>
            <a:pPr algn="ctr" indent="0" marL="0">
              <a:buNone/>
            </a:pPr>
            <a:r>
              <a:rPr lang="en-US" sz="950" dirty="0">
                <a:solidFill>
                  <a:srgbClr val="B0BEC5"/>
                </a:solidFill>
                <a:latin typeface="Calibri" pitchFamily="34" charset="0"/>
                <a:ea typeface="Calibri" pitchFamily="34" charset="-122"/>
                <a:cs typeface="Calibri" pitchFamily="34" charset="-120"/>
              </a:rPr>
              <a:t>9 tabs, all</a:t>
            </a:r>
            <a:endParaRPr lang="en-US" sz="950" dirty="0"/>
          </a:p>
          <a:p>
            <a:pPr algn="ctr" indent="0" marL="0">
              <a:buNone/>
            </a:pPr>
            <a:r>
              <a:rPr lang="en-US" sz="950" dirty="0">
                <a:solidFill>
                  <a:srgbClr val="B0BEC5"/>
                </a:solidFill>
                <a:latin typeface="Calibri" pitchFamily="34" charset="0"/>
                <a:ea typeface="Calibri" pitchFamily="34" charset="-122"/>
                <a:cs typeface="Calibri" pitchFamily="34" charset="-120"/>
              </a:rPr>
              <a:t>interactive</a:t>
            </a:r>
            <a:endParaRPr lang="en-US" sz="950" dirty="0"/>
          </a:p>
        </p:txBody>
      </p:sp>
      <p:sp>
        <p:nvSpPr>
          <p:cNvPr id="32" name="Shape 30"/>
          <p:cNvSpPr/>
          <p:nvPr/>
        </p:nvSpPr>
        <p:spPr>
          <a:xfrm>
            <a:off x="365760" y="3200400"/>
            <a:ext cx="8412480" cy="1645920"/>
          </a:xfrm>
          <a:prstGeom prst="rect">
            <a:avLst/>
          </a:prstGeom>
          <a:solidFill>
            <a:srgbClr val="162840"/>
          </a:solidFill>
          <a:ln w="12700">
            <a:solidFill>
              <a:srgbClr val="0A7A7A"/>
            </a:solidFill>
            <a:prstDash val="solid"/>
          </a:ln>
          <a:effectLst>
            <a:outerShdw sx="100000" sy="100000" kx="0" ky="0" algn="bl" rotWithShape="0" blurRad="101600" dist="38100" dir="8100000">
              <a:srgbClr val="000000">
                <a:alpha val="20000"/>
              </a:srgbClr>
            </a:outerShdw>
          </a:effectLst>
        </p:spPr>
      </p:sp>
      <p:sp>
        <p:nvSpPr>
          <p:cNvPr id="33" name="Text 31"/>
          <p:cNvSpPr/>
          <p:nvPr/>
        </p:nvSpPr>
        <p:spPr>
          <a:xfrm>
            <a:off x="502920" y="3273552"/>
            <a:ext cx="8229600" cy="274320"/>
          </a:xfrm>
          <a:prstGeom prst="rect">
            <a:avLst/>
          </a:prstGeom>
          <a:noFill/>
          <a:ln/>
        </p:spPr>
        <p:txBody>
          <a:bodyPr wrap="square" lIns="0" tIns="0" rIns="0" bIns="0" rtlCol="0" anchor="ctr"/>
          <a:lstStyle/>
          <a:p>
            <a:pPr indent="0" marL="0">
              <a:buNone/>
            </a:pPr>
            <a:r>
              <a:rPr lang="en-US" sz="1100" b="1" dirty="0">
                <a:solidFill>
                  <a:srgbClr val="0D9E9E"/>
                </a:solidFill>
                <a:latin typeface="Calibri" pitchFamily="34" charset="0"/>
                <a:ea typeface="Calibri" pitchFamily="34" charset="-122"/>
                <a:cs typeface="Calibri" pitchFamily="34" charset="-120"/>
              </a:rPr>
              <a:t>Key Raw Compustat Columns Used</a:t>
            </a:r>
            <a:endParaRPr lang="en-US" sz="1100" dirty="0"/>
          </a:p>
        </p:txBody>
      </p:sp>
      <p:sp>
        <p:nvSpPr>
          <p:cNvPr id="34" name="Text 32"/>
          <p:cNvSpPr/>
          <p:nvPr/>
        </p:nvSpPr>
        <p:spPr>
          <a:xfrm>
            <a:off x="502920" y="3611880"/>
            <a:ext cx="2011680" cy="256032"/>
          </a:xfrm>
          <a:prstGeom prst="rect">
            <a:avLst/>
          </a:prstGeom>
          <a:noFill/>
          <a:ln/>
        </p:spPr>
        <p:txBody>
          <a:bodyPr wrap="square" lIns="0" tIns="0" rIns="0" bIns="0" rtlCol="0" anchor="ctr"/>
          <a:lstStyle/>
          <a:p>
            <a:pPr indent="0" marL="0">
              <a:buNone/>
            </a:pPr>
            <a:r>
              <a:rPr lang="en-US" sz="900" dirty="0">
                <a:solidFill>
                  <a:srgbClr val="C8A84B"/>
                </a:solidFill>
                <a:latin typeface="Consolas" pitchFamily="34" charset="0"/>
                <a:ea typeface="Consolas" pitchFamily="34" charset="-122"/>
                <a:cs typeface="Consolas" pitchFamily="34" charset="-120"/>
              </a:rPr>
              <a:t>revt = Revenue</a:t>
            </a:r>
            <a:endParaRPr lang="en-US" sz="900" dirty="0"/>
          </a:p>
        </p:txBody>
      </p:sp>
      <p:sp>
        <p:nvSpPr>
          <p:cNvPr id="35" name="Text 33"/>
          <p:cNvSpPr/>
          <p:nvPr/>
        </p:nvSpPr>
        <p:spPr>
          <a:xfrm>
            <a:off x="2560320" y="3611880"/>
            <a:ext cx="2011680" cy="256032"/>
          </a:xfrm>
          <a:prstGeom prst="rect">
            <a:avLst/>
          </a:prstGeom>
          <a:noFill/>
          <a:ln/>
        </p:spPr>
        <p:txBody>
          <a:bodyPr wrap="square" lIns="0" tIns="0" rIns="0" bIns="0" rtlCol="0" anchor="ctr"/>
          <a:lstStyle/>
          <a:p>
            <a:pPr indent="0" marL="0">
              <a:buNone/>
            </a:pPr>
            <a:r>
              <a:rPr lang="en-US" sz="900" dirty="0">
                <a:solidFill>
                  <a:srgbClr val="C8A84B"/>
                </a:solidFill>
                <a:latin typeface="Consolas" pitchFamily="34" charset="0"/>
                <a:ea typeface="Consolas" pitchFamily="34" charset="-122"/>
                <a:cs typeface="Consolas" pitchFamily="34" charset="-120"/>
              </a:rPr>
              <a:t>cogs = Cost of Goods</a:t>
            </a:r>
            <a:endParaRPr lang="en-US" sz="900" dirty="0"/>
          </a:p>
        </p:txBody>
      </p:sp>
      <p:sp>
        <p:nvSpPr>
          <p:cNvPr id="36" name="Text 34"/>
          <p:cNvSpPr/>
          <p:nvPr/>
        </p:nvSpPr>
        <p:spPr>
          <a:xfrm>
            <a:off x="4617720" y="3611880"/>
            <a:ext cx="2011680" cy="256032"/>
          </a:xfrm>
          <a:prstGeom prst="rect">
            <a:avLst/>
          </a:prstGeom>
          <a:noFill/>
          <a:ln/>
        </p:spPr>
        <p:txBody>
          <a:bodyPr wrap="square" lIns="0" tIns="0" rIns="0" bIns="0" rtlCol="0" anchor="ctr"/>
          <a:lstStyle/>
          <a:p>
            <a:pPr indent="0" marL="0">
              <a:buNone/>
            </a:pPr>
            <a:r>
              <a:rPr lang="en-US" sz="900" dirty="0">
                <a:solidFill>
                  <a:srgbClr val="C8A84B"/>
                </a:solidFill>
                <a:latin typeface="Consolas" pitchFamily="34" charset="0"/>
                <a:ea typeface="Consolas" pitchFamily="34" charset="-122"/>
                <a:cs typeface="Consolas" pitchFamily="34" charset="-120"/>
              </a:rPr>
              <a:t>xsga = SG&amp;A Expenses</a:t>
            </a:r>
            <a:endParaRPr lang="en-US" sz="900" dirty="0"/>
          </a:p>
        </p:txBody>
      </p:sp>
      <p:sp>
        <p:nvSpPr>
          <p:cNvPr id="37" name="Text 35"/>
          <p:cNvSpPr/>
          <p:nvPr/>
        </p:nvSpPr>
        <p:spPr>
          <a:xfrm>
            <a:off x="6675120" y="3611880"/>
            <a:ext cx="2011680" cy="256032"/>
          </a:xfrm>
          <a:prstGeom prst="rect">
            <a:avLst/>
          </a:prstGeom>
          <a:noFill/>
          <a:ln/>
        </p:spPr>
        <p:txBody>
          <a:bodyPr wrap="square" lIns="0" tIns="0" rIns="0" bIns="0" rtlCol="0" anchor="ctr"/>
          <a:lstStyle/>
          <a:p>
            <a:pPr indent="0" marL="0">
              <a:buNone/>
            </a:pPr>
            <a:r>
              <a:rPr lang="en-US" sz="900" dirty="0">
                <a:solidFill>
                  <a:srgbClr val="C8A84B"/>
                </a:solidFill>
                <a:latin typeface="Consolas" pitchFamily="34" charset="0"/>
                <a:ea typeface="Consolas" pitchFamily="34" charset="-122"/>
                <a:cs typeface="Consolas" pitchFamily="34" charset="-120"/>
              </a:rPr>
              <a:t>dp = Depreciation</a:t>
            </a:r>
            <a:endParaRPr lang="en-US" sz="900" dirty="0"/>
          </a:p>
        </p:txBody>
      </p:sp>
      <p:sp>
        <p:nvSpPr>
          <p:cNvPr id="38" name="Text 36"/>
          <p:cNvSpPr/>
          <p:nvPr/>
        </p:nvSpPr>
        <p:spPr>
          <a:xfrm>
            <a:off x="502920" y="3904488"/>
            <a:ext cx="2011680" cy="256032"/>
          </a:xfrm>
          <a:prstGeom prst="rect">
            <a:avLst/>
          </a:prstGeom>
          <a:noFill/>
          <a:ln/>
        </p:spPr>
        <p:txBody>
          <a:bodyPr wrap="square" lIns="0" tIns="0" rIns="0" bIns="0" rtlCol="0" anchor="ctr"/>
          <a:lstStyle/>
          <a:p>
            <a:pPr indent="0" marL="0">
              <a:buNone/>
            </a:pPr>
            <a:r>
              <a:rPr lang="en-US" sz="900" dirty="0">
                <a:solidFill>
                  <a:srgbClr val="B0BEC5"/>
                </a:solidFill>
                <a:latin typeface="Consolas" pitchFamily="34" charset="0"/>
                <a:ea typeface="Consolas" pitchFamily="34" charset="-122"/>
                <a:cs typeface="Consolas" pitchFamily="34" charset="-120"/>
              </a:rPr>
              <a:t>ni = Net Income</a:t>
            </a:r>
            <a:endParaRPr lang="en-US" sz="900" dirty="0"/>
          </a:p>
        </p:txBody>
      </p:sp>
      <p:sp>
        <p:nvSpPr>
          <p:cNvPr id="39" name="Text 37"/>
          <p:cNvSpPr/>
          <p:nvPr/>
        </p:nvSpPr>
        <p:spPr>
          <a:xfrm>
            <a:off x="2560320" y="3904488"/>
            <a:ext cx="2011680" cy="256032"/>
          </a:xfrm>
          <a:prstGeom prst="rect">
            <a:avLst/>
          </a:prstGeom>
          <a:noFill/>
          <a:ln/>
        </p:spPr>
        <p:txBody>
          <a:bodyPr wrap="square" lIns="0" tIns="0" rIns="0" bIns="0" rtlCol="0" anchor="ctr"/>
          <a:lstStyle/>
          <a:p>
            <a:pPr indent="0" marL="0">
              <a:buNone/>
            </a:pPr>
            <a:r>
              <a:rPr lang="en-US" sz="900" dirty="0">
                <a:solidFill>
                  <a:srgbClr val="B0BEC5"/>
                </a:solidFill>
                <a:latin typeface="Consolas" pitchFamily="34" charset="0"/>
                <a:ea typeface="Consolas" pitchFamily="34" charset="-122"/>
                <a:cs typeface="Consolas" pitchFamily="34" charset="-120"/>
              </a:rPr>
              <a:t>epspx = Diluted EPS</a:t>
            </a:r>
            <a:endParaRPr lang="en-US" sz="900" dirty="0"/>
          </a:p>
        </p:txBody>
      </p:sp>
      <p:sp>
        <p:nvSpPr>
          <p:cNvPr id="40" name="Text 38"/>
          <p:cNvSpPr/>
          <p:nvPr/>
        </p:nvSpPr>
        <p:spPr>
          <a:xfrm>
            <a:off x="4617720" y="3904488"/>
            <a:ext cx="2011680" cy="256032"/>
          </a:xfrm>
          <a:prstGeom prst="rect">
            <a:avLst/>
          </a:prstGeom>
          <a:noFill/>
          <a:ln/>
        </p:spPr>
        <p:txBody>
          <a:bodyPr wrap="square" lIns="0" tIns="0" rIns="0" bIns="0" rtlCol="0" anchor="ctr"/>
          <a:lstStyle/>
          <a:p>
            <a:pPr indent="0" marL="0">
              <a:buNone/>
            </a:pPr>
            <a:r>
              <a:rPr lang="en-US" sz="900" dirty="0">
                <a:solidFill>
                  <a:srgbClr val="B0BEC5"/>
                </a:solidFill>
                <a:latin typeface="Consolas" pitchFamily="34" charset="0"/>
                <a:ea typeface="Consolas" pitchFamily="34" charset="-122"/>
                <a:cs typeface="Consolas" pitchFamily="34" charset="-120"/>
              </a:rPr>
              <a:t>oancf = Operating CF</a:t>
            </a:r>
            <a:endParaRPr lang="en-US" sz="900" dirty="0"/>
          </a:p>
        </p:txBody>
      </p:sp>
      <p:sp>
        <p:nvSpPr>
          <p:cNvPr id="41" name="Text 39"/>
          <p:cNvSpPr/>
          <p:nvPr/>
        </p:nvSpPr>
        <p:spPr>
          <a:xfrm>
            <a:off x="6675120" y="3904488"/>
            <a:ext cx="2011680" cy="256032"/>
          </a:xfrm>
          <a:prstGeom prst="rect">
            <a:avLst/>
          </a:prstGeom>
          <a:noFill/>
          <a:ln/>
        </p:spPr>
        <p:txBody>
          <a:bodyPr wrap="square" lIns="0" tIns="0" rIns="0" bIns="0" rtlCol="0" anchor="ctr"/>
          <a:lstStyle/>
          <a:p>
            <a:pPr indent="0" marL="0">
              <a:buNone/>
            </a:pPr>
            <a:r>
              <a:rPr lang="en-US" sz="900" dirty="0">
                <a:solidFill>
                  <a:srgbClr val="B0BEC5"/>
                </a:solidFill>
                <a:latin typeface="Consolas" pitchFamily="34" charset="0"/>
                <a:ea typeface="Consolas" pitchFamily="34" charset="-122"/>
                <a:cs typeface="Consolas" pitchFamily="34" charset="-120"/>
              </a:rPr>
              <a:t>capx = Capital Expenditure</a:t>
            </a:r>
            <a:endParaRPr lang="en-US" sz="900" dirty="0"/>
          </a:p>
        </p:txBody>
      </p:sp>
      <p:sp>
        <p:nvSpPr>
          <p:cNvPr id="42" name="Text 40"/>
          <p:cNvSpPr/>
          <p:nvPr/>
        </p:nvSpPr>
        <p:spPr>
          <a:xfrm>
            <a:off x="502920" y="4197096"/>
            <a:ext cx="2011680" cy="256032"/>
          </a:xfrm>
          <a:prstGeom prst="rect">
            <a:avLst/>
          </a:prstGeom>
          <a:noFill/>
          <a:ln/>
        </p:spPr>
        <p:txBody>
          <a:bodyPr wrap="square" lIns="0" tIns="0" rIns="0" bIns="0" rtlCol="0" anchor="ctr"/>
          <a:lstStyle/>
          <a:p>
            <a:pPr indent="0" marL="0">
              <a:buNone/>
            </a:pPr>
            <a:r>
              <a:rPr lang="en-US" sz="900" dirty="0">
                <a:solidFill>
                  <a:srgbClr val="B0BEC5"/>
                </a:solidFill>
                <a:latin typeface="Consolas" pitchFamily="34" charset="0"/>
                <a:ea typeface="Consolas" pitchFamily="34" charset="-122"/>
                <a:cs typeface="Consolas" pitchFamily="34" charset="-120"/>
              </a:rPr>
              <a:t>at = Total Assets</a:t>
            </a:r>
            <a:endParaRPr lang="en-US" sz="900" dirty="0"/>
          </a:p>
        </p:txBody>
      </p:sp>
      <p:sp>
        <p:nvSpPr>
          <p:cNvPr id="43" name="Text 41"/>
          <p:cNvSpPr/>
          <p:nvPr/>
        </p:nvSpPr>
        <p:spPr>
          <a:xfrm>
            <a:off x="2560320" y="4197096"/>
            <a:ext cx="2011680" cy="256032"/>
          </a:xfrm>
          <a:prstGeom prst="rect">
            <a:avLst/>
          </a:prstGeom>
          <a:noFill/>
          <a:ln/>
        </p:spPr>
        <p:txBody>
          <a:bodyPr wrap="square" lIns="0" tIns="0" rIns="0" bIns="0" rtlCol="0" anchor="ctr"/>
          <a:lstStyle/>
          <a:p>
            <a:pPr indent="0" marL="0">
              <a:buNone/>
            </a:pPr>
            <a:r>
              <a:rPr lang="en-US" sz="900" dirty="0">
                <a:solidFill>
                  <a:srgbClr val="B0BEC5"/>
                </a:solidFill>
                <a:latin typeface="Consolas" pitchFamily="34" charset="0"/>
                <a:ea typeface="Consolas" pitchFamily="34" charset="-122"/>
                <a:cs typeface="Consolas" pitchFamily="34" charset="-120"/>
              </a:rPr>
              <a:t>dltt = Long-Term Debt</a:t>
            </a:r>
            <a:endParaRPr lang="en-US" sz="900" dirty="0"/>
          </a:p>
        </p:txBody>
      </p:sp>
      <p:sp>
        <p:nvSpPr>
          <p:cNvPr id="44" name="Text 42"/>
          <p:cNvSpPr/>
          <p:nvPr/>
        </p:nvSpPr>
        <p:spPr>
          <a:xfrm>
            <a:off x="4617720" y="4197096"/>
            <a:ext cx="2011680" cy="256032"/>
          </a:xfrm>
          <a:prstGeom prst="rect">
            <a:avLst/>
          </a:prstGeom>
          <a:noFill/>
          <a:ln/>
        </p:spPr>
        <p:txBody>
          <a:bodyPr wrap="square" lIns="0" tIns="0" rIns="0" bIns="0" rtlCol="0" anchor="ctr"/>
          <a:lstStyle/>
          <a:p>
            <a:pPr indent="0" marL="0">
              <a:buNone/>
            </a:pPr>
            <a:r>
              <a:rPr lang="en-US" sz="900" dirty="0">
                <a:solidFill>
                  <a:srgbClr val="B0BEC5"/>
                </a:solidFill>
                <a:latin typeface="Consolas" pitchFamily="34" charset="0"/>
                <a:ea typeface="Consolas" pitchFamily="34" charset="-122"/>
                <a:cs typeface="Consolas" pitchFamily="34" charset="-120"/>
              </a:rPr>
              <a:t>che = Cash</a:t>
            </a:r>
            <a:endParaRPr lang="en-US" sz="900" dirty="0"/>
          </a:p>
        </p:txBody>
      </p:sp>
      <p:sp>
        <p:nvSpPr>
          <p:cNvPr id="45" name="Text 43"/>
          <p:cNvSpPr/>
          <p:nvPr/>
        </p:nvSpPr>
        <p:spPr>
          <a:xfrm>
            <a:off x="6675120" y="4197096"/>
            <a:ext cx="2011680" cy="256032"/>
          </a:xfrm>
          <a:prstGeom prst="rect">
            <a:avLst/>
          </a:prstGeom>
          <a:noFill/>
          <a:ln/>
        </p:spPr>
        <p:txBody>
          <a:bodyPr wrap="square" lIns="0" tIns="0" rIns="0" bIns="0" rtlCol="0" anchor="ctr"/>
          <a:lstStyle/>
          <a:p>
            <a:pPr indent="0" marL="0">
              <a:buNone/>
            </a:pPr>
            <a:r>
              <a:rPr lang="en-US" sz="900" dirty="0">
                <a:solidFill>
                  <a:srgbClr val="B0BEC5"/>
                </a:solidFill>
                <a:latin typeface="Consolas" pitchFamily="34" charset="0"/>
                <a:ea typeface="Consolas" pitchFamily="34" charset="-122"/>
                <a:cs typeface="Consolas" pitchFamily="34" charset="-120"/>
              </a:rPr>
              <a:t>csho = Shares Outstanding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F3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E9E"/>
          </a:solidFill>
          <a:ln w="12700">
            <a:solidFill>
              <a:srgbClr val="0D9E9E"/>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400" b="1" dirty="0">
                <a:solidFill>
                  <a:srgbClr val="F0F0F0"/>
                </a:solidFill>
                <a:latin typeface="Calibri" pitchFamily="34" charset="0"/>
                <a:ea typeface="Calibri" pitchFamily="34" charset="-122"/>
                <a:cs typeface="Calibri" pitchFamily="34" charset="-120"/>
              </a:rPr>
              <a:t>The Formulas — From Raw to Meaningful</a:t>
            </a:r>
            <a:endParaRPr lang="en-US" sz="24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indent="0" marL="0">
              <a:buNone/>
            </a:pPr>
            <a:r>
              <a:rPr lang="en-US" sz="1100" i="1" dirty="0">
                <a:solidFill>
                  <a:srgbClr val="0D9E9E"/>
                </a:solidFill>
                <a:latin typeface="Calibri" pitchFamily="34" charset="0"/>
                <a:ea typeface="Calibri" pitchFamily="34" charset="-122"/>
                <a:cs typeface="Calibri" pitchFamily="34" charset="-120"/>
              </a:rPr>
              <a:t>Every metric is calculated — nothing is pre-packaged or downloaded as a ratio</a:t>
            </a:r>
            <a:endParaRPr lang="en-US" sz="1100" dirty="0"/>
          </a:p>
        </p:txBody>
      </p:sp>
      <p:sp>
        <p:nvSpPr>
          <p:cNvPr id="5" name="Shape 3"/>
          <p:cNvSpPr/>
          <p:nvPr/>
        </p:nvSpPr>
        <p:spPr>
          <a:xfrm>
            <a:off x="457200" y="960120"/>
            <a:ext cx="8229600" cy="22860"/>
          </a:xfrm>
          <a:prstGeom prst="rect">
            <a:avLst/>
          </a:prstGeom>
          <a:solidFill>
            <a:srgbClr val="0A7A7A"/>
          </a:solidFill>
          <a:ln w="12700">
            <a:solidFill>
              <a:srgbClr val="0A7A7A"/>
            </a:solidFill>
            <a:prstDash val="solid"/>
          </a:ln>
        </p:spPr>
      </p:sp>
      <p:sp>
        <p:nvSpPr>
          <p:cNvPr id="6" name="Shape 4"/>
          <p:cNvSpPr/>
          <p:nvPr/>
        </p:nvSpPr>
        <p:spPr>
          <a:xfrm>
            <a:off x="274320" y="1097280"/>
            <a:ext cx="2834640" cy="3749040"/>
          </a:xfrm>
          <a:prstGeom prst="rect">
            <a:avLst/>
          </a:prstGeom>
          <a:solidFill>
            <a:srgbClr val="162840"/>
          </a:solidFill>
          <a:ln w="12700">
            <a:solidFill>
              <a:srgbClr val="0D9E9E"/>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1097280"/>
            <a:ext cx="2834640" cy="292608"/>
          </a:xfrm>
          <a:prstGeom prst="rect">
            <a:avLst/>
          </a:prstGeom>
          <a:solidFill>
            <a:srgbClr val="0D9E9E"/>
          </a:solidFill>
          <a:ln w="12700">
            <a:solidFill>
              <a:srgbClr val="0D9E9E"/>
            </a:solidFill>
            <a:prstDash val="solid"/>
          </a:ln>
        </p:spPr>
      </p:sp>
      <p:sp>
        <p:nvSpPr>
          <p:cNvPr id="8" name="Text 6"/>
          <p:cNvSpPr/>
          <p:nvPr/>
        </p:nvSpPr>
        <p:spPr>
          <a:xfrm>
            <a:off x="274320" y="1097280"/>
            <a:ext cx="2834640" cy="292608"/>
          </a:xfrm>
          <a:prstGeom prst="rect">
            <a:avLst/>
          </a:prstGeom>
          <a:noFill/>
          <a:ln/>
        </p:spPr>
        <p:txBody>
          <a:bodyPr wrap="square" lIns="0" tIns="0" rIns="0" bIns="0" rtlCol="0" anchor="ctr"/>
          <a:lstStyle/>
          <a:p>
            <a:pPr algn="ctr" indent="0" marL="0">
              <a:buNone/>
            </a:pPr>
            <a:r>
              <a:rPr lang="en-US" sz="1100" b="1" dirty="0">
                <a:solidFill>
                  <a:srgbClr val="0D1F35"/>
                </a:solidFill>
                <a:latin typeface="Calibri" pitchFamily="34" charset="0"/>
                <a:ea typeface="Calibri" pitchFamily="34" charset="-122"/>
                <a:cs typeface="Calibri" pitchFamily="34" charset="-120"/>
              </a:rPr>
              <a:t>Profitability</a:t>
            </a:r>
            <a:endParaRPr lang="en-US" sz="1100" dirty="0"/>
          </a:p>
        </p:txBody>
      </p:sp>
      <p:sp>
        <p:nvSpPr>
          <p:cNvPr id="9" name="Text 7"/>
          <p:cNvSpPr/>
          <p:nvPr/>
        </p:nvSpPr>
        <p:spPr>
          <a:xfrm>
            <a:off x="384048" y="1481328"/>
            <a:ext cx="2606040" cy="228600"/>
          </a:xfrm>
          <a:prstGeom prst="rect">
            <a:avLst/>
          </a:prstGeom>
          <a:noFill/>
          <a:ln/>
        </p:spPr>
        <p:txBody>
          <a:bodyPr wrap="square" lIns="0" tIns="0" rIns="0" bIns="0" rtlCol="0" anchor="ctr"/>
          <a:lstStyle/>
          <a:p>
            <a:pPr indent="0" marL="0">
              <a:buNone/>
            </a:pPr>
            <a:r>
              <a:rPr lang="en-US" sz="1000" b="1" dirty="0">
                <a:solidFill>
                  <a:srgbClr val="F0F0F0"/>
                </a:solidFill>
                <a:latin typeface="Calibri" pitchFamily="34" charset="0"/>
                <a:ea typeface="Calibri" pitchFamily="34" charset="-122"/>
                <a:cs typeface="Calibri" pitchFamily="34" charset="-120"/>
              </a:rPr>
              <a:t>Gross Profit</a:t>
            </a:r>
            <a:endParaRPr lang="en-US" sz="1000" dirty="0"/>
          </a:p>
        </p:txBody>
      </p:sp>
      <p:sp>
        <p:nvSpPr>
          <p:cNvPr id="10" name="Text 8"/>
          <p:cNvSpPr/>
          <p:nvPr/>
        </p:nvSpPr>
        <p:spPr>
          <a:xfrm>
            <a:off x="384048" y="1700784"/>
            <a:ext cx="2606040" cy="228600"/>
          </a:xfrm>
          <a:prstGeom prst="rect">
            <a:avLst/>
          </a:prstGeom>
          <a:noFill/>
          <a:ln/>
        </p:spPr>
        <p:txBody>
          <a:bodyPr wrap="square" lIns="0" tIns="0" rIns="0" bIns="0" rtlCol="0" anchor="ctr"/>
          <a:lstStyle/>
          <a:p>
            <a:pPr indent="0" marL="0">
              <a:buNone/>
            </a:pPr>
            <a:r>
              <a:rPr lang="en-US" sz="950" dirty="0">
                <a:solidFill>
                  <a:srgbClr val="0D9E9E"/>
                </a:solidFill>
                <a:latin typeface="Consolas" pitchFamily="34" charset="0"/>
                <a:ea typeface="Consolas" pitchFamily="34" charset="-122"/>
                <a:cs typeface="Consolas" pitchFamily="34" charset="-120"/>
              </a:rPr>
              <a:t>revt − cogs</a:t>
            </a:r>
            <a:endParaRPr lang="en-US" sz="950" dirty="0"/>
          </a:p>
        </p:txBody>
      </p:sp>
      <p:sp>
        <p:nvSpPr>
          <p:cNvPr id="11" name="Text 9"/>
          <p:cNvSpPr/>
          <p:nvPr/>
        </p:nvSpPr>
        <p:spPr>
          <a:xfrm>
            <a:off x="384048" y="1920240"/>
            <a:ext cx="2606040" cy="256032"/>
          </a:xfrm>
          <a:prstGeom prst="rect">
            <a:avLst/>
          </a:prstGeom>
          <a:noFill/>
          <a:ln/>
        </p:spPr>
        <p:txBody>
          <a:bodyPr wrap="square" lIns="0" tIns="0" rIns="0" bIns="0" rtlCol="0" anchor="ctr"/>
          <a:lstStyle/>
          <a:p>
            <a:pPr indent="0" marL="0">
              <a:buNone/>
            </a:pPr>
            <a:r>
              <a:rPr lang="en-US" sz="850" i="1" dirty="0">
                <a:solidFill>
                  <a:srgbClr val="B0BEC5"/>
                </a:solidFill>
                <a:latin typeface="Calibri" pitchFamily="34" charset="0"/>
                <a:ea typeface="Calibri" pitchFamily="34" charset="-122"/>
                <a:cs typeface="Calibri" pitchFamily="34" charset="-120"/>
              </a:rPr>
              <a:t>Revenue minus merchandise cost</a:t>
            </a:r>
            <a:endParaRPr lang="en-US" sz="850" dirty="0"/>
          </a:p>
        </p:txBody>
      </p:sp>
      <p:sp>
        <p:nvSpPr>
          <p:cNvPr id="12" name="Text 10"/>
          <p:cNvSpPr/>
          <p:nvPr/>
        </p:nvSpPr>
        <p:spPr>
          <a:xfrm>
            <a:off x="384048" y="2286000"/>
            <a:ext cx="2606040" cy="228600"/>
          </a:xfrm>
          <a:prstGeom prst="rect">
            <a:avLst/>
          </a:prstGeom>
          <a:noFill/>
          <a:ln/>
        </p:spPr>
        <p:txBody>
          <a:bodyPr wrap="square" lIns="0" tIns="0" rIns="0" bIns="0" rtlCol="0" anchor="ctr"/>
          <a:lstStyle/>
          <a:p>
            <a:pPr indent="0" marL="0">
              <a:buNone/>
            </a:pPr>
            <a:r>
              <a:rPr lang="en-US" sz="1000" b="1" dirty="0">
                <a:solidFill>
                  <a:srgbClr val="F0F0F0"/>
                </a:solidFill>
                <a:latin typeface="Calibri" pitchFamily="34" charset="0"/>
                <a:ea typeface="Calibri" pitchFamily="34" charset="-122"/>
                <a:cs typeface="Calibri" pitchFamily="34" charset="-120"/>
              </a:rPr>
              <a:t>EBITDA</a:t>
            </a:r>
            <a:endParaRPr lang="en-US" sz="1000" dirty="0"/>
          </a:p>
        </p:txBody>
      </p:sp>
      <p:sp>
        <p:nvSpPr>
          <p:cNvPr id="13" name="Text 11"/>
          <p:cNvSpPr/>
          <p:nvPr/>
        </p:nvSpPr>
        <p:spPr>
          <a:xfrm>
            <a:off x="384048" y="2505456"/>
            <a:ext cx="2606040" cy="228600"/>
          </a:xfrm>
          <a:prstGeom prst="rect">
            <a:avLst/>
          </a:prstGeom>
          <a:noFill/>
          <a:ln/>
        </p:spPr>
        <p:txBody>
          <a:bodyPr wrap="square" lIns="0" tIns="0" rIns="0" bIns="0" rtlCol="0" anchor="ctr"/>
          <a:lstStyle/>
          <a:p>
            <a:pPr indent="0" marL="0">
              <a:buNone/>
            </a:pPr>
            <a:r>
              <a:rPr lang="en-US" sz="950" dirty="0">
                <a:solidFill>
                  <a:srgbClr val="0D9E9E"/>
                </a:solidFill>
                <a:latin typeface="Consolas" pitchFamily="34" charset="0"/>
                <a:ea typeface="Consolas" pitchFamily="34" charset="-122"/>
                <a:cs typeface="Consolas" pitchFamily="34" charset="-120"/>
              </a:rPr>
              <a:t>Gross Profit − xsga + dp</a:t>
            </a:r>
            <a:endParaRPr lang="en-US" sz="950" dirty="0"/>
          </a:p>
        </p:txBody>
      </p:sp>
      <p:sp>
        <p:nvSpPr>
          <p:cNvPr id="14" name="Text 12"/>
          <p:cNvSpPr/>
          <p:nvPr/>
        </p:nvSpPr>
        <p:spPr>
          <a:xfrm>
            <a:off x="384048" y="2724912"/>
            <a:ext cx="2606040" cy="256032"/>
          </a:xfrm>
          <a:prstGeom prst="rect">
            <a:avLst/>
          </a:prstGeom>
          <a:noFill/>
          <a:ln/>
        </p:spPr>
        <p:txBody>
          <a:bodyPr wrap="square" lIns="0" tIns="0" rIns="0" bIns="0" rtlCol="0" anchor="ctr"/>
          <a:lstStyle/>
          <a:p>
            <a:pPr indent="0" marL="0">
              <a:buNone/>
            </a:pPr>
            <a:r>
              <a:rPr lang="en-US" sz="850" i="1" dirty="0">
                <a:solidFill>
                  <a:srgbClr val="B0BEC5"/>
                </a:solidFill>
                <a:latin typeface="Calibri" pitchFamily="34" charset="0"/>
                <a:ea typeface="Calibri" pitchFamily="34" charset="-122"/>
                <a:cs typeface="Calibri" pitchFamily="34" charset="-120"/>
              </a:rPr>
              <a:t>Cash earnings before financing &amp; tax</a:t>
            </a:r>
            <a:endParaRPr lang="en-US" sz="850" dirty="0"/>
          </a:p>
        </p:txBody>
      </p:sp>
      <p:sp>
        <p:nvSpPr>
          <p:cNvPr id="15" name="Text 13"/>
          <p:cNvSpPr/>
          <p:nvPr/>
        </p:nvSpPr>
        <p:spPr>
          <a:xfrm>
            <a:off x="384048" y="3090672"/>
            <a:ext cx="2606040" cy="228600"/>
          </a:xfrm>
          <a:prstGeom prst="rect">
            <a:avLst/>
          </a:prstGeom>
          <a:noFill/>
          <a:ln/>
        </p:spPr>
        <p:txBody>
          <a:bodyPr wrap="square" lIns="0" tIns="0" rIns="0" bIns="0" rtlCol="0" anchor="ctr"/>
          <a:lstStyle/>
          <a:p>
            <a:pPr indent="0" marL="0">
              <a:buNone/>
            </a:pPr>
            <a:r>
              <a:rPr lang="en-US" sz="1000" b="1" dirty="0">
                <a:solidFill>
                  <a:srgbClr val="F0F0F0"/>
                </a:solidFill>
                <a:latin typeface="Calibri" pitchFamily="34" charset="0"/>
                <a:ea typeface="Calibri" pitchFamily="34" charset="-122"/>
                <a:cs typeface="Calibri" pitchFamily="34" charset="-120"/>
              </a:rPr>
              <a:t>EBIT</a:t>
            </a:r>
            <a:endParaRPr lang="en-US" sz="1000" dirty="0"/>
          </a:p>
        </p:txBody>
      </p:sp>
      <p:sp>
        <p:nvSpPr>
          <p:cNvPr id="16" name="Text 14"/>
          <p:cNvSpPr/>
          <p:nvPr/>
        </p:nvSpPr>
        <p:spPr>
          <a:xfrm>
            <a:off x="384048" y="3310128"/>
            <a:ext cx="2606040" cy="228600"/>
          </a:xfrm>
          <a:prstGeom prst="rect">
            <a:avLst/>
          </a:prstGeom>
          <a:noFill/>
          <a:ln/>
        </p:spPr>
        <p:txBody>
          <a:bodyPr wrap="square" lIns="0" tIns="0" rIns="0" bIns="0" rtlCol="0" anchor="ctr"/>
          <a:lstStyle/>
          <a:p>
            <a:pPr indent="0" marL="0">
              <a:buNone/>
            </a:pPr>
            <a:r>
              <a:rPr lang="en-US" sz="950" dirty="0">
                <a:solidFill>
                  <a:srgbClr val="0D9E9E"/>
                </a:solidFill>
                <a:latin typeface="Consolas" pitchFamily="34" charset="0"/>
                <a:ea typeface="Consolas" pitchFamily="34" charset="-122"/>
                <a:cs typeface="Consolas" pitchFamily="34" charset="-120"/>
              </a:rPr>
              <a:t>Gross Profit − xsga</a:t>
            </a:r>
            <a:endParaRPr lang="en-US" sz="950" dirty="0"/>
          </a:p>
        </p:txBody>
      </p:sp>
      <p:sp>
        <p:nvSpPr>
          <p:cNvPr id="17" name="Text 15"/>
          <p:cNvSpPr/>
          <p:nvPr/>
        </p:nvSpPr>
        <p:spPr>
          <a:xfrm>
            <a:off x="384048" y="3529584"/>
            <a:ext cx="2606040" cy="256032"/>
          </a:xfrm>
          <a:prstGeom prst="rect">
            <a:avLst/>
          </a:prstGeom>
          <a:noFill/>
          <a:ln/>
        </p:spPr>
        <p:txBody>
          <a:bodyPr wrap="square" lIns="0" tIns="0" rIns="0" bIns="0" rtlCol="0" anchor="ctr"/>
          <a:lstStyle/>
          <a:p>
            <a:pPr indent="0" marL="0">
              <a:buNone/>
            </a:pPr>
            <a:r>
              <a:rPr lang="en-US" sz="850" i="1" dirty="0">
                <a:solidFill>
                  <a:srgbClr val="B0BEC5"/>
                </a:solidFill>
                <a:latin typeface="Calibri" pitchFamily="34" charset="0"/>
                <a:ea typeface="Calibri" pitchFamily="34" charset="-122"/>
                <a:cs typeface="Calibri" pitchFamily="34" charset="-120"/>
              </a:rPr>
              <a:t>After depreciation, before interest &amp; tax</a:t>
            </a:r>
            <a:endParaRPr lang="en-US" sz="850" dirty="0"/>
          </a:p>
        </p:txBody>
      </p:sp>
      <p:sp>
        <p:nvSpPr>
          <p:cNvPr id="18" name="Text 16"/>
          <p:cNvSpPr/>
          <p:nvPr/>
        </p:nvSpPr>
        <p:spPr>
          <a:xfrm>
            <a:off x="384048" y="3895344"/>
            <a:ext cx="2606040" cy="228600"/>
          </a:xfrm>
          <a:prstGeom prst="rect">
            <a:avLst/>
          </a:prstGeom>
          <a:noFill/>
          <a:ln/>
        </p:spPr>
        <p:txBody>
          <a:bodyPr wrap="square" lIns="0" tIns="0" rIns="0" bIns="0" rtlCol="0" anchor="ctr"/>
          <a:lstStyle/>
          <a:p>
            <a:pPr indent="0" marL="0">
              <a:buNone/>
            </a:pPr>
            <a:r>
              <a:rPr lang="en-US" sz="1000" b="1" dirty="0">
                <a:solidFill>
                  <a:srgbClr val="F0F0F0"/>
                </a:solidFill>
                <a:latin typeface="Calibri" pitchFamily="34" charset="0"/>
                <a:ea typeface="Calibri" pitchFamily="34" charset="-122"/>
                <a:cs typeface="Calibri" pitchFamily="34" charset="-120"/>
              </a:rPr>
              <a:t>Margins</a:t>
            </a:r>
            <a:endParaRPr lang="en-US" sz="1000" dirty="0"/>
          </a:p>
        </p:txBody>
      </p:sp>
      <p:sp>
        <p:nvSpPr>
          <p:cNvPr id="19" name="Text 17"/>
          <p:cNvSpPr/>
          <p:nvPr/>
        </p:nvSpPr>
        <p:spPr>
          <a:xfrm>
            <a:off x="384048" y="4114800"/>
            <a:ext cx="2606040" cy="228600"/>
          </a:xfrm>
          <a:prstGeom prst="rect">
            <a:avLst/>
          </a:prstGeom>
          <a:noFill/>
          <a:ln/>
        </p:spPr>
        <p:txBody>
          <a:bodyPr wrap="square" lIns="0" tIns="0" rIns="0" bIns="0" rtlCol="0" anchor="ctr"/>
          <a:lstStyle/>
          <a:p>
            <a:pPr indent="0" marL="0">
              <a:buNone/>
            </a:pPr>
            <a:r>
              <a:rPr lang="en-US" sz="950" dirty="0">
                <a:solidFill>
                  <a:srgbClr val="0D9E9E"/>
                </a:solidFill>
                <a:latin typeface="Consolas" pitchFamily="34" charset="0"/>
                <a:ea typeface="Consolas" pitchFamily="34" charset="-122"/>
                <a:cs typeface="Consolas" pitchFamily="34" charset="-120"/>
              </a:rPr>
              <a:t>metric ÷ revt × 100</a:t>
            </a:r>
            <a:endParaRPr lang="en-US" sz="950" dirty="0"/>
          </a:p>
        </p:txBody>
      </p:sp>
      <p:sp>
        <p:nvSpPr>
          <p:cNvPr id="20" name="Text 18"/>
          <p:cNvSpPr/>
          <p:nvPr/>
        </p:nvSpPr>
        <p:spPr>
          <a:xfrm>
            <a:off x="384048" y="4334256"/>
            <a:ext cx="2606040" cy="256032"/>
          </a:xfrm>
          <a:prstGeom prst="rect">
            <a:avLst/>
          </a:prstGeom>
          <a:noFill/>
          <a:ln/>
        </p:spPr>
        <p:txBody>
          <a:bodyPr wrap="square" lIns="0" tIns="0" rIns="0" bIns="0" rtlCol="0" anchor="ctr"/>
          <a:lstStyle/>
          <a:p>
            <a:pPr indent="0" marL="0">
              <a:buNone/>
            </a:pPr>
            <a:r>
              <a:rPr lang="en-US" sz="850" i="1" dirty="0">
                <a:solidFill>
                  <a:srgbClr val="B0BEC5"/>
                </a:solidFill>
                <a:latin typeface="Calibri" pitchFamily="34" charset="0"/>
                <a:ea typeface="Calibri" pitchFamily="34" charset="-122"/>
                <a:cs typeface="Calibri" pitchFamily="34" charset="-120"/>
              </a:rPr>
              <a:t>Profitability as % of revenue</a:t>
            </a:r>
            <a:endParaRPr lang="en-US" sz="850" dirty="0"/>
          </a:p>
        </p:txBody>
      </p:sp>
      <p:sp>
        <p:nvSpPr>
          <p:cNvPr id="21" name="Shape 19"/>
          <p:cNvSpPr/>
          <p:nvPr/>
        </p:nvSpPr>
        <p:spPr>
          <a:xfrm>
            <a:off x="3227832" y="1097280"/>
            <a:ext cx="2834640" cy="3749040"/>
          </a:xfrm>
          <a:prstGeom prst="rect">
            <a:avLst/>
          </a:prstGeom>
          <a:solidFill>
            <a:srgbClr val="162840"/>
          </a:solidFill>
          <a:ln w="12700">
            <a:solidFill>
              <a:srgbClr val="C8A84B"/>
            </a:solidFill>
            <a:prstDash val="solid"/>
          </a:ln>
          <a:effectLst>
            <a:outerShdw sx="100000" sy="100000" kx="0" ky="0" algn="bl" rotWithShape="0" blurRad="101600" dist="38100" dir="8100000">
              <a:srgbClr val="000000">
                <a:alpha val="20000"/>
              </a:srgbClr>
            </a:outerShdw>
          </a:effectLst>
        </p:spPr>
      </p:sp>
      <p:sp>
        <p:nvSpPr>
          <p:cNvPr id="22" name="Shape 20"/>
          <p:cNvSpPr/>
          <p:nvPr/>
        </p:nvSpPr>
        <p:spPr>
          <a:xfrm>
            <a:off x="3227832" y="1097280"/>
            <a:ext cx="2834640" cy="292608"/>
          </a:xfrm>
          <a:prstGeom prst="rect">
            <a:avLst/>
          </a:prstGeom>
          <a:solidFill>
            <a:srgbClr val="C8A84B"/>
          </a:solidFill>
          <a:ln w="12700">
            <a:solidFill>
              <a:srgbClr val="C8A84B"/>
            </a:solidFill>
            <a:prstDash val="solid"/>
          </a:ln>
        </p:spPr>
      </p:sp>
      <p:sp>
        <p:nvSpPr>
          <p:cNvPr id="23" name="Text 21"/>
          <p:cNvSpPr/>
          <p:nvPr/>
        </p:nvSpPr>
        <p:spPr>
          <a:xfrm>
            <a:off x="3227832" y="1097280"/>
            <a:ext cx="2834640" cy="292608"/>
          </a:xfrm>
          <a:prstGeom prst="rect">
            <a:avLst/>
          </a:prstGeom>
          <a:noFill/>
          <a:ln/>
        </p:spPr>
        <p:txBody>
          <a:bodyPr wrap="square" lIns="0" tIns="0" rIns="0" bIns="0" rtlCol="0" anchor="ctr"/>
          <a:lstStyle/>
          <a:p>
            <a:pPr algn="ctr" indent="0" marL="0">
              <a:buNone/>
            </a:pPr>
            <a:r>
              <a:rPr lang="en-US" sz="1100" b="1" dirty="0">
                <a:solidFill>
                  <a:srgbClr val="0D1F35"/>
                </a:solidFill>
                <a:latin typeface="Calibri" pitchFamily="34" charset="0"/>
                <a:ea typeface="Calibri" pitchFamily="34" charset="-122"/>
                <a:cs typeface="Calibri" pitchFamily="34" charset="-120"/>
              </a:rPr>
              <a:t>Cash &amp; Returns</a:t>
            </a:r>
            <a:endParaRPr lang="en-US" sz="1100" dirty="0"/>
          </a:p>
        </p:txBody>
      </p:sp>
      <p:sp>
        <p:nvSpPr>
          <p:cNvPr id="24" name="Text 22"/>
          <p:cNvSpPr/>
          <p:nvPr/>
        </p:nvSpPr>
        <p:spPr>
          <a:xfrm>
            <a:off x="3337560" y="1481328"/>
            <a:ext cx="2606040" cy="228600"/>
          </a:xfrm>
          <a:prstGeom prst="rect">
            <a:avLst/>
          </a:prstGeom>
          <a:noFill/>
          <a:ln/>
        </p:spPr>
        <p:txBody>
          <a:bodyPr wrap="square" lIns="0" tIns="0" rIns="0" bIns="0" rtlCol="0" anchor="ctr"/>
          <a:lstStyle/>
          <a:p>
            <a:pPr indent="0" marL="0">
              <a:buNone/>
            </a:pPr>
            <a:r>
              <a:rPr lang="en-US" sz="1000" b="1" dirty="0">
                <a:solidFill>
                  <a:srgbClr val="F0F0F0"/>
                </a:solidFill>
                <a:latin typeface="Calibri" pitchFamily="34" charset="0"/>
                <a:ea typeface="Calibri" pitchFamily="34" charset="-122"/>
                <a:cs typeface="Calibri" pitchFamily="34" charset="-120"/>
              </a:rPr>
              <a:t>Free Cash Flow</a:t>
            </a:r>
            <a:endParaRPr lang="en-US" sz="1000" dirty="0"/>
          </a:p>
        </p:txBody>
      </p:sp>
      <p:sp>
        <p:nvSpPr>
          <p:cNvPr id="25" name="Text 23"/>
          <p:cNvSpPr/>
          <p:nvPr/>
        </p:nvSpPr>
        <p:spPr>
          <a:xfrm>
            <a:off x="3337560" y="1700784"/>
            <a:ext cx="2606040" cy="228600"/>
          </a:xfrm>
          <a:prstGeom prst="rect">
            <a:avLst/>
          </a:prstGeom>
          <a:noFill/>
          <a:ln/>
        </p:spPr>
        <p:txBody>
          <a:bodyPr wrap="square" lIns="0" tIns="0" rIns="0" bIns="0" rtlCol="0" anchor="ctr"/>
          <a:lstStyle/>
          <a:p>
            <a:pPr indent="0" marL="0">
              <a:buNone/>
            </a:pPr>
            <a:r>
              <a:rPr lang="en-US" sz="950" dirty="0">
                <a:solidFill>
                  <a:srgbClr val="C8A84B"/>
                </a:solidFill>
                <a:latin typeface="Consolas" pitchFamily="34" charset="0"/>
                <a:ea typeface="Consolas" pitchFamily="34" charset="-122"/>
                <a:cs typeface="Consolas" pitchFamily="34" charset="-120"/>
              </a:rPr>
              <a:t>oancf − capx</a:t>
            </a:r>
            <a:endParaRPr lang="en-US" sz="950" dirty="0"/>
          </a:p>
        </p:txBody>
      </p:sp>
      <p:sp>
        <p:nvSpPr>
          <p:cNvPr id="26" name="Text 24"/>
          <p:cNvSpPr/>
          <p:nvPr/>
        </p:nvSpPr>
        <p:spPr>
          <a:xfrm>
            <a:off x="3337560" y="1920240"/>
            <a:ext cx="2606040" cy="256032"/>
          </a:xfrm>
          <a:prstGeom prst="rect">
            <a:avLst/>
          </a:prstGeom>
          <a:noFill/>
          <a:ln/>
        </p:spPr>
        <p:txBody>
          <a:bodyPr wrap="square" lIns="0" tIns="0" rIns="0" bIns="0" rtlCol="0" anchor="ctr"/>
          <a:lstStyle/>
          <a:p>
            <a:pPr indent="0" marL="0">
              <a:buNone/>
            </a:pPr>
            <a:r>
              <a:rPr lang="en-US" sz="850" i="1" dirty="0">
                <a:solidFill>
                  <a:srgbClr val="B0BEC5"/>
                </a:solidFill>
                <a:latin typeface="Calibri" pitchFamily="34" charset="0"/>
                <a:ea typeface="Calibri" pitchFamily="34" charset="-122"/>
                <a:cs typeface="Calibri" pitchFamily="34" charset="-120"/>
              </a:rPr>
              <a:t>Cash left after growth investment</a:t>
            </a:r>
            <a:endParaRPr lang="en-US" sz="850" dirty="0"/>
          </a:p>
        </p:txBody>
      </p:sp>
      <p:sp>
        <p:nvSpPr>
          <p:cNvPr id="27" name="Text 25"/>
          <p:cNvSpPr/>
          <p:nvPr/>
        </p:nvSpPr>
        <p:spPr>
          <a:xfrm>
            <a:off x="3337560" y="2286000"/>
            <a:ext cx="2606040" cy="228600"/>
          </a:xfrm>
          <a:prstGeom prst="rect">
            <a:avLst/>
          </a:prstGeom>
          <a:noFill/>
          <a:ln/>
        </p:spPr>
        <p:txBody>
          <a:bodyPr wrap="square" lIns="0" tIns="0" rIns="0" bIns="0" rtlCol="0" anchor="ctr"/>
          <a:lstStyle/>
          <a:p>
            <a:pPr indent="0" marL="0">
              <a:buNone/>
            </a:pPr>
            <a:r>
              <a:rPr lang="en-US" sz="1000" b="1" dirty="0">
                <a:solidFill>
                  <a:srgbClr val="F0F0F0"/>
                </a:solidFill>
                <a:latin typeface="Calibri" pitchFamily="34" charset="0"/>
                <a:ea typeface="Calibri" pitchFamily="34" charset="-122"/>
                <a:cs typeface="Calibri" pitchFamily="34" charset="-120"/>
              </a:rPr>
              <a:t>Net Debt</a:t>
            </a:r>
            <a:endParaRPr lang="en-US" sz="1000" dirty="0"/>
          </a:p>
        </p:txBody>
      </p:sp>
      <p:sp>
        <p:nvSpPr>
          <p:cNvPr id="28" name="Text 26"/>
          <p:cNvSpPr/>
          <p:nvPr/>
        </p:nvSpPr>
        <p:spPr>
          <a:xfrm>
            <a:off x="3337560" y="2505456"/>
            <a:ext cx="2606040" cy="228600"/>
          </a:xfrm>
          <a:prstGeom prst="rect">
            <a:avLst/>
          </a:prstGeom>
          <a:noFill/>
          <a:ln/>
        </p:spPr>
        <p:txBody>
          <a:bodyPr wrap="square" lIns="0" tIns="0" rIns="0" bIns="0" rtlCol="0" anchor="ctr"/>
          <a:lstStyle/>
          <a:p>
            <a:pPr indent="0" marL="0">
              <a:buNone/>
            </a:pPr>
            <a:r>
              <a:rPr lang="en-US" sz="950" dirty="0">
                <a:solidFill>
                  <a:srgbClr val="C8A84B"/>
                </a:solidFill>
                <a:latin typeface="Consolas" pitchFamily="34" charset="0"/>
                <a:ea typeface="Consolas" pitchFamily="34" charset="-122"/>
                <a:cs typeface="Consolas" pitchFamily="34" charset="-120"/>
              </a:rPr>
              <a:t>dltt + dlc − che</a:t>
            </a:r>
            <a:endParaRPr lang="en-US" sz="950" dirty="0"/>
          </a:p>
        </p:txBody>
      </p:sp>
      <p:sp>
        <p:nvSpPr>
          <p:cNvPr id="29" name="Text 27"/>
          <p:cNvSpPr/>
          <p:nvPr/>
        </p:nvSpPr>
        <p:spPr>
          <a:xfrm>
            <a:off x="3337560" y="2724912"/>
            <a:ext cx="2606040" cy="256032"/>
          </a:xfrm>
          <a:prstGeom prst="rect">
            <a:avLst/>
          </a:prstGeom>
          <a:noFill/>
          <a:ln/>
        </p:spPr>
        <p:txBody>
          <a:bodyPr wrap="square" lIns="0" tIns="0" rIns="0" bIns="0" rtlCol="0" anchor="ctr"/>
          <a:lstStyle/>
          <a:p>
            <a:pPr indent="0" marL="0">
              <a:buNone/>
            </a:pPr>
            <a:r>
              <a:rPr lang="en-US" sz="850" i="1" dirty="0">
                <a:solidFill>
                  <a:srgbClr val="B0BEC5"/>
                </a:solidFill>
                <a:latin typeface="Calibri" pitchFamily="34" charset="0"/>
                <a:ea typeface="Calibri" pitchFamily="34" charset="-122"/>
                <a:cs typeface="Calibri" pitchFamily="34" charset="-120"/>
              </a:rPr>
              <a:t>Total debt minus available cash</a:t>
            </a:r>
            <a:endParaRPr lang="en-US" sz="850" dirty="0"/>
          </a:p>
        </p:txBody>
      </p:sp>
      <p:sp>
        <p:nvSpPr>
          <p:cNvPr id="30" name="Text 28"/>
          <p:cNvSpPr/>
          <p:nvPr/>
        </p:nvSpPr>
        <p:spPr>
          <a:xfrm>
            <a:off x="3337560" y="3090672"/>
            <a:ext cx="2606040" cy="228600"/>
          </a:xfrm>
          <a:prstGeom prst="rect">
            <a:avLst/>
          </a:prstGeom>
          <a:noFill/>
          <a:ln/>
        </p:spPr>
        <p:txBody>
          <a:bodyPr wrap="square" lIns="0" tIns="0" rIns="0" bIns="0" rtlCol="0" anchor="ctr"/>
          <a:lstStyle/>
          <a:p>
            <a:pPr indent="0" marL="0">
              <a:buNone/>
            </a:pPr>
            <a:r>
              <a:rPr lang="en-US" sz="1000" b="1" dirty="0">
                <a:solidFill>
                  <a:srgbClr val="F0F0F0"/>
                </a:solidFill>
                <a:latin typeface="Calibri" pitchFamily="34" charset="0"/>
                <a:ea typeface="Calibri" pitchFamily="34" charset="-122"/>
                <a:cs typeface="Calibri" pitchFamily="34" charset="-120"/>
              </a:rPr>
              <a:t>NOPAT</a:t>
            </a:r>
            <a:endParaRPr lang="en-US" sz="1000" dirty="0"/>
          </a:p>
        </p:txBody>
      </p:sp>
      <p:sp>
        <p:nvSpPr>
          <p:cNvPr id="31" name="Text 29"/>
          <p:cNvSpPr/>
          <p:nvPr/>
        </p:nvSpPr>
        <p:spPr>
          <a:xfrm>
            <a:off x="3337560" y="3310128"/>
            <a:ext cx="2606040" cy="228600"/>
          </a:xfrm>
          <a:prstGeom prst="rect">
            <a:avLst/>
          </a:prstGeom>
          <a:noFill/>
          <a:ln/>
        </p:spPr>
        <p:txBody>
          <a:bodyPr wrap="square" lIns="0" tIns="0" rIns="0" bIns="0" rtlCol="0" anchor="ctr"/>
          <a:lstStyle/>
          <a:p>
            <a:pPr indent="0" marL="0">
              <a:buNone/>
            </a:pPr>
            <a:r>
              <a:rPr lang="en-US" sz="950" dirty="0">
                <a:solidFill>
                  <a:srgbClr val="C8A84B"/>
                </a:solidFill>
                <a:latin typeface="Consolas" pitchFamily="34" charset="0"/>
                <a:ea typeface="Consolas" pitchFamily="34" charset="-122"/>
                <a:cs typeface="Consolas" pitchFamily="34" charset="-120"/>
              </a:rPr>
              <a:t>ebit × (1 − tax rate)</a:t>
            </a:r>
            <a:endParaRPr lang="en-US" sz="950" dirty="0"/>
          </a:p>
        </p:txBody>
      </p:sp>
      <p:sp>
        <p:nvSpPr>
          <p:cNvPr id="32" name="Text 30"/>
          <p:cNvSpPr/>
          <p:nvPr/>
        </p:nvSpPr>
        <p:spPr>
          <a:xfrm>
            <a:off x="3337560" y="3529584"/>
            <a:ext cx="2606040" cy="256032"/>
          </a:xfrm>
          <a:prstGeom prst="rect">
            <a:avLst/>
          </a:prstGeom>
          <a:noFill/>
          <a:ln/>
        </p:spPr>
        <p:txBody>
          <a:bodyPr wrap="square" lIns="0" tIns="0" rIns="0" bIns="0" rtlCol="0" anchor="ctr"/>
          <a:lstStyle/>
          <a:p>
            <a:pPr indent="0" marL="0">
              <a:buNone/>
            </a:pPr>
            <a:r>
              <a:rPr lang="en-US" sz="850" i="1" dirty="0">
                <a:solidFill>
                  <a:srgbClr val="B0BEC5"/>
                </a:solidFill>
                <a:latin typeface="Calibri" pitchFamily="34" charset="0"/>
                <a:ea typeface="Calibri" pitchFamily="34" charset="-122"/>
                <a:cs typeface="Calibri" pitchFamily="34" charset="-120"/>
              </a:rPr>
              <a:t>After-tax operating profit</a:t>
            </a:r>
            <a:endParaRPr lang="en-US" sz="850" dirty="0"/>
          </a:p>
        </p:txBody>
      </p:sp>
      <p:sp>
        <p:nvSpPr>
          <p:cNvPr id="33" name="Text 31"/>
          <p:cNvSpPr/>
          <p:nvPr/>
        </p:nvSpPr>
        <p:spPr>
          <a:xfrm>
            <a:off x="3337560" y="3895344"/>
            <a:ext cx="2606040" cy="228600"/>
          </a:xfrm>
          <a:prstGeom prst="rect">
            <a:avLst/>
          </a:prstGeom>
          <a:noFill/>
          <a:ln/>
        </p:spPr>
        <p:txBody>
          <a:bodyPr wrap="square" lIns="0" tIns="0" rIns="0" bIns="0" rtlCol="0" anchor="ctr"/>
          <a:lstStyle/>
          <a:p>
            <a:pPr indent="0" marL="0">
              <a:buNone/>
            </a:pPr>
            <a:r>
              <a:rPr lang="en-US" sz="1000" b="1" dirty="0">
                <a:solidFill>
                  <a:srgbClr val="F0F0F0"/>
                </a:solidFill>
                <a:latin typeface="Calibri" pitchFamily="34" charset="0"/>
                <a:ea typeface="Calibri" pitchFamily="34" charset="-122"/>
                <a:cs typeface="Calibri" pitchFamily="34" charset="-120"/>
              </a:rPr>
              <a:t>ROIC</a:t>
            </a:r>
            <a:endParaRPr lang="en-US" sz="1000" dirty="0"/>
          </a:p>
        </p:txBody>
      </p:sp>
      <p:sp>
        <p:nvSpPr>
          <p:cNvPr id="34" name="Text 32"/>
          <p:cNvSpPr/>
          <p:nvPr/>
        </p:nvSpPr>
        <p:spPr>
          <a:xfrm>
            <a:off x="3337560" y="4114800"/>
            <a:ext cx="2606040" cy="228600"/>
          </a:xfrm>
          <a:prstGeom prst="rect">
            <a:avLst/>
          </a:prstGeom>
          <a:noFill/>
          <a:ln/>
        </p:spPr>
        <p:txBody>
          <a:bodyPr wrap="square" lIns="0" tIns="0" rIns="0" bIns="0" rtlCol="0" anchor="ctr"/>
          <a:lstStyle/>
          <a:p>
            <a:pPr indent="0" marL="0">
              <a:buNone/>
            </a:pPr>
            <a:r>
              <a:rPr lang="en-US" sz="950" dirty="0">
                <a:solidFill>
                  <a:srgbClr val="C8A84B"/>
                </a:solidFill>
                <a:latin typeface="Consolas" pitchFamily="34" charset="0"/>
                <a:ea typeface="Consolas" pitchFamily="34" charset="-122"/>
                <a:cs typeface="Consolas" pitchFamily="34" charset="-120"/>
              </a:rPr>
              <a:t>nopat ÷ (at − lct) × 100</a:t>
            </a:r>
            <a:endParaRPr lang="en-US" sz="950" dirty="0"/>
          </a:p>
        </p:txBody>
      </p:sp>
      <p:sp>
        <p:nvSpPr>
          <p:cNvPr id="35" name="Text 33"/>
          <p:cNvSpPr/>
          <p:nvPr/>
        </p:nvSpPr>
        <p:spPr>
          <a:xfrm>
            <a:off x="3337560" y="4334256"/>
            <a:ext cx="2606040" cy="256032"/>
          </a:xfrm>
          <a:prstGeom prst="rect">
            <a:avLst/>
          </a:prstGeom>
          <a:noFill/>
          <a:ln/>
        </p:spPr>
        <p:txBody>
          <a:bodyPr wrap="square" lIns="0" tIns="0" rIns="0" bIns="0" rtlCol="0" anchor="ctr"/>
          <a:lstStyle/>
          <a:p>
            <a:pPr indent="0" marL="0">
              <a:buNone/>
            </a:pPr>
            <a:r>
              <a:rPr lang="en-US" sz="850" i="1" dirty="0">
                <a:solidFill>
                  <a:srgbClr val="B0BEC5"/>
                </a:solidFill>
                <a:latin typeface="Calibri" pitchFamily="34" charset="0"/>
                <a:ea typeface="Calibri" pitchFamily="34" charset="-122"/>
                <a:cs typeface="Calibri" pitchFamily="34" charset="-120"/>
              </a:rPr>
              <a:t>Return on every dollar deployed</a:t>
            </a:r>
            <a:endParaRPr lang="en-US" sz="850" dirty="0"/>
          </a:p>
        </p:txBody>
      </p:sp>
      <p:sp>
        <p:nvSpPr>
          <p:cNvPr id="36" name="Shape 34"/>
          <p:cNvSpPr/>
          <p:nvPr/>
        </p:nvSpPr>
        <p:spPr>
          <a:xfrm>
            <a:off x="6181344" y="1097280"/>
            <a:ext cx="2834640" cy="3749040"/>
          </a:xfrm>
          <a:prstGeom prst="rect">
            <a:avLst/>
          </a:prstGeom>
          <a:solidFill>
            <a:srgbClr val="162840"/>
          </a:solidFill>
          <a:ln w="12700">
            <a:solidFill>
              <a:srgbClr val="2ECC71"/>
            </a:solidFill>
            <a:prstDash val="solid"/>
          </a:ln>
          <a:effectLst>
            <a:outerShdw sx="100000" sy="100000" kx="0" ky="0" algn="bl" rotWithShape="0" blurRad="101600" dist="38100" dir="8100000">
              <a:srgbClr val="000000">
                <a:alpha val="20000"/>
              </a:srgbClr>
            </a:outerShdw>
          </a:effectLst>
        </p:spPr>
      </p:sp>
      <p:sp>
        <p:nvSpPr>
          <p:cNvPr id="37" name="Shape 35"/>
          <p:cNvSpPr/>
          <p:nvPr/>
        </p:nvSpPr>
        <p:spPr>
          <a:xfrm>
            <a:off x="6181344" y="1097280"/>
            <a:ext cx="2834640" cy="292608"/>
          </a:xfrm>
          <a:prstGeom prst="rect">
            <a:avLst/>
          </a:prstGeom>
          <a:solidFill>
            <a:srgbClr val="2ECC71"/>
          </a:solidFill>
          <a:ln w="12700">
            <a:solidFill>
              <a:srgbClr val="2ECC71"/>
            </a:solidFill>
            <a:prstDash val="solid"/>
          </a:ln>
        </p:spPr>
      </p:sp>
      <p:sp>
        <p:nvSpPr>
          <p:cNvPr id="38" name="Text 36"/>
          <p:cNvSpPr/>
          <p:nvPr/>
        </p:nvSpPr>
        <p:spPr>
          <a:xfrm>
            <a:off x="6181344" y="1097280"/>
            <a:ext cx="2834640" cy="292608"/>
          </a:xfrm>
          <a:prstGeom prst="rect">
            <a:avLst/>
          </a:prstGeom>
          <a:noFill/>
          <a:ln/>
        </p:spPr>
        <p:txBody>
          <a:bodyPr wrap="square" lIns="0" tIns="0" rIns="0" bIns="0" rtlCol="0" anchor="ctr"/>
          <a:lstStyle/>
          <a:p>
            <a:pPr algn="ctr" indent="0" marL="0">
              <a:buNone/>
            </a:pPr>
            <a:r>
              <a:rPr lang="en-US" sz="1100" b="1" dirty="0">
                <a:solidFill>
                  <a:srgbClr val="0D1F35"/>
                </a:solidFill>
                <a:latin typeface="Calibri" pitchFamily="34" charset="0"/>
                <a:ea typeface="Calibri" pitchFamily="34" charset="-122"/>
                <a:cs typeface="Calibri" pitchFamily="34" charset="-120"/>
              </a:rPr>
              <a:t>Valuation</a:t>
            </a:r>
            <a:endParaRPr lang="en-US" sz="1100" dirty="0"/>
          </a:p>
        </p:txBody>
      </p:sp>
      <p:sp>
        <p:nvSpPr>
          <p:cNvPr id="39" name="Text 37"/>
          <p:cNvSpPr/>
          <p:nvPr/>
        </p:nvSpPr>
        <p:spPr>
          <a:xfrm>
            <a:off x="6291072" y="1481328"/>
            <a:ext cx="2606040" cy="228600"/>
          </a:xfrm>
          <a:prstGeom prst="rect">
            <a:avLst/>
          </a:prstGeom>
          <a:noFill/>
          <a:ln/>
        </p:spPr>
        <p:txBody>
          <a:bodyPr wrap="square" lIns="0" tIns="0" rIns="0" bIns="0" rtlCol="0" anchor="ctr"/>
          <a:lstStyle/>
          <a:p>
            <a:pPr indent="0" marL="0">
              <a:buNone/>
            </a:pPr>
            <a:r>
              <a:rPr lang="en-US" sz="1000" b="1" dirty="0">
                <a:solidFill>
                  <a:srgbClr val="F0F0F0"/>
                </a:solidFill>
                <a:latin typeface="Calibri" pitchFamily="34" charset="0"/>
                <a:ea typeface="Calibri" pitchFamily="34" charset="-122"/>
                <a:cs typeface="Calibri" pitchFamily="34" charset="-120"/>
              </a:rPr>
              <a:t>Market Cap</a:t>
            </a:r>
            <a:endParaRPr lang="en-US" sz="1000" dirty="0"/>
          </a:p>
        </p:txBody>
      </p:sp>
      <p:sp>
        <p:nvSpPr>
          <p:cNvPr id="40" name="Text 38"/>
          <p:cNvSpPr/>
          <p:nvPr/>
        </p:nvSpPr>
        <p:spPr>
          <a:xfrm>
            <a:off x="6291072" y="1700784"/>
            <a:ext cx="2606040" cy="228600"/>
          </a:xfrm>
          <a:prstGeom prst="rect">
            <a:avLst/>
          </a:prstGeom>
          <a:noFill/>
          <a:ln/>
        </p:spPr>
        <p:txBody>
          <a:bodyPr wrap="square" lIns="0" tIns="0" rIns="0" bIns="0" rtlCol="0" anchor="ctr"/>
          <a:lstStyle/>
          <a:p>
            <a:pPr indent="0" marL="0">
              <a:buNone/>
            </a:pPr>
            <a:r>
              <a:rPr lang="en-US" sz="950" dirty="0">
                <a:solidFill>
                  <a:srgbClr val="2ECC71"/>
                </a:solidFill>
                <a:latin typeface="Consolas" pitchFamily="34" charset="0"/>
                <a:ea typeface="Consolas" pitchFamily="34" charset="-122"/>
                <a:cs typeface="Consolas" pitchFamily="34" charset="-120"/>
              </a:rPr>
              <a:t>prcc_f × csho</a:t>
            </a:r>
            <a:endParaRPr lang="en-US" sz="950" dirty="0"/>
          </a:p>
        </p:txBody>
      </p:sp>
      <p:sp>
        <p:nvSpPr>
          <p:cNvPr id="41" name="Text 39"/>
          <p:cNvSpPr/>
          <p:nvPr/>
        </p:nvSpPr>
        <p:spPr>
          <a:xfrm>
            <a:off x="6291072" y="1920240"/>
            <a:ext cx="2606040" cy="256032"/>
          </a:xfrm>
          <a:prstGeom prst="rect">
            <a:avLst/>
          </a:prstGeom>
          <a:noFill/>
          <a:ln/>
        </p:spPr>
        <p:txBody>
          <a:bodyPr wrap="square" lIns="0" tIns="0" rIns="0" bIns="0" rtlCol="0" anchor="ctr"/>
          <a:lstStyle/>
          <a:p>
            <a:pPr indent="0" marL="0">
              <a:buNone/>
            </a:pPr>
            <a:r>
              <a:rPr lang="en-US" sz="850" i="1" dirty="0">
                <a:solidFill>
                  <a:srgbClr val="B0BEC5"/>
                </a:solidFill>
                <a:latin typeface="Calibri" pitchFamily="34" charset="0"/>
                <a:ea typeface="Calibri" pitchFamily="34" charset="-122"/>
                <a:cs typeface="Calibri" pitchFamily="34" charset="-120"/>
              </a:rPr>
              <a:t>What the stock market says it's worth</a:t>
            </a:r>
            <a:endParaRPr lang="en-US" sz="850" dirty="0"/>
          </a:p>
        </p:txBody>
      </p:sp>
      <p:sp>
        <p:nvSpPr>
          <p:cNvPr id="42" name="Text 40"/>
          <p:cNvSpPr/>
          <p:nvPr/>
        </p:nvSpPr>
        <p:spPr>
          <a:xfrm>
            <a:off x="6291072" y="2286000"/>
            <a:ext cx="2606040" cy="228600"/>
          </a:xfrm>
          <a:prstGeom prst="rect">
            <a:avLst/>
          </a:prstGeom>
          <a:noFill/>
          <a:ln/>
        </p:spPr>
        <p:txBody>
          <a:bodyPr wrap="square" lIns="0" tIns="0" rIns="0" bIns="0" rtlCol="0" anchor="ctr"/>
          <a:lstStyle/>
          <a:p>
            <a:pPr indent="0" marL="0">
              <a:buNone/>
            </a:pPr>
            <a:r>
              <a:rPr lang="en-US" sz="1000" b="1" dirty="0">
                <a:solidFill>
                  <a:srgbClr val="F0F0F0"/>
                </a:solidFill>
                <a:latin typeface="Calibri" pitchFamily="34" charset="0"/>
                <a:ea typeface="Calibri" pitchFamily="34" charset="-122"/>
                <a:cs typeface="Calibri" pitchFamily="34" charset="-120"/>
              </a:rPr>
              <a:t>Enterprise Value</a:t>
            </a:r>
            <a:endParaRPr lang="en-US" sz="1000" dirty="0"/>
          </a:p>
        </p:txBody>
      </p:sp>
      <p:sp>
        <p:nvSpPr>
          <p:cNvPr id="43" name="Text 41"/>
          <p:cNvSpPr/>
          <p:nvPr/>
        </p:nvSpPr>
        <p:spPr>
          <a:xfrm>
            <a:off x="6291072" y="2505456"/>
            <a:ext cx="2606040" cy="228600"/>
          </a:xfrm>
          <a:prstGeom prst="rect">
            <a:avLst/>
          </a:prstGeom>
          <a:noFill/>
          <a:ln/>
        </p:spPr>
        <p:txBody>
          <a:bodyPr wrap="square" lIns="0" tIns="0" rIns="0" bIns="0" rtlCol="0" anchor="ctr"/>
          <a:lstStyle/>
          <a:p>
            <a:pPr indent="0" marL="0">
              <a:buNone/>
            </a:pPr>
            <a:r>
              <a:rPr lang="en-US" sz="950" dirty="0">
                <a:solidFill>
                  <a:srgbClr val="2ECC71"/>
                </a:solidFill>
                <a:latin typeface="Consolas" pitchFamily="34" charset="0"/>
                <a:ea typeface="Consolas" pitchFamily="34" charset="-122"/>
                <a:cs typeface="Consolas" pitchFamily="34" charset="-120"/>
              </a:rPr>
              <a:t>Market Cap + Net Debt</a:t>
            </a:r>
            <a:endParaRPr lang="en-US" sz="950" dirty="0"/>
          </a:p>
        </p:txBody>
      </p:sp>
      <p:sp>
        <p:nvSpPr>
          <p:cNvPr id="44" name="Text 42"/>
          <p:cNvSpPr/>
          <p:nvPr/>
        </p:nvSpPr>
        <p:spPr>
          <a:xfrm>
            <a:off x="6291072" y="2724912"/>
            <a:ext cx="2606040" cy="256032"/>
          </a:xfrm>
          <a:prstGeom prst="rect">
            <a:avLst/>
          </a:prstGeom>
          <a:noFill/>
          <a:ln/>
        </p:spPr>
        <p:txBody>
          <a:bodyPr wrap="square" lIns="0" tIns="0" rIns="0" bIns="0" rtlCol="0" anchor="ctr"/>
          <a:lstStyle/>
          <a:p>
            <a:pPr indent="0" marL="0">
              <a:buNone/>
            </a:pPr>
            <a:r>
              <a:rPr lang="en-US" sz="850" i="1" dirty="0">
                <a:solidFill>
                  <a:srgbClr val="B0BEC5"/>
                </a:solidFill>
                <a:latin typeface="Calibri" pitchFamily="34" charset="0"/>
                <a:ea typeface="Calibri" pitchFamily="34" charset="-122"/>
                <a:cs typeface="Calibri" pitchFamily="34" charset="-120"/>
              </a:rPr>
              <a:t>What a buyer would pay in full</a:t>
            </a:r>
            <a:endParaRPr lang="en-US" sz="850" dirty="0"/>
          </a:p>
        </p:txBody>
      </p:sp>
      <p:sp>
        <p:nvSpPr>
          <p:cNvPr id="45" name="Text 43"/>
          <p:cNvSpPr/>
          <p:nvPr/>
        </p:nvSpPr>
        <p:spPr>
          <a:xfrm>
            <a:off x="6291072" y="3090672"/>
            <a:ext cx="2606040" cy="228600"/>
          </a:xfrm>
          <a:prstGeom prst="rect">
            <a:avLst/>
          </a:prstGeom>
          <a:noFill/>
          <a:ln/>
        </p:spPr>
        <p:txBody>
          <a:bodyPr wrap="square" lIns="0" tIns="0" rIns="0" bIns="0" rtlCol="0" anchor="ctr"/>
          <a:lstStyle/>
          <a:p>
            <a:pPr indent="0" marL="0">
              <a:buNone/>
            </a:pPr>
            <a:r>
              <a:rPr lang="en-US" sz="1000" b="1" dirty="0">
                <a:solidFill>
                  <a:srgbClr val="F0F0F0"/>
                </a:solidFill>
                <a:latin typeface="Calibri" pitchFamily="34" charset="0"/>
                <a:ea typeface="Calibri" pitchFamily="34" charset="-122"/>
                <a:cs typeface="Calibri" pitchFamily="34" charset="-120"/>
              </a:rPr>
              <a:t>EV/EBITDA</a:t>
            </a:r>
            <a:endParaRPr lang="en-US" sz="1000" dirty="0"/>
          </a:p>
        </p:txBody>
      </p:sp>
      <p:sp>
        <p:nvSpPr>
          <p:cNvPr id="46" name="Text 44"/>
          <p:cNvSpPr/>
          <p:nvPr/>
        </p:nvSpPr>
        <p:spPr>
          <a:xfrm>
            <a:off x="6291072" y="3310128"/>
            <a:ext cx="2606040" cy="228600"/>
          </a:xfrm>
          <a:prstGeom prst="rect">
            <a:avLst/>
          </a:prstGeom>
          <a:noFill/>
          <a:ln/>
        </p:spPr>
        <p:txBody>
          <a:bodyPr wrap="square" lIns="0" tIns="0" rIns="0" bIns="0" rtlCol="0" anchor="ctr"/>
          <a:lstStyle/>
          <a:p>
            <a:pPr indent="0" marL="0">
              <a:buNone/>
            </a:pPr>
            <a:r>
              <a:rPr lang="en-US" sz="950" dirty="0">
                <a:solidFill>
                  <a:srgbClr val="2ECC71"/>
                </a:solidFill>
                <a:latin typeface="Consolas" pitchFamily="34" charset="0"/>
                <a:ea typeface="Consolas" pitchFamily="34" charset="-122"/>
                <a:cs typeface="Consolas" pitchFamily="34" charset="-120"/>
              </a:rPr>
              <a:t>Enterprise Value ÷ ebitda</a:t>
            </a:r>
            <a:endParaRPr lang="en-US" sz="950" dirty="0"/>
          </a:p>
        </p:txBody>
      </p:sp>
      <p:sp>
        <p:nvSpPr>
          <p:cNvPr id="47" name="Text 45"/>
          <p:cNvSpPr/>
          <p:nvPr/>
        </p:nvSpPr>
        <p:spPr>
          <a:xfrm>
            <a:off x="6291072" y="3529584"/>
            <a:ext cx="2606040" cy="256032"/>
          </a:xfrm>
          <a:prstGeom prst="rect">
            <a:avLst/>
          </a:prstGeom>
          <a:noFill/>
          <a:ln/>
        </p:spPr>
        <p:txBody>
          <a:bodyPr wrap="square" lIns="0" tIns="0" rIns="0" bIns="0" rtlCol="0" anchor="ctr"/>
          <a:lstStyle/>
          <a:p>
            <a:pPr indent="0" marL="0">
              <a:buNone/>
            </a:pPr>
            <a:r>
              <a:rPr lang="en-US" sz="850" i="1" dirty="0">
                <a:solidFill>
                  <a:srgbClr val="B0BEC5"/>
                </a:solidFill>
                <a:latin typeface="Calibri" pitchFamily="34" charset="0"/>
                <a:ea typeface="Calibri" pitchFamily="34" charset="-122"/>
                <a:cs typeface="Calibri" pitchFamily="34" charset="-120"/>
              </a:rPr>
              <a:t>Primary retail valuation multiple</a:t>
            </a:r>
            <a:endParaRPr lang="en-US" sz="850" dirty="0"/>
          </a:p>
        </p:txBody>
      </p:sp>
      <p:sp>
        <p:nvSpPr>
          <p:cNvPr id="48" name="Text 46"/>
          <p:cNvSpPr/>
          <p:nvPr/>
        </p:nvSpPr>
        <p:spPr>
          <a:xfrm>
            <a:off x="6291072" y="3895344"/>
            <a:ext cx="2606040" cy="228600"/>
          </a:xfrm>
          <a:prstGeom prst="rect">
            <a:avLst/>
          </a:prstGeom>
          <a:noFill/>
          <a:ln/>
        </p:spPr>
        <p:txBody>
          <a:bodyPr wrap="square" lIns="0" tIns="0" rIns="0" bIns="0" rtlCol="0" anchor="ctr"/>
          <a:lstStyle/>
          <a:p>
            <a:pPr indent="0" marL="0">
              <a:buNone/>
            </a:pPr>
            <a:r>
              <a:rPr lang="en-US" sz="1000" b="1" dirty="0">
                <a:solidFill>
                  <a:srgbClr val="F0F0F0"/>
                </a:solidFill>
                <a:latin typeface="Calibri" pitchFamily="34" charset="0"/>
                <a:ea typeface="Calibri" pitchFamily="34" charset="-122"/>
                <a:cs typeface="Calibri" pitchFamily="34" charset="-120"/>
              </a:rPr>
              <a:t>P/E Ratio</a:t>
            </a:r>
            <a:endParaRPr lang="en-US" sz="1000" dirty="0"/>
          </a:p>
        </p:txBody>
      </p:sp>
      <p:sp>
        <p:nvSpPr>
          <p:cNvPr id="49" name="Text 47"/>
          <p:cNvSpPr/>
          <p:nvPr/>
        </p:nvSpPr>
        <p:spPr>
          <a:xfrm>
            <a:off x="6291072" y="4114800"/>
            <a:ext cx="2606040" cy="228600"/>
          </a:xfrm>
          <a:prstGeom prst="rect">
            <a:avLst/>
          </a:prstGeom>
          <a:noFill/>
          <a:ln/>
        </p:spPr>
        <p:txBody>
          <a:bodyPr wrap="square" lIns="0" tIns="0" rIns="0" bIns="0" rtlCol="0" anchor="ctr"/>
          <a:lstStyle/>
          <a:p>
            <a:pPr indent="0" marL="0">
              <a:buNone/>
            </a:pPr>
            <a:r>
              <a:rPr lang="en-US" sz="950" dirty="0">
                <a:solidFill>
                  <a:srgbClr val="2ECC71"/>
                </a:solidFill>
                <a:latin typeface="Consolas" pitchFamily="34" charset="0"/>
                <a:ea typeface="Consolas" pitchFamily="34" charset="-122"/>
                <a:cs typeface="Consolas" pitchFamily="34" charset="-120"/>
              </a:rPr>
              <a:t>Market Cap ÷ ni</a:t>
            </a:r>
            <a:endParaRPr lang="en-US" sz="950" dirty="0"/>
          </a:p>
        </p:txBody>
      </p:sp>
      <p:sp>
        <p:nvSpPr>
          <p:cNvPr id="50" name="Text 48"/>
          <p:cNvSpPr/>
          <p:nvPr/>
        </p:nvSpPr>
        <p:spPr>
          <a:xfrm>
            <a:off x="6291072" y="4334256"/>
            <a:ext cx="2606040" cy="256032"/>
          </a:xfrm>
          <a:prstGeom prst="rect">
            <a:avLst/>
          </a:prstGeom>
          <a:noFill/>
          <a:ln/>
        </p:spPr>
        <p:txBody>
          <a:bodyPr wrap="square" lIns="0" tIns="0" rIns="0" bIns="0" rtlCol="0" anchor="ctr"/>
          <a:lstStyle/>
          <a:p>
            <a:pPr indent="0" marL="0">
              <a:buNone/>
            </a:pPr>
            <a:r>
              <a:rPr lang="en-US" sz="850" i="1" dirty="0">
                <a:solidFill>
                  <a:srgbClr val="B0BEC5"/>
                </a:solidFill>
                <a:latin typeface="Calibri" pitchFamily="34" charset="0"/>
                <a:ea typeface="Calibri" pitchFamily="34" charset="-122"/>
                <a:cs typeface="Calibri" pitchFamily="34" charset="-120"/>
              </a:rPr>
              <a:t>Price paid per dollar of earnings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F3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E9E"/>
          </a:solidFill>
          <a:ln w="12700">
            <a:solidFill>
              <a:srgbClr val="0D9E9E"/>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400" b="1" dirty="0">
                <a:solidFill>
                  <a:srgbClr val="F0F0F0"/>
                </a:solidFill>
                <a:latin typeface="Calibri" pitchFamily="34" charset="0"/>
                <a:ea typeface="Calibri" pitchFamily="34" charset="-122"/>
                <a:cs typeface="Calibri" pitchFamily="34" charset="-120"/>
              </a:rPr>
              <a:t>ROIC — The Most Important Metric</a:t>
            </a:r>
            <a:endParaRPr lang="en-US" sz="24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indent="0" marL="0">
              <a:buNone/>
            </a:pPr>
            <a:r>
              <a:rPr lang="en-US" sz="1100" i="1" dirty="0">
                <a:solidFill>
                  <a:srgbClr val="0D9E9E"/>
                </a:solidFill>
                <a:latin typeface="Calibri" pitchFamily="34" charset="0"/>
                <a:ea typeface="Calibri" pitchFamily="34" charset="-122"/>
                <a:cs typeface="Calibri" pitchFamily="34" charset="-120"/>
              </a:rPr>
              <a:t>Return on Invested Capital reveals whether a business actually creates value</a:t>
            </a:r>
            <a:endParaRPr lang="en-US" sz="1100" dirty="0"/>
          </a:p>
        </p:txBody>
      </p:sp>
      <p:sp>
        <p:nvSpPr>
          <p:cNvPr id="5" name="Shape 3"/>
          <p:cNvSpPr/>
          <p:nvPr/>
        </p:nvSpPr>
        <p:spPr>
          <a:xfrm>
            <a:off x="457200" y="960120"/>
            <a:ext cx="8229600" cy="22860"/>
          </a:xfrm>
          <a:prstGeom prst="rect">
            <a:avLst/>
          </a:prstGeom>
          <a:solidFill>
            <a:srgbClr val="0A7A7A"/>
          </a:solidFill>
          <a:ln w="12700">
            <a:solidFill>
              <a:srgbClr val="0A7A7A"/>
            </a:solidFill>
            <a:prstDash val="solid"/>
          </a:ln>
        </p:spPr>
      </p:sp>
      <p:sp>
        <p:nvSpPr>
          <p:cNvPr id="6" name="Shape 4"/>
          <p:cNvSpPr/>
          <p:nvPr/>
        </p:nvSpPr>
        <p:spPr>
          <a:xfrm>
            <a:off x="365760" y="1097280"/>
            <a:ext cx="5303520" cy="3749040"/>
          </a:xfrm>
          <a:prstGeom prst="rect">
            <a:avLst/>
          </a:prstGeom>
          <a:solidFill>
            <a:srgbClr val="162840"/>
          </a:solidFill>
          <a:ln w="12700">
            <a:solidFill>
              <a:srgbClr val="0A7A7A"/>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502920" y="1207008"/>
            <a:ext cx="5029200" cy="292608"/>
          </a:xfrm>
          <a:prstGeom prst="rect">
            <a:avLst/>
          </a:prstGeom>
          <a:noFill/>
          <a:ln/>
        </p:spPr>
        <p:txBody>
          <a:bodyPr wrap="square" lIns="0" tIns="0" rIns="0" bIns="0" rtlCol="0" anchor="ctr"/>
          <a:lstStyle/>
          <a:p>
            <a:pPr indent="0" marL="0">
              <a:buNone/>
            </a:pPr>
            <a:r>
              <a:rPr lang="en-US" sz="1200" b="1" dirty="0">
                <a:solidFill>
                  <a:srgbClr val="0D9E9E"/>
                </a:solidFill>
                <a:latin typeface="Calibri" pitchFamily="34" charset="0"/>
                <a:ea typeface="Calibri" pitchFamily="34" charset="-122"/>
                <a:cs typeface="Calibri" pitchFamily="34" charset="-120"/>
              </a:rPr>
              <a:t>Why ROIC &gt; WACC Matters</a:t>
            </a:r>
            <a:endParaRPr lang="en-US" sz="1200" dirty="0"/>
          </a:p>
        </p:txBody>
      </p:sp>
      <p:sp>
        <p:nvSpPr>
          <p:cNvPr id="8" name="Shape 6"/>
          <p:cNvSpPr/>
          <p:nvPr/>
        </p:nvSpPr>
        <p:spPr>
          <a:xfrm>
            <a:off x="640080" y="1920240"/>
            <a:ext cx="2011680" cy="256032"/>
          </a:xfrm>
          <a:prstGeom prst="rect">
            <a:avLst/>
          </a:prstGeom>
          <a:solidFill>
            <a:srgbClr val="2ECC71"/>
          </a:solidFill>
          <a:ln w="12700">
            <a:solidFill>
              <a:srgbClr val="2ECC71"/>
            </a:solidFill>
            <a:prstDash val="solid"/>
          </a:ln>
        </p:spPr>
      </p:sp>
      <p:sp>
        <p:nvSpPr>
          <p:cNvPr id="9" name="Shape 7"/>
          <p:cNvSpPr/>
          <p:nvPr/>
        </p:nvSpPr>
        <p:spPr>
          <a:xfrm>
            <a:off x="1353312" y="1901952"/>
            <a:ext cx="36576" cy="292608"/>
          </a:xfrm>
          <a:prstGeom prst="rect">
            <a:avLst/>
          </a:prstGeom>
          <a:solidFill>
            <a:srgbClr val="E74C3C"/>
          </a:solidFill>
          <a:ln w="12700">
            <a:solidFill>
              <a:srgbClr val="E74C3C"/>
            </a:solidFill>
            <a:prstDash val="solid"/>
          </a:ln>
        </p:spPr>
      </p:sp>
      <p:sp>
        <p:nvSpPr>
          <p:cNvPr id="10" name="Text 8"/>
          <p:cNvSpPr/>
          <p:nvPr/>
        </p:nvSpPr>
        <p:spPr>
          <a:xfrm>
            <a:off x="228600" y="1920240"/>
            <a:ext cx="384048" cy="256032"/>
          </a:xfrm>
          <a:prstGeom prst="rect">
            <a:avLst/>
          </a:prstGeom>
          <a:noFill/>
          <a:ln/>
        </p:spPr>
        <p:txBody>
          <a:bodyPr wrap="square" lIns="0" tIns="0" rIns="0" bIns="0" rtlCol="0" anchor="ctr"/>
          <a:lstStyle/>
          <a:p>
            <a:pPr algn="r" indent="0" marL="0">
              <a:buNone/>
            </a:pPr>
            <a:r>
              <a:rPr lang="en-US" sz="900" dirty="0">
                <a:solidFill>
                  <a:srgbClr val="B0BEC5"/>
                </a:solidFill>
                <a:latin typeface="Calibri" pitchFamily="34" charset="0"/>
                <a:ea typeface="Calibri" pitchFamily="34" charset="-122"/>
                <a:cs typeface="Calibri" pitchFamily="34" charset="-120"/>
              </a:rPr>
              <a:t>FY20</a:t>
            </a:r>
            <a:endParaRPr lang="en-US" sz="900" dirty="0"/>
          </a:p>
        </p:txBody>
      </p:sp>
      <p:sp>
        <p:nvSpPr>
          <p:cNvPr id="11" name="Text 9"/>
          <p:cNvSpPr/>
          <p:nvPr/>
        </p:nvSpPr>
        <p:spPr>
          <a:xfrm>
            <a:off x="2724912" y="1920240"/>
            <a:ext cx="457200" cy="256032"/>
          </a:xfrm>
          <a:prstGeom prst="rect">
            <a:avLst/>
          </a:prstGeom>
          <a:noFill/>
          <a:ln/>
        </p:spPr>
        <p:txBody>
          <a:bodyPr wrap="square" lIns="0" tIns="0" rIns="0" bIns="0" rtlCol="0" anchor="ctr"/>
          <a:lstStyle/>
          <a:p>
            <a:pPr indent="0" marL="0">
              <a:buNone/>
            </a:pPr>
            <a:r>
              <a:rPr lang="en-US" sz="900" b="1" dirty="0">
                <a:solidFill>
                  <a:srgbClr val="2ECC71"/>
                </a:solidFill>
                <a:latin typeface="Calibri" pitchFamily="34" charset="0"/>
                <a:ea typeface="Calibri" pitchFamily="34" charset="-122"/>
                <a:cs typeface="Calibri" pitchFamily="34" charset="-120"/>
              </a:rPr>
              <a:t>22%</a:t>
            </a:r>
            <a:endParaRPr lang="en-US" sz="900" dirty="0"/>
          </a:p>
        </p:txBody>
      </p:sp>
      <p:sp>
        <p:nvSpPr>
          <p:cNvPr id="12" name="Shape 10"/>
          <p:cNvSpPr/>
          <p:nvPr/>
        </p:nvSpPr>
        <p:spPr>
          <a:xfrm>
            <a:off x="640080" y="2258568"/>
            <a:ext cx="2377440" cy="256032"/>
          </a:xfrm>
          <a:prstGeom prst="rect">
            <a:avLst/>
          </a:prstGeom>
          <a:solidFill>
            <a:srgbClr val="2ECC71"/>
          </a:solidFill>
          <a:ln w="12700">
            <a:solidFill>
              <a:srgbClr val="2ECC71"/>
            </a:solidFill>
            <a:prstDash val="solid"/>
          </a:ln>
        </p:spPr>
      </p:sp>
      <p:sp>
        <p:nvSpPr>
          <p:cNvPr id="13" name="Shape 11"/>
          <p:cNvSpPr/>
          <p:nvPr/>
        </p:nvSpPr>
        <p:spPr>
          <a:xfrm>
            <a:off x="1353312" y="2240280"/>
            <a:ext cx="36576" cy="292608"/>
          </a:xfrm>
          <a:prstGeom prst="rect">
            <a:avLst/>
          </a:prstGeom>
          <a:solidFill>
            <a:srgbClr val="E74C3C"/>
          </a:solidFill>
          <a:ln w="12700">
            <a:solidFill>
              <a:srgbClr val="E74C3C"/>
            </a:solidFill>
            <a:prstDash val="solid"/>
          </a:ln>
        </p:spPr>
      </p:sp>
      <p:sp>
        <p:nvSpPr>
          <p:cNvPr id="14" name="Text 12"/>
          <p:cNvSpPr/>
          <p:nvPr/>
        </p:nvSpPr>
        <p:spPr>
          <a:xfrm>
            <a:off x="228600" y="2258568"/>
            <a:ext cx="384048" cy="256032"/>
          </a:xfrm>
          <a:prstGeom prst="rect">
            <a:avLst/>
          </a:prstGeom>
          <a:noFill/>
          <a:ln/>
        </p:spPr>
        <p:txBody>
          <a:bodyPr wrap="square" lIns="0" tIns="0" rIns="0" bIns="0" rtlCol="0" anchor="ctr"/>
          <a:lstStyle/>
          <a:p>
            <a:pPr algn="r" indent="0" marL="0">
              <a:buNone/>
            </a:pPr>
            <a:r>
              <a:rPr lang="en-US" sz="900" dirty="0">
                <a:solidFill>
                  <a:srgbClr val="B0BEC5"/>
                </a:solidFill>
                <a:latin typeface="Calibri" pitchFamily="34" charset="0"/>
                <a:ea typeface="Calibri" pitchFamily="34" charset="-122"/>
                <a:cs typeface="Calibri" pitchFamily="34" charset="-120"/>
              </a:rPr>
              <a:t>FY21</a:t>
            </a:r>
            <a:endParaRPr lang="en-US" sz="900" dirty="0"/>
          </a:p>
        </p:txBody>
      </p:sp>
      <p:sp>
        <p:nvSpPr>
          <p:cNvPr id="15" name="Text 13"/>
          <p:cNvSpPr/>
          <p:nvPr/>
        </p:nvSpPr>
        <p:spPr>
          <a:xfrm>
            <a:off x="3090672" y="2258568"/>
            <a:ext cx="457200" cy="256032"/>
          </a:xfrm>
          <a:prstGeom prst="rect">
            <a:avLst/>
          </a:prstGeom>
          <a:noFill/>
          <a:ln/>
        </p:spPr>
        <p:txBody>
          <a:bodyPr wrap="square" lIns="0" tIns="0" rIns="0" bIns="0" rtlCol="0" anchor="ctr"/>
          <a:lstStyle/>
          <a:p>
            <a:pPr indent="0" marL="0">
              <a:buNone/>
            </a:pPr>
            <a:r>
              <a:rPr lang="en-US" sz="900" b="1" dirty="0">
                <a:solidFill>
                  <a:srgbClr val="2ECC71"/>
                </a:solidFill>
                <a:latin typeface="Calibri" pitchFamily="34" charset="0"/>
                <a:ea typeface="Calibri" pitchFamily="34" charset="-122"/>
                <a:cs typeface="Calibri" pitchFamily="34" charset="-120"/>
              </a:rPr>
              <a:t>26%</a:t>
            </a:r>
            <a:endParaRPr lang="en-US" sz="900" dirty="0"/>
          </a:p>
        </p:txBody>
      </p:sp>
      <p:sp>
        <p:nvSpPr>
          <p:cNvPr id="16" name="Shape 14"/>
          <p:cNvSpPr/>
          <p:nvPr/>
        </p:nvSpPr>
        <p:spPr>
          <a:xfrm>
            <a:off x="640080" y="2596896"/>
            <a:ext cx="2743200" cy="256032"/>
          </a:xfrm>
          <a:prstGeom prst="rect">
            <a:avLst/>
          </a:prstGeom>
          <a:solidFill>
            <a:srgbClr val="2ECC71"/>
          </a:solidFill>
          <a:ln w="12700">
            <a:solidFill>
              <a:srgbClr val="2ECC71"/>
            </a:solidFill>
            <a:prstDash val="solid"/>
          </a:ln>
        </p:spPr>
      </p:sp>
      <p:sp>
        <p:nvSpPr>
          <p:cNvPr id="17" name="Shape 15"/>
          <p:cNvSpPr/>
          <p:nvPr/>
        </p:nvSpPr>
        <p:spPr>
          <a:xfrm>
            <a:off x="1353312" y="2578608"/>
            <a:ext cx="36576" cy="292608"/>
          </a:xfrm>
          <a:prstGeom prst="rect">
            <a:avLst/>
          </a:prstGeom>
          <a:solidFill>
            <a:srgbClr val="E74C3C"/>
          </a:solidFill>
          <a:ln w="12700">
            <a:solidFill>
              <a:srgbClr val="E74C3C"/>
            </a:solidFill>
            <a:prstDash val="solid"/>
          </a:ln>
        </p:spPr>
      </p:sp>
      <p:sp>
        <p:nvSpPr>
          <p:cNvPr id="18" name="Text 16"/>
          <p:cNvSpPr/>
          <p:nvPr/>
        </p:nvSpPr>
        <p:spPr>
          <a:xfrm>
            <a:off x="228600" y="2596896"/>
            <a:ext cx="384048" cy="256032"/>
          </a:xfrm>
          <a:prstGeom prst="rect">
            <a:avLst/>
          </a:prstGeom>
          <a:noFill/>
          <a:ln/>
        </p:spPr>
        <p:txBody>
          <a:bodyPr wrap="square" lIns="0" tIns="0" rIns="0" bIns="0" rtlCol="0" anchor="ctr"/>
          <a:lstStyle/>
          <a:p>
            <a:pPr algn="r" indent="0" marL="0">
              <a:buNone/>
            </a:pPr>
            <a:r>
              <a:rPr lang="en-US" sz="900" dirty="0">
                <a:solidFill>
                  <a:srgbClr val="B0BEC5"/>
                </a:solidFill>
                <a:latin typeface="Calibri" pitchFamily="34" charset="0"/>
                <a:ea typeface="Calibri" pitchFamily="34" charset="-122"/>
                <a:cs typeface="Calibri" pitchFamily="34" charset="-120"/>
              </a:rPr>
              <a:t>FY22</a:t>
            </a:r>
            <a:endParaRPr lang="en-US" sz="900" dirty="0"/>
          </a:p>
        </p:txBody>
      </p:sp>
      <p:sp>
        <p:nvSpPr>
          <p:cNvPr id="19" name="Text 17"/>
          <p:cNvSpPr/>
          <p:nvPr/>
        </p:nvSpPr>
        <p:spPr>
          <a:xfrm>
            <a:off x="3456432" y="2596896"/>
            <a:ext cx="457200" cy="256032"/>
          </a:xfrm>
          <a:prstGeom prst="rect">
            <a:avLst/>
          </a:prstGeom>
          <a:noFill/>
          <a:ln/>
        </p:spPr>
        <p:txBody>
          <a:bodyPr wrap="square" lIns="0" tIns="0" rIns="0" bIns="0" rtlCol="0" anchor="ctr"/>
          <a:lstStyle/>
          <a:p>
            <a:pPr indent="0" marL="0">
              <a:buNone/>
            </a:pPr>
            <a:r>
              <a:rPr lang="en-US" sz="900" b="1" dirty="0">
                <a:solidFill>
                  <a:srgbClr val="2ECC71"/>
                </a:solidFill>
                <a:latin typeface="Calibri" pitchFamily="34" charset="0"/>
                <a:ea typeface="Calibri" pitchFamily="34" charset="-122"/>
                <a:cs typeface="Calibri" pitchFamily="34" charset="-120"/>
              </a:rPr>
              <a:t>30%</a:t>
            </a:r>
            <a:endParaRPr lang="en-US" sz="900" dirty="0"/>
          </a:p>
        </p:txBody>
      </p:sp>
      <p:sp>
        <p:nvSpPr>
          <p:cNvPr id="20" name="Shape 18"/>
          <p:cNvSpPr/>
          <p:nvPr/>
        </p:nvSpPr>
        <p:spPr>
          <a:xfrm>
            <a:off x="640080" y="2935224"/>
            <a:ext cx="3200400" cy="256032"/>
          </a:xfrm>
          <a:prstGeom prst="rect">
            <a:avLst/>
          </a:prstGeom>
          <a:solidFill>
            <a:srgbClr val="2ECC71"/>
          </a:solidFill>
          <a:ln w="12700">
            <a:solidFill>
              <a:srgbClr val="2ECC71"/>
            </a:solidFill>
            <a:prstDash val="solid"/>
          </a:ln>
        </p:spPr>
      </p:sp>
      <p:sp>
        <p:nvSpPr>
          <p:cNvPr id="21" name="Shape 19"/>
          <p:cNvSpPr/>
          <p:nvPr/>
        </p:nvSpPr>
        <p:spPr>
          <a:xfrm>
            <a:off x="1353312" y="2916936"/>
            <a:ext cx="36576" cy="292608"/>
          </a:xfrm>
          <a:prstGeom prst="rect">
            <a:avLst/>
          </a:prstGeom>
          <a:solidFill>
            <a:srgbClr val="E74C3C"/>
          </a:solidFill>
          <a:ln w="12700">
            <a:solidFill>
              <a:srgbClr val="E74C3C"/>
            </a:solidFill>
            <a:prstDash val="solid"/>
          </a:ln>
        </p:spPr>
      </p:sp>
      <p:sp>
        <p:nvSpPr>
          <p:cNvPr id="22" name="Text 20"/>
          <p:cNvSpPr/>
          <p:nvPr/>
        </p:nvSpPr>
        <p:spPr>
          <a:xfrm>
            <a:off x="228600" y="2935224"/>
            <a:ext cx="384048" cy="256032"/>
          </a:xfrm>
          <a:prstGeom prst="rect">
            <a:avLst/>
          </a:prstGeom>
          <a:noFill/>
          <a:ln/>
        </p:spPr>
        <p:txBody>
          <a:bodyPr wrap="square" lIns="0" tIns="0" rIns="0" bIns="0" rtlCol="0" anchor="ctr"/>
          <a:lstStyle/>
          <a:p>
            <a:pPr algn="r" indent="0" marL="0">
              <a:buNone/>
            </a:pPr>
            <a:r>
              <a:rPr lang="en-US" sz="900" dirty="0">
                <a:solidFill>
                  <a:srgbClr val="B0BEC5"/>
                </a:solidFill>
                <a:latin typeface="Calibri" pitchFamily="34" charset="0"/>
                <a:ea typeface="Calibri" pitchFamily="34" charset="-122"/>
                <a:cs typeface="Calibri" pitchFamily="34" charset="-120"/>
              </a:rPr>
              <a:t>FY23</a:t>
            </a:r>
            <a:endParaRPr lang="en-US" sz="900" dirty="0"/>
          </a:p>
        </p:txBody>
      </p:sp>
      <p:sp>
        <p:nvSpPr>
          <p:cNvPr id="23" name="Text 21"/>
          <p:cNvSpPr/>
          <p:nvPr/>
        </p:nvSpPr>
        <p:spPr>
          <a:xfrm>
            <a:off x="3913632" y="2935224"/>
            <a:ext cx="457200" cy="256032"/>
          </a:xfrm>
          <a:prstGeom prst="rect">
            <a:avLst/>
          </a:prstGeom>
          <a:noFill/>
          <a:ln/>
        </p:spPr>
        <p:txBody>
          <a:bodyPr wrap="square" lIns="0" tIns="0" rIns="0" bIns="0" rtlCol="0" anchor="ctr"/>
          <a:lstStyle/>
          <a:p>
            <a:pPr indent="0" marL="0">
              <a:buNone/>
            </a:pPr>
            <a:r>
              <a:rPr lang="en-US" sz="900" b="1" dirty="0">
                <a:solidFill>
                  <a:srgbClr val="2ECC71"/>
                </a:solidFill>
                <a:latin typeface="Calibri" pitchFamily="34" charset="0"/>
                <a:ea typeface="Calibri" pitchFamily="34" charset="-122"/>
                <a:cs typeface="Calibri" pitchFamily="34" charset="-120"/>
              </a:rPr>
              <a:t>35%</a:t>
            </a:r>
            <a:endParaRPr lang="en-US" sz="900" dirty="0"/>
          </a:p>
        </p:txBody>
      </p:sp>
      <p:sp>
        <p:nvSpPr>
          <p:cNvPr id="24" name="Shape 22"/>
          <p:cNvSpPr/>
          <p:nvPr/>
        </p:nvSpPr>
        <p:spPr>
          <a:xfrm>
            <a:off x="640080" y="3273552"/>
            <a:ext cx="3474720" cy="256032"/>
          </a:xfrm>
          <a:prstGeom prst="rect">
            <a:avLst/>
          </a:prstGeom>
          <a:solidFill>
            <a:srgbClr val="2ECC71"/>
          </a:solidFill>
          <a:ln w="12700">
            <a:solidFill>
              <a:srgbClr val="2ECC71"/>
            </a:solidFill>
            <a:prstDash val="solid"/>
          </a:ln>
        </p:spPr>
      </p:sp>
      <p:sp>
        <p:nvSpPr>
          <p:cNvPr id="25" name="Shape 23"/>
          <p:cNvSpPr/>
          <p:nvPr/>
        </p:nvSpPr>
        <p:spPr>
          <a:xfrm>
            <a:off x="1353312" y="3255264"/>
            <a:ext cx="36576" cy="292608"/>
          </a:xfrm>
          <a:prstGeom prst="rect">
            <a:avLst/>
          </a:prstGeom>
          <a:solidFill>
            <a:srgbClr val="E74C3C"/>
          </a:solidFill>
          <a:ln w="12700">
            <a:solidFill>
              <a:srgbClr val="E74C3C"/>
            </a:solidFill>
            <a:prstDash val="solid"/>
          </a:ln>
        </p:spPr>
      </p:sp>
      <p:sp>
        <p:nvSpPr>
          <p:cNvPr id="26" name="Text 24"/>
          <p:cNvSpPr/>
          <p:nvPr/>
        </p:nvSpPr>
        <p:spPr>
          <a:xfrm>
            <a:off x="228600" y="3273552"/>
            <a:ext cx="384048" cy="256032"/>
          </a:xfrm>
          <a:prstGeom prst="rect">
            <a:avLst/>
          </a:prstGeom>
          <a:noFill/>
          <a:ln/>
        </p:spPr>
        <p:txBody>
          <a:bodyPr wrap="square" lIns="0" tIns="0" rIns="0" bIns="0" rtlCol="0" anchor="ctr"/>
          <a:lstStyle/>
          <a:p>
            <a:pPr algn="r" indent="0" marL="0">
              <a:buNone/>
            </a:pPr>
            <a:r>
              <a:rPr lang="en-US" sz="900" dirty="0">
                <a:solidFill>
                  <a:srgbClr val="B0BEC5"/>
                </a:solidFill>
                <a:latin typeface="Calibri" pitchFamily="34" charset="0"/>
                <a:ea typeface="Calibri" pitchFamily="34" charset="-122"/>
                <a:cs typeface="Calibri" pitchFamily="34" charset="-120"/>
              </a:rPr>
              <a:t>FY24</a:t>
            </a:r>
            <a:endParaRPr lang="en-US" sz="900" dirty="0"/>
          </a:p>
        </p:txBody>
      </p:sp>
      <p:sp>
        <p:nvSpPr>
          <p:cNvPr id="27" name="Text 25"/>
          <p:cNvSpPr/>
          <p:nvPr/>
        </p:nvSpPr>
        <p:spPr>
          <a:xfrm>
            <a:off x="4187952" y="3273552"/>
            <a:ext cx="457200" cy="256032"/>
          </a:xfrm>
          <a:prstGeom prst="rect">
            <a:avLst/>
          </a:prstGeom>
          <a:noFill/>
          <a:ln/>
        </p:spPr>
        <p:txBody>
          <a:bodyPr wrap="square" lIns="0" tIns="0" rIns="0" bIns="0" rtlCol="0" anchor="ctr"/>
          <a:lstStyle/>
          <a:p>
            <a:pPr indent="0" marL="0">
              <a:buNone/>
            </a:pPr>
            <a:r>
              <a:rPr lang="en-US" sz="900" b="1" dirty="0">
                <a:solidFill>
                  <a:srgbClr val="2ECC71"/>
                </a:solidFill>
                <a:latin typeface="Calibri" pitchFamily="34" charset="0"/>
                <a:ea typeface="Calibri" pitchFamily="34" charset="-122"/>
                <a:cs typeface="Calibri" pitchFamily="34" charset="-120"/>
              </a:rPr>
              <a:t>38%</a:t>
            </a:r>
            <a:endParaRPr lang="en-US" sz="900" dirty="0"/>
          </a:p>
        </p:txBody>
      </p:sp>
      <p:sp>
        <p:nvSpPr>
          <p:cNvPr id="28" name="Text 26"/>
          <p:cNvSpPr/>
          <p:nvPr/>
        </p:nvSpPr>
        <p:spPr>
          <a:xfrm>
            <a:off x="1261872" y="3657600"/>
            <a:ext cx="1097280" cy="201168"/>
          </a:xfrm>
          <a:prstGeom prst="rect">
            <a:avLst/>
          </a:prstGeom>
          <a:noFill/>
          <a:ln/>
        </p:spPr>
        <p:txBody>
          <a:bodyPr wrap="square" lIns="0" tIns="0" rIns="0" bIns="0" rtlCol="0" anchor="ctr"/>
          <a:lstStyle/>
          <a:p>
            <a:pPr indent="0" marL="0">
              <a:buNone/>
            </a:pPr>
            <a:r>
              <a:rPr lang="en-US" sz="800" dirty="0">
                <a:solidFill>
                  <a:srgbClr val="E74C3C"/>
                </a:solidFill>
                <a:latin typeface="Calibri" pitchFamily="34" charset="0"/>
                <a:ea typeface="Calibri" pitchFamily="34" charset="-122"/>
                <a:cs typeface="Calibri" pitchFamily="34" charset="-120"/>
              </a:rPr>
              <a:t>WACC 7.8%</a:t>
            </a:r>
            <a:endParaRPr lang="en-US" sz="800" dirty="0"/>
          </a:p>
        </p:txBody>
      </p:sp>
      <p:sp>
        <p:nvSpPr>
          <p:cNvPr id="29" name="Text 27"/>
          <p:cNvSpPr/>
          <p:nvPr/>
        </p:nvSpPr>
        <p:spPr>
          <a:xfrm>
            <a:off x="502920" y="4462272"/>
            <a:ext cx="5029200" cy="256032"/>
          </a:xfrm>
          <a:prstGeom prst="rect">
            <a:avLst/>
          </a:prstGeom>
          <a:noFill/>
          <a:ln/>
        </p:spPr>
        <p:txBody>
          <a:bodyPr wrap="square" lIns="0" tIns="0" rIns="0" bIns="0" rtlCol="0" anchor="ctr"/>
          <a:lstStyle/>
          <a:p>
            <a:pPr indent="0" marL="0">
              <a:buNone/>
            </a:pPr>
            <a:r>
              <a:rPr lang="en-US" sz="1000" b="1" dirty="0">
                <a:solidFill>
                  <a:srgbClr val="2ECC71"/>
                </a:solidFill>
                <a:latin typeface="Calibri" pitchFamily="34" charset="0"/>
                <a:ea typeface="Calibri" pitchFamily="34" charset="-122"/>
                <a:cs typeface="Calibri" pitchFamily="34" charset="-120"/>
              </a:rPr>
              <a:t>Value Spread = ROIC − WACC ≈ +30pp</a:t>
            </a:r>
            <a:endParaRPr lang="en-US" sz="1000" dirty="0"/>
          </a:p>
        </p:txBody>
      </p:sp>
      <p:sp>
        <p:nvSpPr>
          <p:cNvPr id="30" name="Shape 28"/>
          <p:cNvSpPr/>
          <p:nvPr/>
        </p:nvSpPr>
        <p:spPr>
          <a:xfrm>
            <a:off x="5852160" y="1097280"/>
            <a:ext cx="2926080" cy="822960"/>
          </a:xfrm>
          <a:prstGeom prst="rect">
            <a:avLst/>
          </a:prstGeom>
          <a:solidFill>
            <a:srgbClr val="162840"/>
          </a:solidFill>
          <a:ln w="12700">
            <a:solidFill>
              <a:srgbClr val="E74C3C"/>
            </a:solidFill>
            <a:prstDash val="solid"/>
          </a:ln>
          <a:effectLst>
            <a:outerShdw sx="100000" sy="100000" kx="0" ky="0" algn="bl" rotWithShape="0" blurRad="101600" dist="38100" dir="8100000">
              <a:srgbClr val="000000">
                <a:alpha val="20000"/>
              </a:srgbClr>
            </a:outerShdw>
          </a:effectLst>
        </p:spPr>
      </p:sp>
      <p:sp>
        <p:nvSpPr>
          <p:cNvPr id="31" name="Text 29"/>
          <p:cNvSpPr/>
          <p:nvPr/>
        </p:nvSpPr>
        <p:spPr>
          <a:xfrm>
            <a:off x="5989320" y="1143000"/>
            <a:ext cx="2743200" cy="256032"/>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WACC</a:t>
            </a:r>
            <a:endParaRPr lang="en-US" sz="1000" dirty="0"/>
          </a:p>
        </p:txBody>
      </p:sp>
      <p:sp>
        <p:nvSpPr>
          <p:cNvPr id="32" name="Text 30"/>
          <p:cNvSpPr/>
          <p:nvPr/>
        </p:nvSpPr>
        <p:spPr>
          <a:xfrm>
            <a:off x="5989320" y="1389888"/>
            <a:ext cx="2743200" cy="438912"/>
          </a:xfrm>
          <a:prstGeom prst="rect">
            <a:avLst/>
          </a:prstGeom>
          <a:noFill/>
          <a:ln/>
        </p:spPr>
        <p:txBody>
          <a:bodyPr wrap="square" lIns="0" tIns="0" rIns="0" bIns="0" rtlCol="0" anchor="ctr"/>
          <a:lstStyle/>
          <a:p>
            <a:pPr indent="0" marL="0">
              <a:buNone/>
            </a:pPr>
            <a:r>
              <a:rPr lang="en-US" sz="850" dirty="0">
                <a:solidFill>
                  <a:srgbClr val="B0BEC5"/>
                </a:solidFill>
                <a:latin typeface="Calibri" pitchFamily="34" charset="0"/>
                <a:ea typeface="Calibri" pitchFamily="34" charset="-122"/>
                <a:cs typeface="Calibri" pitchFamily="34" charset="-120"/>
              </a:rPr>
              <a:t>Weighted Average Cost of Capital. The minimum return investors demand. ~7.8% for Dollarama.</a:t>
            </a:r>
            <a:endParaRPr lang="en-US" sz="850" dirty="0"/>
          </a:p>
        </p:txBody>
      </p:sp>
      <p:sp>
        <p:nvSpPr>
          <p:cNvPr id="33" name="Shape 31"/>
          <p:cNvSpPr/>
          <p:nvPr/>
        </p:nvSpPr>
        <p:spPr>
          <a:xfrm>
            <a:off x="5852160" y="2039112"/>
            <a:ext cx="2926080" cy="822960"/>
          </a:xfrm>
          <a:prstGeom prst="rect">
            <a:avLst/>
          </a:prstGeom>
          <a:solidFill>
            <a:srgbClr val="162840"/>
          </a:solidFill>
          <a:ln w="12700">
            <a:solidFill>
              <a:srgbClr val="2ECC71"/>
            </a:solidFill>
            <a:prstDash val="solid"/>
          </a:ln>
          <a:effectLst>
            <a:outerShdw sx="100000" sy="100000" kx="0" ky="0" algn="bl" rotWithShape="0" blurRad="101600" dist="38100" dir="8100000">
              <a:srgbClr val="000000">
                <a:alpha val="20000"/>
              </a:srgbClr>
            </a:outerShdw>
          </a:effectLst>
        </p:spPr>
      </p:sp>
      <p:sp>
        <p:nvSpPr>
          <p:cNvPr id="34" name="Text 32"/>
          <p:cNvSpPr/>
          <p:nvPr/>
        </p:nvSpPr>
        <p:spPr>
          <a:xfrm>
            <a:off x="5989320" y="2084832"/>
            <a:ext cx="2743200" cy="256032"/>
          </a:xfrm>
          <a:prstGeom prst="rect">
            <a:avLst/>
          </a:prstGeom>
          <a:noFill/>
          <a:ln/>
        </p:spPr>
        <p:txBody>
          <a:bodyPr wrap="square" lIns="0" tIns="0" rIns="0" bIns="0" rtlCol="0" anchor="ctr"/>
          <a:lstStyle/>
          <a:p>
            <a:pPr indent="0" marL="0">
              <a:buNone/>
            </a:pPr>
            <a:r>
              <a:rPr lang="en-US" sz="1000" b="1" dirty="0">
                <a:solidFill>
                  <a:srgbClr val="2ECC71"/>
                </a:solidFill>
                <a:latin typeface="Calibri" pitchFamily="34" charset="0"/>
                <a:ea typeface="Calibri" pitchFamily="34" charset="-122"/>
                <a:cs typeface="Calibri" pitchFamily="34" charset="-120"/>
              </a:rPr>
              <a:t>ROIC &gt; WACC</a:t>
            </a:r>
            <a:endParaRPr lang="en-US" sz="1000" dirty="0"/>
          </a:p>
        </p:txBody>
      </p:sp>
      <p:sp>
        <p:nvSpPr>
          <p:cNvPr id="35" name="Text 33"/>
          <p:cNvSpPr/>
          <p:nvPr/>
        </p:nvSpPr>
        <p:spPr>
          <a:xfrm>
            <a:off x="5989320" y="2331720"/>
            <a:ext cx="2743200" cy="438912"/>
          </a:xfrm>
          <a:prstGeom prst="rect">
            <a:avLst/>
          </a:prstGeom>
          <a:noFill/>
          <a:ln/>
        </p:spPr>
        <p:txBody>
          <a:bodyPr wrap="square" lIns="0" tIns="0" rIns="0" bIns="0" rtlCol="0" anchor="ctr"/>
          <a:lstStyle/>
          <a:p>
            <a:pPr indent="0" marL="0">
              <a:buNone/>
            </a:pPr>
            <a:r>
              <a:rPr lang="en-US" sz="850" dirty="0">
                <a:solidFill>
                  <a:srgbClr val="B0BEC5"/>
                </a:solidFill>
                <a:latin typeface="Calibri" pitchFamily="34" charset="0"/>
                <a:ea typeface="Calibri" pitchFamily="34" charset="-122"/>
                <a:cs typeface="Calibri" pitchFamily="34" charset="-120"/>
              </a:rPr>
              <a:t>Value creation. Every dollar of capital earns more than it costs. Dollarama: ~38% vs 7.8%.</a:t>
            </a:r>
            <a:endParaRPr lang="en-US" sz="850" dirty="0"/>
          </a:p>
        </p:txBody>
      </p:sp>
      <p:sp>
        <p:nvSpPr>
          <p:cNvPr id="36" name="Shape 34"/>
          <p:cNvSpPr/>
          <p:nvPr/>
        </p:nvSpPr>
        <p:spPr>
          <a:xfrm>
            <a:off x="5852160" y="2980944"/>
            <a:ext cx="2926080" cy="822960"/>
          </a:xfrm>
          <a:prstGeom prst="rect">
            <a:avLst/>
          </a:prstGeom>
          <a:solidFill>
            <a:srgbClr val="162840"/>
          </a:solidFill>
          <a:ln w="12700">
            <a:solidFill>
              <a:srgbClr val="C8A84B"/>
            </a:solidFill>
            <a:prstDash val="solid"/>
          </a:ln>
          <a:effectLst>
            <a:outerShdw sx="100000" sy="100000" kx="0" ky="0" algn="bl" rotWithShape="0" blurRad="101600" dist="38100" dir="8100000">
              <a:srgbClr val="000000">
                <a:alpha val="20000"/>
              </a:srgbClr>
            </a:outerShdw>
          </a:effectLst>
        </p:spPr>
      </p:sp>
      <p:sp>
        <p:nvSpPr>
          <p:cNvPr id="37" name="Text 35"/>
          <p:cNvSpPr/>
          <p:nvPr/>
        </p:nvSpPr>
        <p:spPr>
          <a:xfrm>
            <a:off x="5989320" y="3026664"/>
            <a:ext cx="2743200" cy="256032"/>
          </a:xfrm>
          <a:prstGeom prst="rect">
            <a:avLst/>
          </a:prstGeom>
          <a:noFill/>
          <a:ln/>
        </p:spPr>
        <p:txBody>
          <a:bodyPr wrap="square" lIns="0" tIns="0" rIns="0" bIns="0" rtlCol="0" anchor="ctr"/>
          <a:lstStyle/>
          <a:p>
            <a:pPr indent="0" marL="0">
              <a:buNone/>
            </a:pPr>
            <a:r>
              <a:rPr lang="en-US" sz="1000" b="1" dirty="0">
                <a:solidFill>
                  <a:srgbClr val="C8A84B"/>
                </a:solidFill>
                <a:latin typeface="Calibri" pitchFamily="34" charset="0"/>
                <a:ea typeface="Calibri" pitchFamily="34" charset="-122"/>
                <a:cs typeface="Calibri" pitchFamily="34" charset="-120"/>
              </a:rPr>
              <a:t>Value Spread</a:t>
            </a:r>
            <a:endParaRPr lang="en-US" sz="1000" dirty="0"/>
          </a:p>
        </p:txBody>
      </p:sp>
      <p:sp>
        <p:nvSpPr>
          <p:cNvPr id="38" name="Text 36"/>
          <p:cNvSpPr/>
          <p:nvPr/>
        </p:nvSpPr>
        <p:spPr>
          <a:xfrm>
            <a:off x="5989320" y="3273552"/>
            <a:ext cx="2743200" cy="438912"/>
          </a:xfrm>
          <a:prstGeom prst="rect">
            <a:avLst/>
          </a:prstGeom>
          <a:noFill/>
          <a:ln/>
        </p:spPr>
        <p:txBody>
          <a:bodyPr wrap="square" lIns="0" tIns="0" rIns="0" bIns="0" rtlCol="0" anchor="ctr"/>
          <a:lstStyle/>
          <a:p>
            <a:pPr indent="0" marL="0">
              <a:buNone/>
            </a:pPr>
            <a:r>
              <a:rPr lang="en-US" sz="850" dirty="0">
                <a:solidFill>
                  <a:srgbClr val="B0BEC5"/>
                </a:solidFill>
                <a:latin typeface="Calibri" pitchFamily="34" charset="0"/>
                <a:ea typeface="Calibri" pitchFamily="34" charset="-122"/>
                <a:cs typeface="Calibri" pitchFamily="34" charset="-120"/>
              </a:rPr>
              <a:t>ROIC minus WACC. Dollarama's ~30 percentage-point spread is exceptional for a retailer.</a:t>
            </a:r>
            <a:endParaRPr lang="en-US" sz="850" dirty="0"/>
          </a:p>
        </p:txBody>
      </p:sp>
      <p:sp>
        <p:nvSpPr>
          <p:cNvPr id="39" name="Shape 37"/>
          <p:cNvSpPr/>
          <p:nvPr/>
        </p:nvSpPr>
        <p:spPr>
          <a:xfrm>
            <a:off x="5852160" y="3922776"/>
            <a:ext cx="2926080" cy="822960"/>
          </a:xfrm>
          <a:prstGeom prst="rect">
            <a:avLst/>
          </a:prstGeom>
          <a:solidFill>
            <a:srgbClr val="162840"/>
          </a:solidFill>
          <a:ln w="12700">
            <a:solidFill>
              <a:srgbClr val="0D9E9E"/>
            </a:solidFill>
            <a:prstDash val="solid"/>
          </a:ln>
          <a:effectLst>
            <a:outerShdw sx="100000" sy="100000" kx="0" ky="0" algn="bl" rotWithShape="0" blurRad="101600" dist="38100" dir="8100000">
              <a:srgbClr val="000000">
                <a:alpha val="20000"/>
              </a:srgbClr>
            </a:outerShdw>
          </a:effectLst>
        </p:spPr>
      </p:sp>
      <p:sp>
        <p:nvSpPr>
          <p:cNvPr id="40" name="Text 38"/>
          <p:cNvSpPr/>
          <p:nvPr/>
        </p:nvSpPr>
        <p:spPr>
          <a:xfrm>
            <a:off x="5989320" y="3968496"/>
            <a:ext cx="2743200" cy="256032"/>
          </a:xfrm>
          <a:prstGeom prst="rect">
            <a:avLst/>
          </a:prstGeom>
          <a:noFill/>
          <a:ln/>
        </p:spPr>
        <p:txBody>
          <a:bodyPr wrap="square" lIns="0" tIns="0" rIns="0" bIns="0" rtlCol="0" anchor="ctr"/>
          <a:lstStyle/>
          <a:p>
            <a:pPr indent="0" marL="0">
              <a:buNone/>
            </a:pPr>
            <a:r>
              <a:rPr lang="en-US" sz="1000" b="1" dirty="0">
                <a:solidFill>
                  <a:srgbClr val="0D9E9E"/>
                </a:solidFill>
                <a:latin typeface="Calibri" pitchFamily="34" charset="0"/>
                <a:ea typeface="Calibri" pitchFamily="34" charset="-122"/>
                <a:cs typeface="Calibri" pitchFamily="34" charset="-120"/>
              </a:rPr>
              <a:t>Negative Equity</a:t>
            </a:r>
            <a:endParaRPr lang="en-US" sz="1000" dirty="0"/>
          </a:p>
        </p:txBody>
      </p:sp>
      <p:sp>
        <p:nvSpPr>
          <p:cNvPr id="41" name="Text 39"/>
          <p:cNvSpPr/>
          <p:nvPr/>
        </p:nvSpPr>
        <p:spPr>
          <a:xfrm>
            <a:off x="5989320" y="4215384"/>
            <a:ext cx="2743200" cy="438912"/>
          </a:xfrm>
          <a:prstGeom prst="rect">
            <a:avLst/>
          </a:prstGeom>
          <a:noFill/>
          <a:ln/>
        </p:spPr>
        <p:txBody>
          <a:bodyPr wrap="square" lIns="0" tIns="0" rIns="0" bIns="0" rtlCol="0" anchor="ctr"/>
          <a:lstStyle/>
          <a:p>
            <a:pPr indent="0" marL="0">
              <a:buNone/>
            </a:pPr>
            <a:r>
              <a:rPr lang="en-US" sz="850" dirty="0">
                <a:solidFill>
                  <a:srgbClr val="B0BEC5"/>
                </a:solidFill>
                <a:latin typeface="Calibri" pitchFamily="34" charset="0"/>
                <a:ea typeface="Calibri" pitchFamily="34" charset="-122"/>
                <a:cs typeface="Calibri" pitchFamily="34" charset="-120"/>
              </a:rPr>
              <a:t>Dollarama's ceq ≈ −$848M due to buybacks. So we use (at − lct) as invested capital instead.</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E9E"/>
          </a:solidFill>
          <a:ln w="12700">
            <a:solidFill>
              <a:srgbClr val="0D9E9E"/>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400" b="1" dirty="0">
                <a:solidFill>
                  <a:srgbClr val="F0F0F0"/>
                </a:solidFill>
                <a:latin typeface="Calibri" pitchFamily="34" charset="0"/>
                <a:ea typeface="Calibri" pitchFamily="34" charset="-122"/>
                <a:cs typeface="Calibri" pitchFamily="34" charset="-120"/>
              </a:rPr>
              <a:t>The Nine Dashboard Tabs</a:t>
            </a:r>
            <a:endParaRPr lang="en-US" sz="24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indent="0" marL="0">
              <a:buNone/>
            </a:pPr>
            <a:r>
              <a:rPr lang="en-US" sz="1100" i="1" dirty="0">
                <a:solidFill>
                  <a:srgbClr val="0D9E9E"/>
                </a:solidFill>
                <a:latin typeface="Calibri" pitchFamily="34" charset="0"/>
                <a:ea typeface="Calibri" pitchFamily="34" charset="-122"/>
                <a:cs typeface="Calibri" pitchFamily="34" charset="-120"/>
              </a:rPr>
              <a:t>Each tab answers a different question — together they build a complete investment case</a:t>
            </a:r>
            <a:endParaRPr lang="en-US" sz="1100" dirty="0"/>
          </a:p>
        </p:txBody>
      </p:sp>
      <p:sp>
        <p:nvSpPr>
          <p:cNvPr id="5" name="Shape 3"/>
          <p:cNvSpPr/>
          <p:nvPr/>
        </p:nvSpPr>
        <p:spPr>
          <a:xfrm>
            <a:off x="457200" y="960120"/>
            <a:ext cx="8229600" cy="22860"/>
          </a:xfrm>
          <a:prstGeom prst="rect">
            <a:avLst/>
          </a:prstGeom>
          <a:solidFill>
            <a:srgbClr val="0A7A7A"/>
          </a:solidFill>
          <a:ln w="12700">
            <a:solidFill>
              <a:srgbClr val="0A7A7A"/>
            </a:solidFill>
            <a:prstDash val="solid"/>
          </a:ln>
        </p:spPr>
      </p:sp>
      <p:sp>
        <p:nvSpPr>
          <p:cNvPr id="6" name="Shape 4"/>
          <p:cNvSpPr/>
          <p:nvPr/>
        </p:nvSpPr>
        <p:spPr>
          <a:xfrm>
            <a:off x="274320" y="1143000"/>
            <a:ext cx="2834640" cy="1097280"/>
          </a:xfrm>
          <a:prstGeom prst="rect">
            <a:avLst/>
          </a:prstGeom>
          <a:solidFill>
            <a:srgbClr val="162840"/>
          </a:solidFill>
          <a:ln w="12700">
            <a:solidFill>
              <a:srgbClr val="0D9E9E"/>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1143000"/>
            <a:ext cx="347472" cy="1097280"/>
          </a:xfrm>
          <a:prstGeom prst="rect">
            <a:avLst/>
          </a:prstGeom>
          <a:solidFill>
            <a:srgbClr val="0D9E9E"/>
          </a:solidFill>
          <a:ln w="12700">
            <a:solidFill>
              <a:srgbClr val="0D9E9E"/>
            </a:solidFill>
            <a:prstDash val="solid"/>
          </a:ln>
        </p:spPr>
      </p:sp>
      <p:sp>
        <p:nvSpPr>
          <p:cNvPr id="8" name="Text 6"/>
          <p:cNvSpPr/>
          <p:nvPr/>
        </p:nvSpPr>
        <p:spPr>
          <a:xfrm>
            <a:off x="274320" y="1490472"/>
            <a:ext cx="347472" cy="365760"/>
          </a:xfrm>
          <a:prstGeom prst="rect">
            <a:avLst/>
          </a:prstGeom>
          <a:noFill/>
          <a:ln/>
        </p:spPr>
        <p:txBody>
          <a:bodyPr wrap="square" lIns="0" tIns="0" rIns="0" bIns="0" rtlCol="0" anchor="ctr"/>
          <a:lstStyle/>
          <a:p>
            <a:pPr algn="ctr" indent="0" marL="0">
              <a:buNone/>
            </a:pPr>
            <a:r>
              <a:rPr lang="en-US" sz="1600" b="1" dirty="0">
                <a:solidFill>
                  <a:srgbClr val="0D1F35"/>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713232" y="1234440"/>
            <a:ext cx="2304288" cy="292608"/>
          </a:xfrm>
          <a:prstGeom prst="rect">
            <a:avLst/>
          </a:prstGeom>
          <a:noFill/>
          <a:ln/>
        </p:spPr>
        <p:txBody>
          <a:bodyPr wrap="square" lIns="0" tIns="0" rIns="0" bIns="0" rtlCol="0" anchor="ctr"/>
          <a:lstStyle/>
          <a:p>
            <a:pPr indent="0" marL="0">
              <a:buNone/>
            </a:pPr>
            <a:r>
              <a:rPr lang="en-US" sz="1050" b="1" dirty="0">
                <a:solidFill>
                  <a:srgbClr val="F0F0F0"/>
                </a:solidFill>
                <a:latin typeface="Calibri" pitchFamily="34" charset="0"/>
                <a:ea typeface="Calibri" pitchFamily="34" charset="-122"/>
                <a:cs typeface="Calibri" pitchFamily="34" charset="-120"/>
              </a:rPr>
              <a:t>Performance</a:t>
            </a:r>
            <a:endParaRPr lang="en-US" sz="1050" dirty="0"/>
          </a:p>
        </p:txBody>
      </p:sp>
      <p:sp>
        <p:nvSpPr>
          <p:cNvPr id="10" name="Text 8"/>
          <p:cNvSpPr/>
          <p:nvPr/>
        </p:nvSpPr>
        <p:spPr>
          <a:xfrm>
            <a:off x="713232" y="1545336"/>
            <a:ext cx="2304288" cy="585216"/>
          </a:xfrm>
          <a:prstGeom prst="rect">
            <a:avLst/>
          </a:prstGeom>
          <a:noFill/>
          <a:ln/>
        </p:spPr>
        <p:txBody>
          <a:bodyPr wrap="square" lIns="0" tIns="0" rIns="0" bIns="0" rtlCol="0" anchor="ctr"/>
          <a:lstStyle/>
          <a:p>
            <a:pPr indent="0" marL="0">
              <a:buNone/>
            </a:pPr>
            <a:r>
              <a:rPr lang="en-US" sz="800" dirty="0">
                <a:solidFill>
                  <a:srgbClr val="B0BEC5"/>
                </a:solidFill>
                <a:latin typeface="Calibri" pitchFamily="34" charset="0"/>
                <a:ea typeface="Calibri" pitchFamily="34" charset="-122"/>
                <a:cs typeface="Calibri" pitchFamily="34" charset="-120"/>
              </a:rPr>
              <a:t>Revenue, EBITDA, EPS, margins — 5-year history from raw Compustat columns</a:t>
            </a:r>
            <a:endParaRPr lang="en-US" sz="800" dirty="0"/>
          </a:p>
        </p:txBody>
      </p:sp>
      <p:sp>
        <p:nvSpPr>
          <p:cNvPr id="11" name="Shape 9"/>
          <p:cNvSpPr/>
          <p:nvPr/>
        </p:nvSpPr>
        <p:spPr>
          <a:xfrm>
            <a:off x="3246120" y="1143000"/>
            <a:ext cx="2834640" cy="1097280"/>
          </a:xfrm>
          <a:prstGeom prst="rect">
            <a:avLst/>
          </a:prstGeom>
          <a:solidFill>
            <a:srgbClr val="162840"/>
          </a:solidFill>
          <a:ln w="12700">
            <a:solidFill>
              <a:srgbClr val="2ECC71"/>
            </a:solidFill>
            <a:prstDash val="solid"/>
          </a:ln>
          <a:effectLst>
            <a:outerShdw sx="100000" sy="100000" kx="0" ky="0" algn="bl" rotWithShape="0" blurRad="101600" dist="38100" dir="8100000">
              <a:srgbClr val="000000">
                <a:alpha val="20000"/>
              </a:srgbClr>
            </a:outerShdw>
          </a:effectLst>
        </p:spPr>
      </p:sp>
      <p:sp>
        <p:nvSpPr>
          <p:cNvPr id="12" name="Shape 10"/>
          <p:cNvSpPr/>
          <p:nvPr/>
        </p:nvSpPr>
        <p:spPr>
          <a:xfrm>
            <a:off x="3246120" y="1143000"/>
            <a:ext cx="347472" cy="1097280"/>
          </a:xfrm>
          <a:prstGeom prst="rect">
            <a:avLst/>
          </a:prstGeom>
          <a:solidFill>
            <a:srgbClr val="2ECC71"/>
          </a:solidFill>
          <a:ln w="12700">
            <a:solidFill>
              <a:srgbClr val="2ECC71"/>
            </a:solidFill>
            <a:prstDash val="solid"/>
          </a:ln>
        </p:spPr>
      </p:sp>
      <p:sp>
        <p:nvSpPr>
          <p:cNvPr id="13" name="Text 11"/>
          <p:cNvSpPr/>
          <p:nvPr/>
        </p:nvSpPr>
        <p:spPr>
          <a:xfrm>
            <a:off x="3246120" y="1490472"/>
            <a:ext cx="347472" cy="365760"/>
          </a:xfrm>
          <a:prstGeom prst="rect">
            <a:avLst/>
          </a:prstGeom>
          <a:noFill/>
          <a:ln/>
        </p:spPr>
        <p:txBody>
          <a:bodyPr wrap="square" lIns="0" tIns="0" rIns="0" bIns="0" rtlCol="0" anchor="ctr"/>
          <a:lstStyle/>
          <a:p>
            <a:pPr algn="ctr" indent="0" marL="0">
              <a:buNone/>
            </a:pPr>
            <a:r>
              <a:rPr lang="en-US" sz="1600" b="1" dirty="0">
                <a:solidFill>
                  <a:srgbClr val="0D1F35"/>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3685032" y="1234440"/>
            <a:ext cx="2304288" cy="292608"/>
          </a:xfrm>
          <a:prstGeom prst="rect">
            <a:avLst/>
          </a:prstGeom>
          <a:noFill/>
          <a:ln/>
        </p:spPr>
        <p:txBody>
          <a:bodyPr wrap="square" lIns="0" tIns="0" rIns="0" bIns="0" rtlCol="0" anchor="ctr"/>
          <a:lstStyle/>
          <a:p>
            <a:pPr indent="0" marL="0">
              <a:buNone/>
            </a:pPr>
            <a:r>
              <a:rPr lang="en-US" sz="1050" b="1" dirty="0">
                <a:solidFill>
                  <a:srgbClr val="F0F0F0"/>
                </a:solidFill>
                <a:latin typeface="Calibri" pitchFamily="34" charset="0"/>
                <a:ea typeface="Calibri" pitchFamily="34" charset="-122"/>
                <a:cs typeface="Calibri" pitchFamily="34" charset="-120"/>
              </a:rPr>
              <a:t>ROIC &amp; Capital</a:t>
            </a:r>
            <a:endParaRPr lang="en-US" sz="1050" dirty="0"/>
          </a:p>
        </p:txBody>
      </p:sp>
      <p:sp>
        <p:nvSpPr>
          <p:cNvPr id="15" name="Text 13"/>
          <p:cNvSpPr/>
          <p:nvPr/>
        </p:nvSpPr>
        <p:spPr>
          <a:xfrm>
            <a:off x="3685032" y="1545336"/>
            <a:ext cx="2304288" cy="585216"/>
          </a:xfrm>
          <a:prstGeom prst="rect">
            <a:avLst/>
          </a:prstGeom>
          <a:noFill/>
          <a:ln/>
        </p:spPr>
        <p:txBody>
          <a:bodyPr wrap="square" lIns="0" tIns="0" rIns="0" bIns="0" rtlCol="0" anchor="ctr"/>
          <a:lstStyle/>
          <a:p>
            <a:pPr indent="0" marL="0">
              <a:buNone/>
            </a:pPr>
            <a:r>
              <a:rPr lang="en-US" sz="800" dirty="0">
                <a:solidFill>
                  <a:srgbClr val="B0BEC5"/>
                </a:solidFill>
                <a:latin typeface="Calibri" pitchFamily="34" charset="0"/>
                <a:ea typeface="Calibri" pitchFamily="34" charset="-122"/>
                <a:cs typeface="Calibri" pitchFamily="34" charset="-120"/>
              </a:rPr>
              <a:t>ROIC vs WACC value spread, free cash flow, buybacks, invested capital trend</a:t>
            </a:r>
            <a:endParaRPr lang="en-US" sz="800" dirty="0"/>
          </a:p>
        </p:txBody>
      </p:sp>
      <p:sp>
        <p:nvSpPr>
          <p:cNvPr id="16" name="Shape 14"/>
          <p:cNvSpPr/>
          <p:nvPr/>
        </p:nvSpPr>
        <p:spPr>
          <a:xfrm>
            <a:off x="6217920" y="1143000"/>
            <a:ext cx="2834640" cy="1097280"/>
          </a:xfrm>
          <a:prstGeom prst="rect">
            <a:avLst/>
          </a:prstGeom>
          <a:solidFill>
            <a:srgbClr val="162840"/>
          </a:solidFill>
          <a:ln w="12700">
            <a:solidFill>
              <a:srgbClr val="C8A84B"/>
            </a:solidFill>
            <a:prstDash val="solid"/>
          </a:ln>
          <a:effectLst>
            <a:outerShdw sx="100000" sy="100000" kx="0" ky="0" algn="bl" rotWithShape="0" blurRad="101600" dist="38100" dir="8100000">
              <a:srgbClr val="000000">
                <a:alpha val="20000"/>
              </a:srgbClr>
            </a:outerShdw>
          </a:effectLst>
        </p:spPr>
      </p:sp>
      <p:sp>
        <p:nvSpPr>
          <p:cNvPr id="17" name="Shape 15"/>
          <p:cNvSpPr/>
          <p:nvPr/>
        </p:nvSpPr>
        <p:spPr>
          <a:xfrm>
            <a:off x="6217920" y="1143000"/>
            <a:ext cx="347472" cy="1097280"/>
          </a:xfrm>
          <a:prstGeom prst="rect">
            <a:avLst/>
          </a:prstGeom>
          <a:solidFill>
            <a:srgbClr val="C8A84B"/>
          </a:solidFill>
          <a:ln w="12700">
            <a:solidFill>
              <a:srgbClr val="C8A84B"/>
            </a:solidFill>
            <a:prstDash val="solid"/>
          </a:ln>
        </p:spPr>
      </p:sp>
      <p:sp>
        <p:nvSpPr>
          <p:cNvPr id="18" name="Text 16"/>
          <p:cNvSpPr/>
          <p:nvPr/>
        </p:nvSpPr>
        <p:spPr>
          <a:xfrm>
            <a:off x="6217920" y="1490472"/>
            <a:ext cx="347472" cy="365760"/>
          </a:xfrm>
          <a:prstGeom prst="rect">
            <a:avLst/>
          </a:prstGeom>
          <a:noFill/>
          <a:ln/>
        </p:spPr>
        <p:txBody>
          <a:bodyPr wrap="square" lIns="0" tIns="0" rIns="0" bIns="0" rtlCol="0" anchor="ctr"/>
          <a:lstStyle/>
          <a:p>
            <a:pPr algn="ctr" indent="0" marL="0">
              <a:buNone/>
            </a:pPr>
            <a:r>
              <a:rPr lang="en-US" sz="1600" b="1" dirty="0">
                <a:solidFill>
                  <a:srgbClr val="0D1F35"/>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6656832" y="1234440"/>
            <a:ext cx="2304288" cy="292608"/>
          </a:xfrm>
          <a:prstGeom prst="rect">
            <a:avLst/>
          </a:prstGeom>
          <a:noFill/>
          <a:ln/>
        </p:spPr>
        <p:txBody>
          <a:bodyPr wrap="square" lIns="0" tIns="0" rIns="0" bIns="0" rtlCol="0" anchor="ctr"/>
          <a:lstStyle/>
          <a:p>
            <a:pPr indent="0" marL="0">
              <a:buNone/>
            </a:pPr>
            <a:r>
              <a:rPr lang="en-US" sz="1050" b="1" dirty="0">
                <a:solidFill>
                  <a:srgbClr val="F0F0F0"/>
                </a:solidFill>
                <a:latin typeface="Calibri" pitchFamily="34" charset="0"/>
                <a:ea typeface="Calibri" pitchFamily="34" charset="-122"/>
                <a:cs typeface="Calibri" pitchFamily="34" charset="-120"/>
              </a:rPr>
              <a:t>Peer Comps</a:t>
            </a:r>
            <a:endParaRPr lang="en-US" sz="1050" dirty="0"/>
          </a:p>
        </p:txBody>
      </p:sp>
      <p:sp>
        <p:nvSpPr>
          <p:cNvPr id="20" name="Text 18"/>
          <p:cNvSpPr/>
          <p:nvPr/>
        </p:nvSpPr>
        <p:spPr>
          <a:xfrm>
            <a:off x="6656832" y="1545336"/>
            <a:ext cx="2304288" cy="585216"/>
          </a:xfrm>
          <a:prstGeom prst="rect">
            <a:avLst/>
          </a:prstGeom>
          <a:noFill/>
          <a:ln/>
        </p:spPr>
        <p:txBody>
          <a:bodyPr wrap="square" lIns="0" tIns="0" rIns="0" bIns="0" rtlCol="0" anchor="ctr"/>
          <a:lstStyle/>
          <a:p>
            <a:pPr indent="0" marL="0">
              <a:buNone/>
            </a:pPr>
            <a:r>
              <a:rPr lang="en-US" sz="800" dirty="0">
                <a:solidFill>
                  <a:srgbClr val="B0BEC5"/>
                </a:solidFill>
                <a:latin typeface="Calibri" pitchFamily="34" charset="0"/>
                <a:ea typeface="Calibri" pitchFamily="34" charset="-122"/>
                <a:cs typeface="Calibri" pitchFamily="34" charset="-120"/>
              </a:rPr>
              <a:t>DOL vs Dollar Tree vs Dollar General — margins, multiples, ROIC side-by-side</a:t>
            </a:r>
            <a:endParaRPr lang="en-US" sz="800" dirty="0"/>
          </a:p>
        </p:txBody>
      </p:sp>
      <p:sp>
        <p:nvSpPr>
          <p:cNvPr id="21" name="Shape 19"/>
          <p:cNvSpPr/>
          <p:nvPr/>
        </p:nvSpPr>
        <p:spPr>
          <a:xfrm>
            <a:off x="274320" y="2423160"/>
            <a:ext cx="2834640" cy="1097280"/>
          </a:xfrm>
          <a:prstGeom prst="rect">
            <a:avLst/>
          </a:prstGeom>
          <a:solidFill>
            <a:srgbClr val="162840"/>
          </a:solidFill>
          <a:ln w="12700">
            <a:solidFill>
              <a:srgbClr val="4A90D9"/>
            </a:solidFill>
            <a:prstDash val="solid"/>
          </a:ln>
          <a:effectLst>
            <a:outerShdw sx="100000" sy="100000" kx="0" ky="0" algn="bl" rotWithShape="0" blurRad="101600" dist="38100" dir="8100000">
              <a:srgbClr val="000000">
                <a:alpha val="20000"/>
              </a:srgbClr>
            </a:outerShdw>
          </a:effectLst>
        </p:spPr>
      </p:sp>
      <p:sp>
        <p:nvSpPr>
          <p:cNvPr id="22" name="Shape 20"/>
          <p:cNvSpPr/>
          <p:nvPr/>
        </p:nvSpPr>
        <p:spPr>
          <a:xfrm>
            <a:off x="274320" y="2423160"/>
            <a:ext cx="347472" cy="1097280"/>
          </a:xfrm>
          <a:prstGeom prst="rect">
            <a:avLst/>
          </a:prstGeom>
          <a:solidFill>
            <a:srgbClr val="4A90D9"/>
          </a:solidFill>
          <a:ln w="12700">
            <a:solidFill>
              <a:srgbClr val="4A90D9"/>
            </a:solidFill>
            <a:prstDash val="solid"/>
          </a:ln>
        </p:spPr>
      </p:sp>
      <p:sp>
        <p:nvSpPr>
          <p:cNvPr id="23" name="Text 21"/>
          <p:cNvSpPr/>
          <p:nvPr/>
        </p:nvSpPr>
        <p:spPr>
          <a:xfrm>
            <a:off x="274320" y="2770632"/>
            <a:ext cx="347472" cy="365760"/>
          </a:xfrm>
          <a:prstGeom prst="rect">
            <a:avLst/>
          </a:prstGeom>
          <a:noFill/>
          <a:ln/>
        </p:spPr>
        <p:txBody>
          <a:bodyPr wrap="square" lIns="0" tIns="0" rIns="0" bIns="0" rtlCol="0" anchor="ctr"/>
          <a:lstStyle/>
          <a:p>
            <a:pPr algn="ctr" indent="0" marL="0">
              <a:buNone/>
            </a:pPr>
            <a:r>
              <a:rPr lang="en-US" sz="1600" b="1" dirty="0">
                <a:solidFill>
                  <a:srgbClr val="0D1F35"/>
                </a:solidFill>
                <a:latin typeface="Calibri" pitchFamily="34" charset="0"/>
                <a:ea typeface="Calibri" pitchFamily="34" charset="-122"/>
                <a:cs typeface="Calibri" pitchFamily="34" charset="-120"/>
              </a:rPr>
              <a:t>4</a:t>
            </a:r>
            <a:endParaRPr lang="en-US" sz="1600" dirty="0"/>
          </a:p>
        </p:txBody>
      </p:sp>
      <p:sp>
        <p:nvSpPr>
          <p:cNvPr id="24" name="Text 22"/>
          <p:cNvSpPr/>
          <p:nvPr/>
        </p:nvSpPr>
        <p:spPr>
          <a:xfrm>
            <a:off x="713232" y="2514600"/>
            <a:ext cx="2304288" cy="292608"/>
          </a:xfrm>
          <a:prstGeom prst="rect">
            <a:avLst/>
          </a:prstGeom>
          <a:noFill/>
          <a:ln/>
        </p:spPr>
        <p:txBody>
          <a:bodyPr wrap="square" lIns="0" tIns="0" rIns="0" bIns="0" rtlCol="0" anchor="ctr"/>
          <a:lstStyle/>
          <a:p>
            <a:pPr indent="0" marL="0">
              <a:buNone/>
            </a:pPr>
            <a:r>
              <a:rPr lang="en-US" sz="1050" b="1" dirty="0">
                <a:solidFill>
                  <a:srgbClr val="F0F0F0"/>
                </a:solidFill>
                <a:latin typeface="Calibri" pitchFamily="34" charset="0"/>
                <a:ea typeface="Calibri" pitchFamily="34" charset="-122"/>
                <a:cs typeface="Calibri" pitchFamily="34" charset="-120"/>
              </a:rPr>
              <a:t>Valuation &amp; DCF</a:t>
            </a:r>
            <a:endParaRPr lang="en-US" sz="1050" dirty="0"/>
          </a:p>
        </p:txBody>
      </p:sp>
      <p:sp>
        <p:nvSpPr>
          <p:cNvPr id="25" name="Text 23"/>
          <p:cNvSpPr/>
          <p:nvPr/>
        </p:nvSpPr>
        <p:spPr>
          <a:xfrm>
            <a:off x="713232" y="2825496"/>
            <a:ext cx="2304288" cy="585216"/>
          </a:xfrm>
          <a:prstGeom prst="rect">
            <a:avLst/>
          </a:prstGeom>
          <a:noFill/>
          <a:ln/>
        </p:spPr>
        <p:txBody>
          <a:bodyPr wrap="square" lIns="0" tIns="0" rIns="0" bIns="0" rtlCol="0" anchor="ctr"/>
          <a:lstStyle/>
          <a:p>
            <a:pPr indent="0" marL="0">
              <a:buNone/>
            </a:pPr>
            <a:r>
              <a:rPr lang="en-US" sz="800" dirty="0">
                <a:solidFill>
                  <a:srgbClr val="B0BEC5"/>
                </a:solidFill>
                <a:latin typeface="Calibri" pitchFamily="34" charset="0"/>
                <a:ea typeface="Calibri" pitchFamily="34" charset="-122"/>
                <a:cs typeface="Calibri" pitchFamily="34" charset="-120"/>
              </a:rPr>
              <a:t>5-year DCF model + sensitivity heatmap. Adjustable WACC and growth sliders</a:t>
            </a:r>
            <a:endParaRPr lang="en-US" sz="800" dirty="0"/>
          </a:p>
        </p:txBody>
      </p:sp>
      <p:sp>
        <p:nvSpPr>
          <p:cNvPr id="26" name="Shape 24"/>
          <p:cNvSpPr/>
          <p:nvPr/>
        </p:nvSpPr>
        <p:spPr>
          <a:xfrm>
            <a:off x="3246120" y="2423160"/>
            <a:ext cx="2834640" cy="1097280"/>
          </a:xfrm>
          <a:prstGeom prst="rect">
            <a:avLst/>
          </a:prstGeom>
          <a:solidFill>
            <a:srgbClr val="162840"/>
          </a:solidFill>
          <a:ln w="12700">
            <a:solidFill>
              <a:srgbClr val="9B59B6"/>
            </a:solidFill>
            <a:prstDash val="solid"/>
          </a:ln>
          <a:effectLst>
            <a:outerShdw sx="100000" sy="100000" kx="0" ky="0" algn="bl" rotWithShape="0" blurRad="101600" dist="38100" dir="8100000">
              <a:srgbClr val="000000">
                <a:alpha val="20000"/>
              </a:srgbClr>
            </a:outerShdw>
          </a:effectLst>
        </p:spPr>
      </p:sp>
      <p:sp>
        <p:nvSpPr>
          <p:cNvPr id="27" name="Shape 25"/>
          <p:cNvSpPr/>
          <p:nvPr/>
        </p:nvSpPr>
        <p:spPr>
          <a:xfrm>
            <a:off x="3246120" y="2423160"/>
            <a:ext cx="347472" cy="1097280"/>
          </a:xfrm>
          <a:prstGeom prst="rect">
            <a:avLst/>
          </a:prstGeom>
          <a:solidFill>
            <a:srgbClr val="9B59B6"/>
          </a:solidFill>
          <a:ln w="12700">
            <a:solidFill>
              <a:srgbClr val="9B59B6"/>
            </a:solidFill>
            <a:prstDash val="solid"/>
          </a:ln>
        </p:spPr>
      </p:sp>
      <p:sp>
        <p:nvSpPr>
          <p:cNvPr id="28" name="Text 26"/>
          <p:cNvSpPr/>
          <p:nvPr/>
        </p:nvSpPr>
        <p:spPr>
          <a:xfrm>
            <a:off x="3246120" y="2770632"/>
            <a:ext cx="347472" cy="365760"/>
          </a:xfrm>
          <a:prstGeom prst="rect">
            <a:avLst/>
          </a:prstGeom>
          <a:noFill/>
          <a:ln/>
        </p:spPr>
        <p:txBody>
          <a:bodyPr wrap="square" lIns="0" tIns="0" rIns="0" bIns="0" rtlCol="0" anchor="ctr"/>
          <a:lstStyle/>
          <a:p>
            <a:pPr algn="ctr" indent="0" marL="0">
              <a:buNone/>
            </a:pPr>
            <a:r>
              <a:rPr lang="en-US" sz="1600" b="1" dirty="0">
                <a:solidFill>
                  <a:srgbClr val="0D1F35"/>
                </a:solidFill>
                <a:latin typeface="Calibri" pitchFamily="34" charset="0"/>
                <a:ea typeface="Calibri" pitchFamily="34" charset="-122"/>
                <a:cs typeface="Calibri" pitchFamily="34" charset="-120"/>
              </a:rPr>
              <a:t>5</a:t>
            </a:r>
            <a:endParaRPr lang="en-US" sz="1600" dirty="0"/>
          </a:p>
        </p:txBody>
      </p:sp>
      <p:sp>
        <p:nvSpPr>
          <p:cNvPr id="29" name="Text 27"/>
          <p:cNvSpPr/>
          <p:nvPr/>
        </p:nvSpPr>
        <p:spPr>
          <a:xfrm>
            <a:off x="3685032" y="2514600"/>
            <a:ext cx="2304288" cy="292608"/>
          </a:xfrm>
          <a:prstGeom prst="rect">
            <a:avLst/>
          </a:prstGeom>
          <a:noFill/>
          <a:ln/>
        </p:spPr>
        <p:txBody>
          <a:bodyPr wrap="square" lIns="0" tIns="0" rIns="0" bIns="0" rtlCol="0" anchor="ctr"/>
          <a:lstStyle/>
          <a:p>
            <a:pPr indent="0" marL="0">
              <a:buNone/>
            </a:pPr>
            <a:r>
              <a:rPr lang="en-US" sz="1050" b="1" dirty="0">
                <a:solidFill>
                  <a:srgbClr val="F0F0F0"/>
                </a:solidFill>
                <a:latin typeface="Calibri" pitchFamily="34" charset="0"/>
                <a:ea typeface="Calibri" pitchFamily="34" charset="-122"/>
                <a:cs typeface="Calibri" pitchFamily="34" charset="-120"/>
              </a:rPr>
              <a:t>Monte Carlo</a:t>
            </a:r>
            <a:endParaRPr lang="en-US" sz="1050" dirty="0"/>
          </a:p>
        </p:txBody>
      </p:sp>
      <p:sp>
        <p:nvSpPr>
          <p:cNvPr id="30" name="Text 28"/>
          <p:cNvSpPr/>
          <p:nvPr/>
        </p:nvSpPr>
        <p:spPr>
          <a:xfrm>
            <a:off x="3685032" y="2825496"/>
            <a:ext cx="2304288" cy="585216"/>
          </a:xfrm>
          <a:prstGeom prst="rect">
            <a:avLst/>
          </a:prstGeom>
          <a:noFill/>
          <a:ln/>
        </p:spPr>
        <p:txBody>
          <a:bodyPr wrap="square" lIns="0" tIns="0" rIns="0" bIns="0" rtlCol="0" anchor="ctr"/>
          <a:lstStyle/>
          <a:p>
            <a:pPr indent="0" marL="0">
              <a:buNone/>
            </a:pPr>
            <a:r>
              <a:rPr lang="en-US" sz="800" dirty="0">
                <a:solidFill>
                  <a:srgbClr val="B0BEC5"/>
                </a:solidFill>
                <a:latin typeface="Calibri" pitchFamily="34" charset="0"/>
                <a:ea typeface="Calibri" pitchFamily="34" charset="-122"/>
                <a:cs typeface="Calibri" pitchFamily="34" charset="-120"/>
              </a:rPr>
              <a:t>10,000+ simulation paths — probability distribution of intrinsic value</a:t>
            </a:r>
            <a:endParaRPr lang="en-US" sz="800" dirty="0"/>
          </a:p>
        </p:txBody>
      </p:sp>
      <p:sp>
        <p:nvSpPr>
          <p:cNvPr id="31" name="Shape 29"/>
          <p:cNvSpPr/>
          <p:nvPr/>
        </p:nvSpPr>
        <p:spPr>
          <a:xfrm>
            <a:off x="6217920" y="2423160"/>
            <a:ext cx="2834640" cy="1097280"/>
          </a:xfrm>
          <a:prstGeom prst="rect">
            <a:avLst/>
          </a:prstGeom>
          <a:solidFill>
            <a:srgbClr val="162840"/>
          </a:solidFill>
          <a:ln w="12700">
            <a:solidFill>
              <a:srgbClr val="E67E22"/>
            </a:solidFill>
            <a:prstDash val="solid"/>
          </a:ln>
          <a:effectLst>
            <a:outerShdw sx="100000" sy="100000" kx="0" ky="0" algn="bl" rotWithShape="0" blurRad="101600" dist="38100" dir="8100000">
              <a:srgbClr val="000000">
                <a:alpha val="20000"/>
              </a:srgbClr>
            </a:outerShdw>
          </a:effectLst>
        </p:spPr>
      </p:sp>
      <p:sp>
        <p:nvSpPr>
          <p:cNvPr id="32" name="Shape 30"/>
          <p:cNvSpPr/>
          <p:nvPr/>
        </p:nvSpPr>
        <p:spPr>
          <a:xfrm>
            <a:off x="6217920" y="2423160"/>
            <a:ext cx="347472" cy="1097280"/>
          </a:xfrm>
          <a:prstGeom prst="rect">
            <a:avLst/>
          </a:prstGeom>
          <a:solidFill>
            <a:srgbClr val="E67E22"/>
          </a:solidFill>
          <a:ln w="12700">
            <a:solidFill>
              <a:srgbClr val="E67E22"/>
            </a:solidFill>
            <a:prstDash val="solid"/>
          </a:ln>
        </p:spPr>
      </p:sp>
      <p:sp>
        <p:nvSpPr>
          <p:cNvPr id="33" name="Text 31"/>
          <p:cNvSpPr/>
          <p:nvPr/>
        </p:nvSpPr>
        <p:spPr>
          <a:xfrm>
            <a:off x="6217920" y="2770632"/>
            <a:ext cx="347472" cy="365760"/>
          </a:xfrm>
          <a:prstGeom prst="rect">
            <a:avLst/>
          </a:prstGeom>
          <a:noFill/>
          <a:ln/>
        </p:spPr>
        <p:txBody>
          <a:bodyPr wrap="square" lIns="0" tIns="0" rIns="0" bIns="0" rtlCol="0" anchor="ctr"/>
          <a:lstStyle/>
          <a:p>
            <a:pPr algn="ctr" indent="0" marL="0">
              <a:buNone/>
            </a:pPr>
            <a:r>
              <a:rPr lang="en-US" sz="1600" b="1" dirty="0">
                <a:solidFill>
                  <a:srgbClr val="0D1F35"/>
                </a:solidFill>
                <a:latin typeface="Calibri" pitchFamily="34" charset="0"/>
                <a:ea typeface="Calibri" pitchFamily="34" charset="-122"/>
                <a:cs typeface="Calibri" pitchFamily="34" charset="-120"/>
              </a:rPr>
              <a:t>6</a:t>
            </a:r>
            <a:endParaRPr lang="en-US" sz="1600" dirty="0"/>
          </a:p>
        </p:txBody>
      </p:sp>
      <p:sp>
        <p:nvSpPr>
          <p:cNvPr id="34" name="Text 32"/>
          <p:cNvSpPr/>
          <p:nvPr/>
        </p:nvSpPr>
        <p:spPr>
          <a:xfrm>
            <a:off x="6656832" y="2514600"/>
            <a:ext cx="2304288" cy="292608"/>
          </a:xfrm>
          <a:prstGeom prst="rect">
            <a:avLst/>
          </a:prstGeom>
          <a:noFill/>
          <a:ln/>
        </p:spPr>
        <p:txBody>
          <a:bodyPr wrap="square" lIns="0" tIns="0" rIns="0" bIns="0" rtlCol="0" anchor="ctr"/>
          <a:lstStyle/>
          <a:p>
            <a:pPr indent="0" marL="0">
              <a:buNone/>
            </a:pPr>
            <a:r>
              <a:rPr lang="en-US" sz="1050" b="1" dirty="0">
                <a:solidFill>
                  <a:srgbClr val="F0F0F0"/>
                </a:solidFill>
                <a:latin typeface="Calibri" pitchFamily="34" charset="0"/>
                <a:ea typeface="Calibri" pitchFamily="34" charset="-122"/>
                <a:cs typeface="Calibri" pitchFamily="34" charset="-120"/>
              </a:rPr>
              <a:t>Risk &amp; Moat</a:t>
            </a:r>
            <a:endParaRPr lang="en-US" sz="1050" dirty="0"/>
          </a:p>
        </p:txBody>
      </p:sp>
      <p:sp>
        <p:nvSpPr>
          <p:cNvPr id="35" name="Text 33"/>
          <p:cNvSpPr/>
          <p:nvPr/>
        </p:nvSpPr>
        <p:spPr>
          <a:xfrm>
            <a:off x="6656832" y="2825496"/>
            <a:ext cx="2304288" cy="585216"/>
          </a:xfrm>
          <a:prstGeom prst="rect">
            <a:avLst/>
          </a:prstGeom>
          <a:noFill/>
          <a:ln/>
        </p:spPr>
        <p:txBody>
          <a:bodyPr wrap="square" lIns="0" tIns="0" rIns="0" bIns="0" rtlCol="0" anchor="ctr"/>
          <a:lstStyle/>
          <a:p>
            <a:pPr indent="0" marL="0">
              <a:buNone/>
            </a:pPr>
            <a:r>
              <a:rPr lang="en-US" sz="800" dirty="0">
                <a:solidFill>
                  <a:srgbClr val="B0BEC5"/>
                </a:solidFill>
                <a:latin typeface="Calibri" pitchFamily="34" charset="0"/>
                <a:ea typeface="Calibri" pitchFamily="34" charset="-122"/>
                <a:cs typeface="Calibri" pitchFamily="34" charset="-120"/>
              </a:rPr>
              <a:t>Competitive moat radar chart, risk register with likelihood × impact scores</a:t>
            </a:r>
            <a:endParaRPr lang="en-US" sz="800" dirty="0"/>
          </a:p>
        </p:txBody>
      </p:sp>
      <p:sp>
        <p:nvSpPr>
          <p:cNvPr id="36" name="Shape 34"/>
          <p:cNvSpPr/>
          <p:nvPr/>
        </p:nvSpPr>
        <p:spPr>
          <a:xfrm>
            <a:off x="274320" y="3703320"/>
            <a:ext cx="2834640" cy="1097280"/>
          </a:xfrm>
          <a:prstGeom prst="rect">
            <a:avLst/>
          </a:prstGeom>
          <a:solidFill>
            <a:srgbClr val="162840"/>
          </a:solidFill>
          <a:ln w="12700">
            <a:solidFill>
              <a:srgbClr val="1ABC9C"/>
            </a:solidFill>
            <a:prstDash val="solid"/>
          </a:ln>
          <a:effectLst>
            <a:outerShdw sx="100000" sy="100000" kx="0" ky="0" algn="bl" rotWithShape="0" blurRad="101600" dist="38100" dir="8100000">
              <a:srgbClr val="000000">
                <a:alpha val="20000"/>
              </a:srgbClr>
            </a:outerShdw>
          </a:effectLst>
        </p:spPr>
      </p:sp>
      <p:sp>
        <p:nvSpPr>
          <p:cNvPr id="37" name="Shape 35"/>
          <p:cNvSpPr/>
          <p:nvPr/>
        </p:nvSpPr>
        <p:spPr>
          <a:xfrm>
            <a:off x="274320" y="3703320"/>
            <a:ext cx="347472" cy="1097280"/>
          </a:xfrm>
          <a:prstGeom prst="rect">
            <a:avLst/>
          </a:prstGeom>
          <a:solidFill>
            <a:srgbClr val="1ABC9C"/>
          </a:solidFill>
          <a:ln w="12700">
            <a:solidFill>
              <a:srgbClr val="1ABC9C"/>
            </a:solidFill>
            <a:prstDash val="solid"/>
          </a:ln>
        </p:spPr>
      </p:sp>
      <p:sp>
        <p:nvSpPr>
          <p:cNvPr id="38" name="Text 36"/>
          <p:cNvSpPr/>
          <p:nvPr/>
        </p:nvSpPr>
        <p:spPr>
          <a:xfrm>
            <a:off x="274320" y="4050792"/>
            <a:ext cx="347472" cy="365760"/>
          </a:xfrm>
          <a:prstGeom prst="rect">
            <a:avLst/>
          </a:prstGeom>
          <a:noFill/>
          <a:ln/>
        </p:spPr>
        <p:txBody>
          <a:bodyPr wrap="square" lIns="0" tIns="0" rIns="0" bIns="0" rtlCol="0" anchor="ctr"/>
          <a:lstStyle/>
          <a:p>
            <a:pPr algn="ctr" indent="0" marL="0">
              <a:buNone/>
            </a:pPr>
            <a:r>
              <a:rPr lang="en-US" sz="1600" b="1" dirty="0">
                <a:solidFill>
                  <a:srgbClr val="0D1F35"/>
                </a:solidFill>
                <a:latin typeface="Calibri" pitchFamily="34" charset="0"/>
                <a:ea typeface="Calibri" pitchFamily="34" charset="-122"/>
                <a:cs typeface="Calibri" pitchFamily="34" charset="-120"/>
              </a:rPr>
              <a:t>7</a:t>
            </a:r>
            <a:endParaRPr lang="en-US" sz="1600" dirty="0"/>
          </a:p>
        </p:txBody>
      </p:sp>
      <p:sp>
        <p:nvSpPr>
          <p:cNvPr id="39" name="Text 37"/>
          <p:cNvSpPr/>
          <p:nvPr/>
        </p:nvSpPr>
        <p:spPr>
          <a:xfrm>
            <a:off x="713232" y="3794760"/>
            <a:ext cx="2304288" cy="292608"/>
          </a:xfrm>
          <a:prstGeom prst="rect">
            <a:avLst/>
          </a:prstGeom>
          <a:noFill/>
          <a:ln/>
        </p:spPr>
        <p:txBody>
          <a:bodyPr wrap="square" lIns="0" tIns="0" rIns="0" bIns="0" rtlCol="0" anchor="ctr"/>
          <a:lstStyle/>
          <a:p>
            <a:pPr indent="0" marL="0">
              <a:buNone/>
            </a:pPr>
            <a:r>
              <a:rPr lang="en-US" sz="1050" b="1" dirty="0">
                <a:solidFill>
                  <a:srgbClr val="F0F0F0"/>
                </a:solidFill>
                <a:latin typeface="Calibri" pitchFamily="34" charset="0"/>
                <a:ea typeface="Calibri" pitchFamily="34" charset="-122"/>
                <a:cs typeface="Calibri" pitchFamily="34" charset="-120"/>
              </a:rPr>
              <a:t>Forward Outlook</a:t>
            </a:r>
            <a:endParaRPr lang="en-US" sz="1050" dirty="0"/>
          </a:p>
        </p:txBody>
      </p:sp>
      <p:sp>
        <p:nvSpPr>
          <p:cNvPr id="40" name="Text 38"/>
          <p:cNvSpPr/>
          <p:nvPr/>
        </p:nvSpPr>
        <p:spPr>
          <a:xfrm>
            <a:off x="713232" y="4105656"/>
            <a:ext cx="2304288" cy="585216"/>
          </a:xfrm>
          <a:prstGeom prst="rect">
            <a:avLst/>
          </a:prstGeom>
          <a:noFill/>
          <a:ln/>
        </p:spPr>
        <p:txBody>
          <a:bodyPr wrap="square" lIns="0" tIns="0" rIns="0" bIns="0" rtlCol="0" anchor="ctr"/>
          <a:lstStyle/>
          <a:p>
            <a:pPr indent="0" marL="0">
              <a:buNone/>
            </a:pPr>
            <a:r>
              <a:rPr lang="en-US" sz="800" dirty="0">
                <a:solidFill>
                  <a:srgbClr val="B0BEC5"/>
                </a:solidFill>
                <a:latin typeface="Calibri" pitchFamily="34" charset="0"/>
                <a:ea typeface="Calibri" pitchFamily="34" charset="-122"/>
                <a:cs typeface="Calibri" pitchFamily="34" charset="-120"/>
              </a:rPr>
              <a:t>FY+1 to FY+3 estimates extrapolated from historical CAGR with deceleration</a:t>
            </a:r>
            <a:endParaRPr lang="en-US" sz="800" dirty="0"/>
          </a:p>
        </p:txBody>
      </p:sp>
      <p:sp>
        <p:nvSpPr>
          <p:cNvPr id="41" name="Shape 39"/>
          <p:cNvSpPr/>
          <p:nvPr/>
        </p:nvSpPr>
        <p:spPr>
          <a:xfrm>
            <a:off x="3246120" y="3703320"/>
            <a:ext cx="2834640" cy="1097280"/>
          </a:xfrm>
          <a:prstGeom prst="rect">
            <a:avLst/>
          </a:prstGeom>
          <a:solidFill>
            <a:srgbClr val="162840"/>
          </a:solidFill>
          <a:ln w="12700">
            <a:solidFill>
              <a:srgbClr val="E74C3C"/>
            </a:solidFill>
            <a:prstDash val="solid"/>
          </a:ln>
          <a:effectLst>
            <a:outerShdw sx="100000" sy="100000" kx="0" ky="0" algn="bl" rotWithShape="0" blurRad="101600" dist="38100" dir="8100000">
              <a:srgbClr val="000000">
                <a:alpha val="20000"/>
              </a:srgbClr>
            </a:outerShdw>
          </a:effectLst>
        </p:spPr>
      </p:sp>
      <p:sp>
        <p:nvSpPr>
          <p:cNvPr id="42" name="Shape 40"/>
          <p:cNvSpPr/>
          <p:nvPr/>
        </p:nvSpPr>
        <p:spPr>
          <a:xfrm>
            <a:off x="3246120" y="3703320"/>
            <a:ext cx="347472" cy="1097280"/>
          </a:xfrm>
          <a:prstGeom prst="rect">
            <a:avLst/>
          </a:prstGeom>
          <a:solidFill>
            <a:srgbClr val="E74C3C"/>
          </a:solidFill>
          <a:ln w="12700">
            <a:solidFill>
              <a:srgbClr val="E74C3C"/>
            </a:solidFill>
            <a:prstDash val="solid"/>
          </a:ln>
        </p:spPr>
      </p:sp>
      <p:sp>
        <p:nvSpPr>
          <p:cNvPr id="43" name="Text 41"/>
          <p:cNvSpPr/>
          <p:nvPr/>
        </p:nvSpPr>
        <p:spPr>
          <a:xfrm>
            <a:off x="3246120" y="4050792"/>
            <a:ext cx="347472" cy="365760"/>
          </a:xfrm>
          <a:prstGeom prst="rect">
            <a:avLst/>
          </a:prstGeom>
          <a:noFill/>
          <a:ln/>
        </p:spPr>
        <p:txBody>
          <a:bodyPr wrap="square" lIns="0" tIns="0" rIns="0" bIns="0" rtlCol="0" anchor="ctr"/>
          <a:lstStyle/>
          <a:p>
            <a:pPr algn="ctr" indent="0" marL="0">
              <a:buNone/>
            </a:pPr>
            <a:r>
              <a:rPr lang="en-US" sz="1600" b="1" dirty="0">
                <a:solidFill>
                  <a:srgbClr val="0D1F35"/>
                </a:solidFill>
                <a:latin typeface="Calibri" pitchFamily="34" charset="0"/>
                <a:ea typeface="Calibri" pitchFamily="34" charset="-122"/>
                <a:cs typeface="Calibri" pitchFamily="34" charset="-120"/>
              </a:rPr>
              <a:t>8</a:t>
            </a:r>
            <a:endParaRPr lang="en-US" sz="1600" dirty="0"/>
          </a:p>
        </p:txBody>
      </p:sp>
      <p:sp>
        <p:nvSpPr>
          <p:cNvPr id="44" name="Text 42"/>
          <p:cNvSpPr/>
          <p:nvPr/>
        </p:nvSpPr>
        <p:spPr>
          <a:xfrm>
            <a:off x="3685032" y="3794760"/>
            <a:ext cx="2304288" cy="292608"/>
          </a:xfrm>
          <a:prstGeom prst="rect">
            <a:avLst/>
          </a:prstGeom>
          <a:noFill/>
          <a:ln/>
        </p:spPr>
        <p:txBody>
          <a:bodyPr wrap="square" lIns="0" tIns="0" rIns="0" bIns="0" rtlCol="0" anchor="ctr"/>
          <a:lstStyle/>
          <a:p>
            <a:pPr indent="0" marL="0">
              <a:buNone/>
            </a:pPr>
            <a:r>
              <a:rPr lang="en-US" sz="1050" b="1" dirty="0">
                <a:solidFill>
                  <a:srgbClr val="F0F0F0"/>
                </a:solidFill>
                <a:latin typeface="Calibri" pitchFamily="34" charset="0"/>
                <a:ea typeface="Calibri" pitchFamily="34" charset="-122"/>
                <a:cs typeface="Calibri" pitchFamily="34" charset="-120"/>
              </a:rPr>
              <a:t>FY2025 Partial</a:t>
            </a:r>
            <a:endParaRPr lang="en-US" sz="1050" dirty="0"/>
          </a:p>
        </p:txBody>
      </p:sp>
      <p:sp>
        <p:nvSpPr>
          <p:cNvPr id="45" name="Text 43"/>
          <p:cNvSpPr/>
          <p:nvPr/>
        </p:nvSpPr>
        <p:spPr>
          <a:xfrm>
            <a:off x="3685032" y="4105656"/>
            <a:ext cx="2304288" cy="585216"/>
          </a:xfrm>
          <a:prstGeom prst="rect">
            <a:avLst/>
          </a:prstGeom>
          <a:noFill/>
          <a:ln/>
        </p:spPr>
        <p:txBody>
          <a:bodyPr wrap="square" lIns="0" tIns="0" rIns="0" bIns="0" rtlCol="0" anchor="ctr"/>
          <a:lstStyle/>
          <a:p>
            <a:pPr indent="0" marL="0">
              <a:buNone/>
            </a:pPr>
            <a:r>
              <a:rPr lang="en-US" sz="800" dirty="0">
                <a:solidFill>
                  <a:srgbClr val="B0BEC5"/>
                </a:solidFill>
                <a:latin typeface="Calibri" pitchFamily="34" charset="0"/>
                <a:ea typeface="Calibri" pitchFamily="34" charset="-122"/>
                <a:cs typeface="Calibri" pitchFamily="34" charset="-120"/>
              </a:rPr>
              <a:t>Q1–Q3 actuals from press releases + Q4 estimate using seasonal patterns</a:t>
            </a:r>
            <a:endParaRPr lang="en-US" sz="800" dirty="0"/>
          </a:p>
        </p:txBody>
      </p:sp>
      <p:sp>
        <p:nvSpPr>
          <p:cNvPr id="46" name="Shape 44"/>
          <p:cNvSpPr/>
          <p:nvPr/>
        </p:nvSpPr>
        <p:spPr>
          <a:xfrm>
            <a:off x="6217920" y="3703320"/>
            <a:ext cx="2834640" cy="1097280"/>
          </a:xfrm>
          <a:prstGeom prst="rect">
            <a:avLst/>
          </a:prstGeom>
          <a:solidFill>
            <a:srgbClr val="162840"/>
          </a:solidFill>
          <a:ln w="12700">
            <a:solidFill>
              <a:srgbClr val="B0BEC5"/>
            </a:solidFill>
            <a:prstDash val="solid"/>
          </a:ln>
          <a:effectLst>
            <a:outerShdw sx="100000" sy="100000" kx="0" ky="0" algn="bl" rotWithShape="0" blurRad="101600" dist="38100" dir="8100000">
              <a:srgbClr val="000000">
                <a:alpha val="20000"/>
              </a:srgbClr>
            </a:outerShdw>
          </a:effectLst>
        </p:spPr>
      </p:sp>
      <p:sp>
        <p:nvSpPr>
          <p:cNvPr id="47" name="Shape 45"/>
          <p:cNvSpPr/>
          <p:nvPr/>
        </p:nvSpPr>
        <p:spPr>
          <a:xfrm>
            <a:off x="6217920" y="3703320"/>
            <a:ext cx="347472" cy="1097280"/>
          </a:xfrm>
          <a:prstGeom prst="rect">
            <a:avLst/>
          </a:prstGeom>
          <a:solidFill>
            <a:srgbClr val="B0BEC5"/>
          </a:solidFill>
          <a:ln w="12700">
            <a:solidFill>
              <a:srgbClr val="B0BEC5"/>
            </a:solidFill>
            <a:prstDash val="solid"/>
          </a:ln>
        </p:spPr>
      </p:sp>
      <p:sp>
        <p:nvSpPr>
          <p:cNvPr id="48" name="Text 46"/>
          <p:cNvSpPr/>
          <p:nvPr/>
        </p:nvSpPr>
        <p:spPr>
          <a:xfrm>
            <a:off x="6217920" y="4050792"/>
            <a:ext cx="347472" cy="365760"/>
          </a:xfrm>
          <a:prstGeom prst="rect">
            <a:avLst/>
          </a:prstGeom>
          <a:noFill/>
          <a:ln/>
        </p:spPr>
        <p:txBody>
          <a:bodyPr wrap="square" lIns="0" tIns="0" rIns="0" bIns="0" rtlCol="0" anchor="ctr"/>
          <a:lstStyle/>
          <a:p>
            <a:pPr algn="ctr" indent="0" marL="0">
              <a:buNone/>
            </a:pPr>
            <a:r>
              <a:rPr lang="en-US" sz="1600" b="1" dirty="0">
                <a:solidFill>
                  <a:srgbClr val="0D1F35"/>
                </a:solidFill>
                <a:latin typeface="Calibri" pitchFamily="34" charset="0"/>
                <a:ea typeface="Calibri" pitchFamily="34" charset="-122"/>
                <a:cs typeface="Calibri" pitchFamily="34" charset="-120"/>
              </a:rPr>
              <a:t>9</a:t>
            </a:r>
            <a:endParaRPr lang="en-US" sz="1600" dirty="0"/>
          </a:p>
        </p:txBody>
      </p:sp>
      <p:sp>
        <p:nvSpPr>
          <p:cNvPr id="49" name="Text 47"/>
          <p:cNvSpPr/>
          <p:nvPr/>
        </p:nvSpPr>
        <p:spPr>
          <a:xfrm>
            <a:off x="6656832" y="3794760"/>
            <a:ext cx="2304288" cy="292608"/>
          </a:xfrm>
          <a:prstGeom prst="rect">
            <a:avLst/>
          </a:prstGeom>
          <a:noFill/>
          <a:ln/>
        </p:spPr>
        <p:txBody>
          <a:bodyPr wrap="square" lIns="0" tIns="0" rIns="0" bIns="0" rtlCol="0" anchor="ctr"/>
          <a:lstStyle/>
          <a:p>
            <a:pPr indent="0" marL="0">
              <a:buNone/>
            </a:pPr>
            <a:r>
              <a:rPr lang="en-US" sz="1050" b="1" dirty="0">
                <a:solidFill>
                  <a:srgbClr val="F0F0F0"/>
                </a:solidFill>
                <a:latin typeface="Calibri" pitchFamily="34" charset="0"/>
                <a:ea typeface="Calibri" pitchFamily="34" charset="-122"/>
                <a:cs typeface="Calibri" pitchFamily="34" charset="-120"/>
              </a:rPr>
              <a:t>Raw Data</a:t>
            </a:r>
            <a:endParaRPr lang="en-US" sz="1050" dirty="0"/>
          </a:p>
        </p:txBody>
      </p:sp>
      <p:sp>
        <p:nvSpPr>
          <p:cNvPr id="50" name="Text 48"/>
          <p:cNvSpPr/>
          <p:nvPr/>
        </p:nvSpPr>
        <p:spPr>
          <a:xfrm>
            <a:off x="6656832" y="4105656"/>
            <a:ext cx="2304288" cy="585216"/>
          </a:xfrm>
          <a:prstGeom prst="rect">
            <a:avLst/>
          </a:prstGeom>
          <a:noFill/>
          <a:ln/>
        </p:spPr>
        <p:txBody>
          <a:bodyPr wrap="square" lIns="0" tIns="0" rIns="0" bIns="0" rtlCol="0" anchor="ctr"/>
          <a:lstStyle/>
          <a:p>
            <a:pPr indent="0" marL="0">
              <a:buNone/>
            </a:pPr>
            <a:r>
              <a:rPr lang="en-US" sz="800" dirty="0">
                <a:solidFill>
                  <a:srgbClr val="B0BEC5"/>
                </a:solidFill>
                <a:latin typeface="Calibri" pitchFamily="34" charset="0"/>
                <a:ea typeface="Calibri" pitchFamily="34" charset="-122"/>
                <a:cs typeface="Calibri" pitchFamily="34" charset="-120"/>
              </a:rPr>
              <a:t>Every Compustat column + every derived metric. Audit trail &amp; CSV download</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F3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E9E"/>
          </a:solidFill>
          <a:ln w="12700">
            <a:solidFill>
              <a:srgbClr val="0D9E9E"/>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400" b="1" dirty="0">
                <a:solidFill>
                  <a:srgbClr val="F0F0F0"/>
                </a:solidFill>
                <a:latin typeface="Calibri" pitchFamily="34" charset="0"/>
                <a:ea typeface="Calibri" pitchFamily="34" charset="-122"/>
                <a:cs typeface="Calibri" pitchFamily="34" charset="-120"/>
              </a:rPr>
              <a:t>Valuation: DCF &amp; Monte Carlo</a:t>
            </a:r>
            <a:endParaRPr lang="en-US" sz="24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indent="0" marL="0">
              <a:buNone/>
            </a:pPr>
            <a:r>
              <a:rPr lang="en-US" sz="1100" i="1" dirty="0">
                <a:solidFill>
                  <a:srgbClr val="0D9E9E"/>
                </a:solidFill>
                <a:latin typeface="Calibri" pitchFamily="34" charset="0"/>
                <a:ea typeface="Calibri" pitchFamily="34" charset="-122"/>
                <a:cs typeface="Calibri" pitchFamily="34" charset="-120"/>
              </a:rPr>
              <a:t>Two complementary approaches — one gives a point estimate, one gives a distribution</a:t>
            </a:r>
            <a:endParaRPr lang="en-US" sz="1100" dirty="0"/>
          </a:p>
        </p:txBody>
      </p:sp>
      <p:sp>
        <p:nvSpPr>
          <p:cNvPr id="5" name="Shape 3"/>
          <p:cNvSpPr/>
          <p:nvPr/>
        </p:nvSpPr>
        <p:spPr>
          <a:xfrm>
            <a:off x="457200" y="960120"/>
            <a:ext cx="8229600" cy="22860"/>
          </a:xfrm>
          <a:prstGeom prst="rect">
            <a:avLst/>
          </a:prstGeom>
          <a:solidFill>
            <a:srgbClr val="0A7A7A"/>
          </a:solidFill>
          <a:ln w="12700">
            <a:solidFill>
              <a:srgbClr val="0A7A7A"/>
            </a:solidFill>
            <a:prstDash val="solid"/>
          </a:ln>
        </p:spPr>
      </p:sp>
      <p:sp>
        <p:nvSpPr>
          <p:cNvPr id="6" name="Shape 4"/>
          <p:cNvSpPr/>
          <p:nvPr/>
        </p:nvSpPr>
        <p:spPr>
          <a:xfrm>
            <a:off x="320040" y="1097280"/>
            <a:ext cx="4160520" cy="3794760"/>
          </a:xfrm>
          <a:prstGeom prst="rect">
            <a:avLst/>
          </a:prstGeom>
          <a:solidFill>
            <a:srgbClr val="162840"/>
          </a:solidFill>
          <a:ln w="12700">
            <a:solidFill>
              <a:srgbClr val="0A7A7A"/>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457200" y="1207008"/>
            <a:ext cx="3840480" cy="292608"/>
          </a:xfrm>
          <a:prstGeom prst="rect">
            <a:avLst/>
          </a:prstGeom>
          <a:noFill/>
          <a:ln/>
        </p:spPr>
        <p:txBody>
          <a:bodyPr wrap="square" lIns="0" tIns="0" rIns="0" bIns="0" rtlCol="0" anchor="ctr"/>
          <a:lstStyle/>
          <a:p>
            <a:pPr indent="0" marL="0">
              <a:buNone/>
            </a:pPr>
            <a:r>
              <a:rPr lang="en-US" sz="1300" b="1" dirty="0">
                <a:solidFill>
                  <a:srgbClr val="0D9E9E"/>
                </a:solidFill>
                <a:latin typeface="Calibri" pitchFamily="34" charset="0"/>
                <a:ea typeface="Calibri" pitchFamily="34" charset="-122"/>
                <a:cs typeface="Calibri" pitchFamily="34" charset="-120"/>
              </a:rPr>
              <a:t>DCF Model</a:t>
            </a:r>
            <a:endParaRPr lang="en-US" sz="1300" dirty="0"/>
          </a:p>
        </p:txBody>
      </p:sp>
      <p:sp>
        <p:nvSpPr>
          <p:cNvPr id="8" name="Shape 6"/>
          <p:cNvSpPr/>
          <p:nvPr/>
        </p:nvSpPr>
        <p:spPr>
          <a:xfrm>
            <a:off x="411480" y="1591056"/>
            <a:ext cx="219456" cy="256032"/>
          </a:xfrm>
          <a:prstGeom prst="rect">
            <a:avLst/>
          </a:prstGeom>
          <a:solidFill>
            <a:srgbClr val="0D9E9E"/>
          </a:solidFill>
          <a:ln w="12700">
            <a:solidFill>
              <a:srgbClr val="0D9E9E"/>
            </a:solidFill>
            <a:prstDash val="solid"/>
          </a:ln>
        </p:spPr>
      </p:sp>
      <p:sp>
        <p:nvSpPr>
          <p:cNvPr id="9" name="Text 7"/>
          <p:cNvSpPr/>
          <p:nvPr/>
        </p:nvSpPr>
        <p:spPr>
          <a:xfrm>
            <a:off x="411480" y="1591056"/>
            <a:ext cx="219456" cy="256032"/>
          </a:xfrm>
          <a:prstGeom prst="rect">
            <a:avLst/>
          </a:prstGeom>
          <a:noFill/>
          <a:ln/>
        </p:spPr>
        <p:txBody>
          <a:bodyPr wrap="square" lIns="0" tIns="0" rIns="0" bIns="0" rtlCol="0" anchor="ctr"/>
          <a:lstStyle/>
          <a:p>
            <a:pPr algn="ctr" indent="0" marL="0">
              <a:buNone/>
            </a:pPr>
            <a:r>
              <a:rPr lang="en-US" sz="800" b="1" dirty="0">
                <a:solidFill>
                  <a:srgbClr val="0D1F35"/>
                </a:solidFill>
                <a:latin typeface="Calibri" pitchFamily="34" charset="0"/>
                <a:ea typeface="Calibri" pitchFamily="34" charset="-122"/>
                <a:cs typeface="Calibri" pitchFamily="34" charset="-120"/>
              </a:rPr>
              <a:t>1</a:t>
            </a:r>
            <a:endParaRPr lang="en-US" sz="800" dirty="0"/>
          </a:p>
        </p:txBody>
      </p:sp>
      <p:sp>
        <p:nvSpPr>
          <p:cNvPr id="10" name="Text 8"/>
          <p:cNvSpPr/>
          <p:nvPr/>
        </p:nvSpPr>
        <p:spPr>
          <a:xfrm>
            <a:off x="685800" y="1572768"/>
            <a:ext cx="1920240" cy="274320"/>
          </a:xfrm>
          <a:prstGeom prst="rect">
            <a:avLst/>
          </a:prstGeom>
          <a:noFill/>
          <a:ln/>
        </p:spPr>
        <p:txBody>
          <a:bodyPr wrap="square" lIns="0" tIns="0" rIns="0" bIns="0" rtlCol="0" anchor="ctr"/>
          <a:lstStyle/>
          <a:p>
            <a:pPr indent="0" marL="0">
              <a:buNone/>
            </a:pPr>
            <a:r>
              <a:rPr lang="en-US" sz="950" b="1" dirty="0">
                <a:solidFill>
                  <a:srgbClr val="F0F0F0"/>
                </a:solidFill>
                <a:latin typeface="Calibri" pitchFamily="34" charset="0"/>
                <a:ea typeface="Calibri" pitchFamily="34" charset="-122"/>
                <a:cs typeface="Calibri" pitchFamily="34" charset="-120"/>
              </a:rPr>
              <a:t>Base FCF</a:t>
            </a:r>
            <a:endParaRPr lang="en-US" sz="950" dirty="0"/>
          </a:p>
        </p:txBody>
      </p:sp>
      <p:sp>
        <p:nvSpPr>
          <p:cNvPr id="11" name="Text 9"/>
          <p:cNvSpPr/>
          <p:nvPr/>
        </p:nvSpPr>
        <p:spPr>
          <a:xfrm>
            <a:off x="2651760" y="1572768"/>
            <a:ext cx="1645920" cy="274320"/>
          </a:xfrm>
          <a:prstGeom prst="rect">
            <a:avLst/>
          </a:prstGeom>
          <a:noFill/>
          <a:ln/>
        </p:spPr>
        <p:txBody>
          <a:bodyPr wrap="square" lIns="0" tIns="0" rIns="0" bIns="0" rtlCol="0" anchor="ctr"/>
          <a:lstStyle/>
          <a:p>
            <a:pPr algn="r" indent="0" marL="0">
              <a:buNone/>
            </a:pPr>
            <a:r>
              <a:rPr lang="en-US" sz="900" dirty="0">
                <a:solidFill>
                  <a:srgbClr val="C8A84B"/>
                </a:solidFill>
                <a:latin typeface="Consolas" pitchFamily="34" charset="0"/>
                <a:ea typeface="Consolas" pitchFamily="34" charset="-122"/>
                <a:cs typeface="Consolas" pitchFamily="34" charset="-120"/>
              </a:rPr>
              <a:t>$1,207M</a:t>
            </a:r>
            <a:endParaRPr lang="en-US" sz="900" dirty="0"/>
          </a:p>
        </p:txBody>
      </p:sp>
      <p:sp>
        <p:nvSpPr>
          <p:cNvPr id="12" name="Text 10"/>
          <p:cNvSpPr/>
          <p:nvPr/>
        </p:nvSpPr>
        <p:spPr>
          <a:xfrm>
            <a:off x="685800" y="1819656"/>
            <a:ext cx="3611880" cy="182880"/>
          </a:xfrm>
          <a:prstGeom prst="rect">
            <a:avLst/>
          </a:prstGeom>
          <a:noFill/>
          <a:ln/>
        </p:spPr>
        <p:txBody>
          <a:bodyPr wrap="square" lIns="0" tIns="0" rIns="0" bIns="0" rtlCol="0" anchor="ctr"/>
          <a:lstStyle/>
          <a:p>
            <a:pPr indent="0" marL="0">
              <a:buNone/>
            </a:pPr>
            <a:r>
              <a:rPr lang="en-US" sz="750" i="1" dirty="0">
                <a:solidFill>
                  <a:srgbClr val="B0BEC5"/>
                </a:solidFill>
                <a:latin typeface="Calibri" pitchFamily="34" charset="0"/>
                <a:ea typeface="Calibri" pitchFamily="34" charset="-122"/>
                <a:cs typeface="Calibri" pitchFamily="34" charset="-120"/>
              </a:rPr>
              <a:t>FY2024: oancf − capx</a:t>
            </a:r>
            <a:endParaRPr lang="en-US" sz="750" dirty="0"/>
          </a:p>
        </p:txBody>
      </p:sp>
      <p:sp>
        <p:nvSpPr>
          <p:cNvPr id="13" name="Shape 11"/>
          <p:cNvSpPr/>
          <p:nvPr/>
        </p:nvSpPr>
        <p:spPr>
          <a:xfrm>
            <a:off x="411480" y="2039112"/>
            <a:ext cx="219456" cy="256032"/>
          </a:xfrm>
          <a:prstGeom prst="rect">
            <a:avLst/>
          </a:prstGeom>
          <a:solidFill>
            <a:srgbClr val="0D9E9E"/>
          </a:solidFill>
          <a:ln w="12700">
            <a:solidFill>
              <a:srgbClr val="0D9E9E"/>
            </a:solidFill>
            <a:prstDash val="solid"/>
          </a:ln>
        </p:spPr>
      </p:sp>
      <p:sp>
        <p:nvSpPr>
          <p:cNvPr id="14" name="Text 12"/>
          <p:cNvSpPr/>
          <p:nvPr/>
        </p:nvSpPr>
        <p:spPr>
          <a:xfrm>
            <a:off x="411480" y="2039112"/>
            <a:ext cx="219456" cy="256032"/>
          </a:xfrm>
          <a:prstGeom prst="rect">
            <a:avLst/>
          </a:prstGeom>
          <a:noFill/>
          <a:ln/>
        </p:spPr>
        <p:txBody>
          <a:bodyPr wrap="square" lIns="0" tIns="0" rIns="0" bIns="0" rtlCol="0" anchor="ctr"/>
          <a:lstStyle/>
          <a:p>
            <a:pPr algn="ctr" indent="0" marL="0">
              <a:buNone/>
            </a:pPr>
            <a:r>
              <a:rPr lang="en-US" sz="800" b="1" dirty="0">
                <a:solidFill>
                  <a:srgbClr val="0D1F35"/>
                </a:solidFill>
                <a:latin typeface="Calibri" pitchFamily="34" charset="0"/>
                <a:ea typeface="Calibri" pitchFamily="34" charset="-122"/>
                <a:cs typeface="Calibri" pitchFamily="34" charset="-120"/>
              </a:rPr>
              <a:t>2</a:t>
            </a:r>
            <a:endParaRPr lang="en-US" sz="800" dirty="0"/>
          </a:p>
        </p:txBody>
      </p:sp>
      <p:sp>
        <p:nvSpPr>
          <p:cNvPr id="15" name="Text 13"/>
          <p:cNvSpPr/>
          <p:nvPr/>
        </p:nvSpPr>
        <p:spPr>
          <a:xfrm>
            <a:off x="685800" y="2020824"/>
            <a:ext cx="1920240" cy="274320"/>
          </a:xfrm>
          <a:prstGeom prst="rect">
            <a:avLst/>
          </a:prstGeom>
          <a:noFill/>
          <a:ln/>
        </p:spPr>
        <p:txBody>
          <a:bodyPr wrap="square" lIns="0" tIns="0" rIns="0" bIns="0" rtlCol="0" anchor="ctr"/>
          <a:lstStyle/>
          <a:p>
            <a:pPr indent="0" marL="0">
              <a:buNone/>
            </a:pPr>
            <a:r>
              <a:rPr lang="en-US" sz="950" b="1" dirty="0">
                <a:solidFill>
                  <a:srgbClr val="F0F0F0"/>
                </a:solidFill>
                <a:latin typeface="Calibri" pitchFamily="34" charset="0"/>
                <a:ea typeface="Calibri" pitchFamily="34" charset="-122"/>
                <a:cs typeface="Calibri" pitchFamily="34" charset="-120"/>
              </a:rPr>
              <a:t>Grow at g% for 5 years</a:t>
            </a:r>
            <a:endParaRPr lang="en-US" sz="950" dirty="0"/>
          </a:p>
        </p:txBody>
      </p:sp>
      <p:sp>
        <p:nvSpPr>
          <p:cNvPr id="16" name="Text 14"/>
          <p:cNvSpPr/>
          <p:nvPr/>
        </p:nvSpPr>
        <p:spPr>
          <a:xfrm>
            <a:off x="2651760" y="2020824"/>
            <a:ext cx="1645920" cy="274320"/>
          </a:xfrm>
          <a:prstGeom prst="rect">
            <a:avLst/>
          </a:prstGeom>
          <a:noFill/>
          <a:ln/>
        </p:spPr>
        <p:txBody>
          <a:bodyPr wrap="square" lIns="0" tIns="0" rIns="0" bIns="0" rtlCol="0" anchor="ctr"/>
          <a:lstStyle/>
          <a:p>
            <a:pPr algn="r" indent="0" marL="0">
              <a:buNone/>
            </a:pPr>
            <a:r>
              <a:rPr lang="en-US" sz="900" dirty="0">
                <a:solidFill>
                  <a:srgbClr val="C8A84B"/>
                </a:solidFill>
                <a:latin typeface="Consolas" pitchFamily="34" charset="0"/>
                <a:ea typeface="Consolas" pitchFamily="34" charset="-122"/>
                <a:cs typeface="Consolas" pitchFamily="34" charset="-120"/>
              </a:rPr>
              <a:t>Sidebar slider</a:t>
            </a:r>
            <a:endParaRPr lang="en-US" sz="900" dirty="0"/>
          </a:p>
        </p:txBody>
      </p:sp>
      <p:sp>
        <p:nvSpPr>
          <p:cNvPr id="17" name="Text 15"/>
          <p:cNvSpPr/>
          <p:nvPr/>
        </p:nvSpPr>
        <p:spPr>
          <a:xfrm>
            <a:off x="685800" y="2267712"/>
            <a:ext cx="3611880" cy="182880"/>
          </a:xfrm>
          <a:prstGeom prst="rect">
            <a:avLst/>
          </a:prstGeom>
          <a:noFill/>
          <a:ln/>
        </p:spPr>
        <p:txBody>
          <a:bodyPr wrap="square" lIns="0" tIns="0" rIns="0" bIns="0" rtlCol="0" anchor="ctr"/>
          <a:lstStyle/>
          <a:p>
            <a:pPr indent="0" marL="0">
              <a:buNone/>
            </a:pPr>
            <a:r>
              <a:rPr lang="en-US" sz="750" i="1" dirty="0">
                <a:solidFill>
                  <a:srgbClr val="B0BEC5"/>
                </a:solidFill>
                <a:latin typeface="Calibri" pitchFamily="34" charset="0"/>
                <a:ea typeface="Calibri" pitchFamily="34" charset="-122"/>
                <a:cs typeface="Calibri" pitchFamily="34" charset="-120"/>
              </a:rPr>
              <a:t>Default 7% per year</a:t>
            </a:r>
            <a:endParaRPr lang="en-US" sz="750" dirty="0"/>
          </a:p>
        </p:txBody>
      </p:sp>
      <p:sp>
        <p:nvSpPr>
          <p:cNvPr id="18" name="Shape 16"/>
          <p:cNvSpPr/>
          <p:nvPr/>
        </p:nvSpPr>
        <p:spPr>
          <a:xfrm>
            <a:off x="411480" y="2487168"/>
            <a:ext cx="219456" cy="256032"/>
          </a:xfrm>
          <a:prstGeom prst="rect">
            <a:avLst/>
          </a:prstGeom>
          <a:solidFill>
            <a:srgbClr val="0D9E9E"/>
          </a:solidFill>
          <a:ln w="12700">
            <a:solidFill>
              <a:srgbClr val="0D9E9E"/>
            </a:solidFill>
            <a:prstDash val="solid"/>
          </a:ln>
        </p:spPr>
      </p:sp>
      <p:sp>
        <p:nvSpPr>
          <p:cNvPr id="19" name="Text 17"/>
          <p:cNvSpPr/>
          <p:nvPr/>
        </p:nvSpPr>
        <p:spPr>
          <a:xfrm>
            <a:off x="411480" y="2487168"/>
            <a:ext cx="219456" cy="256032"/>
          </a:xfrm>
          <a:prstGeom prst="rect">
            <a:avLst/>
          </a:prstGeom>
          <a:noFill/>
          <a:ln/>
        </p:spPr>
        <p:txBody>
          <a:bodyPr wrap="square" lIns="0" tIns="0" rIns="0" bIns="0" rtlCol="0" anchor="ctr"/>
          <a:lstStyle/>
          <a:p>
            <a:pPr algn="ctr" indent="0" marL="0">
              <a:buNone/>
            </a:pPr>
            <a:r>
              <a:rPr lang="en-US" sz="800" b="1" dirty="0">
                <a:solidFill>
                  <a:srgbClr val="0D1F35"/>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685800" y="2468880"/>
            <a:ext cx="1920240" cy="274320"/>
          </a:xfrm>
          <a:prstGeom prst="rect">
            <a:avLst/>
          </a:prstGeom>
          <a:noFill/>
          <a:ln/>
        </p:spPr>
        <p:txBody>
          <a:bodyPr wrap="square" lIns="0" tIns="0" rIns="0" bIns="0" rtlCol="0" anchor="ctr"/>
          <a:lstStyle/>
          <a:p>
            <a:pPr indent="0" marL="0">
              <a:buNone/>
            </a:pPr>
            <a:r>
              <a:rPr lang="en-US" sz="950" b="1" dirty="0">
                <a:solidFill>
                  <a:srgbClr val="F0F0F0"/>
                </a:solidFill>
                <a:latin typeface="Calibri" pitchFamily="34" charset="0"/>
                <a:ea typeface="Calibri" pitchFamily="34" charset="-122"/>
                <a:cs typeface="Calibri" pitchFamily="34" charset="-120"/>
              </a:rPr>
              <a:t>Terminal Value</a:t>
            </a:r>
            <a:endParaRPr lang="en-US" sz="950" dirty="0"/>
          </a:p>
        </p:txBody>
      </p:sp>
      <p:sp>
        <p:nvSpPr>
          <p:cNvPr id="21" name="Text 19"/>
          <p:cNvSpPr/>
          <p:nvPr/>
        </p:nvSpPr>
        <p:spPr>
          <a:xfrm>
            <a:off x="2651760" y="2468880"/>
            <a:ext cx="1645920" cy="274320"/>
          </a:xfrm>
          <a:prstGeom prst="rect">
            <a:avLst/>
          </a:prstGeom>
          <a:noFill/>
          <a:ln/>
        </p:spPr>
        <p:txBody>
          <a:bodyPr wrap="square" lIns="0" tIns="0" rIns="0" bIns="0" rtlCol="0" anchor="ctr"/>
          <a:lstStyle/>
          <a:p>
            <a:pPr algn="r" indent="0" marL="0">
              <a:buNone/>
            </a:pPr>
            <a:r>
              <a:rPr lang="en-US" sz="900" dirty="0">
                <a:solidFill>
                  <a:srgbClr val="C8A84B"/>
                </a:solidFill>
                <a:latin typeface="Consolas" pitchFamily="34" charset="0"/>
                <a:ea typeface="Consolas" pitchFamily="34" charset="-122"/>
                <a:cs typeface="Consolas" pitchFamily="34" charset="-120"/>
              </a:rPr>
              <a:t>FCF₅ × (1+tgr)</a:t>
            </a:r>
            <a:endParaRPr lang="en-US" sz="900" dirty="0"/>
          </a:p>
        </p:txBody>
      </p:sp>
      <p:sp>
        <p:nvSpPr>
          <p:cNvPr id="22" name="Text 20"/>
          <p:cNvSpPr/>
          <p:nvPr/>
        </p:nvSpPr>
        <p:spPr>
          <a:xfrm>
            <a:off x="685800" y="2715768"/>
            <a:ext cx="3611880" cy="182880"/>
          </a:xfrm>
          <a:prstGeom prst="rect">
            <a:avLst/>
          </a:prstGeom>
          <a:noFill/>
          <a:ln/>
        </p:spPr>
        <p:txBody>
          <a:bodyPr wrap="square" lIns="0" tIns="0" rIns="0" bIns="0" rtlCol="0" anchor="ctr"/>
          <a:lstStyle/>
          <a:p>
            <a:pPr indent="0" marL="0">
              <a:buNone/>
            </a:pPr>
            <a:r>
              <a:rPr lang="en-US" sz="750" i="1" dirty="0">
                <a:solidFill>
                  <a:srgbClr val="B0BEC5"/>
                </a:solidFill>
                <a:latin typeface="Calibri" pitchFamily="34" charset="0"/>
                <a:ea typeface="Calibri" pitchFamily="34" charset="-122"/>
                <a:cs typeface="Calibri" pitchFamily="34" charset="-120"/>
              </a:rPr>
              <a:t>÷ (WACC − tgr) — Gordon Growth</a:t>
            </a:r>
            <a:endParaRPr lang="en-US" sz="750" dirty="0"/>
          </a:p>
        </p:txBody>
      </p:sp>
      <p:sp>
        <p:nvSpPr>
          <p:cNvPr id="23" name="Shape 21"/>
          <p:cNvSpPr/>
          <p:nvPr/>
        </p:nvSpPr>
        <p:spPr>
          <a:xfrm>
            <a:off x="411480" y="2935224"/>
            <a:ext cx="219456" cy="256032"/>
          </a:xfrm>
          <a:prstGeom prst="rect">
            <a:avLst/>
          </a:prstGeom>
          <a:solidFill>
            <a:srgbClr val="0D9E9E"/>
          </a:solidFill>
          <a:ln w="12700">
            <a:solidFill>
              <a:srgbClr val="0D9E9E"/>
            </a:solidFill>
            <a:prstDash val="solid"/>
          </a:ln>
        </p:spPr>
      </p:sp>
      <p:sp>
        <p:nvSpPr>
          <p:cNvPr id="24" name="Text 22"/>
          <p:cNvSpPr/>
          <p:nvPr/>
        </p:nvSpPr>
        <p:spPr>
          <a:xfrm>
            <a:off x="411480" y="2935224"/>
            <a:ext cx="219456" cy="256032"/>
          </a:xfrm>
          <a:prstGeom prst="rect">
            <a:avLst/>
          </a:prstGeom>
          <a:noFill/>
          <a:ln/>
        </p:spPr>
        <p:txBody>
          <a:bodyPr wrap="square" lIns="0" tIns="0" rIns="0" bIns="0" rtlCol="0" anchor="ctr"/>
          <a:lstStyle/>
          <a:p>
            <a:pPr algn="ctr" indent="0" marL="0">
              <a:buNone/>
            </a:pPr>
            <a:r>
              <a:rPr lang="en-US" sz="800" b="1" dirty="0">
                <a:solidFill>
                  <a:srgbClr val="0D1F35"/>
                </a:solidFill>
                <a:latin typeface="Calibri" pitchFamily="34" charset="0"/>
                <a:ea typeface="Calibri" pitchFamily="34" charset="-122"/>
                <a:cs typeface="Calibri" pitchFamily="34" charset="-120"/>
              </a:rPr>
              <a:t>4</a:t>
            </a:r>
            <a:endParaRPr lang="en-US" sz="800" dirty="0"/>
          </a:p>
        </p:txBody>
      </p:sp>
      <p:sp>
        <p:nvSpPr>
          <p:cNvPr id="25" name="Text 23"/>
          <p:cNvSpPr/>
          <p:nvPr/>
        </p:nvSpPr>
        <p:spPr>
          <a:xfrm>
            <a:off x="685800" y="2916936"/>
            <a:ext cx="1920240" cy="274320"/>
          </a:xfrm>
          <a:prstGeom prst="rect">
            <a:avLst/>
          </a:prstGeom>
          <a:noFill/>
          <a:ln/>
        </p:spPr>
        <p:txBody>
          <a:bodyPr wrap="square" lIns="0" tIns="0" rIns="0" bIns="0" rtlCol="0" anchor="ctr"/>
          <a:lstStyle/>
          <a:p>
            <a:pPr indent="0" marL="0">
              <a:buNone/>
            </a:pPr>
            <a:r>
              <a:rPr lang="en-US" sz="950" b="1" dirty="0">
                <a:solidFill>
                  <a:srgbClr val="F0F0F0"/>
                </a:solidFill>
                <a:latin typeface="Calibri" pitchFamily="34" charset="0"/>
                <a:ea typeface="Calibri" pitchFamily="34" charset="-122"/>
                <a:cs typeface="Calibri" pitchFamily="34" charset="-120"/>
              </a:rPr>
              <a:t>Discount to today</a:t>
            </a:r>
            <a:endParaRPr lang="en-US" sz="950" dirty="0"/>
          </a:p>
        </p:txBody>
      </p:sp>
      <p:sp>
        <p:nvSpPr>
          <p:cNvPr id="26" name="Text 24"/>
          <p:cNvSpPr/>
          <p:nvPr/>
        </p:nvSpPr>
        <p:spPr>
          <a:xfrm>
            <a:off x="2651760" y="2916936"/>
            <a:ext cx="1645920" cy="274320"/>
          </a:xfrm>
          <a:prstGeom prst="rect">
            <a:avLst/>
          </a:prstGeom>
          <a:noFill/>
          <a:ln/>
        </p:spPr>
        <p:txBody>
          <a:bodyPr wrap="square" lIns="0" tIns="0" rIns="0" bIns="0" rtlCol="0" anchor="ctr"/>
          <a:lstStyle/>
          <a:p>
            <a:pPr algn="r" indent="0" marL="0">
              <a:buNone/>
            </a:pPr>
            <a:r>
              <a:rPr lang="en-US" sz="900" dirty="0">
                <a:solidFill>
                  <a:srgbClr val="C8A84B"/>
                </a:solidFill>
                <a:latin typeface="Consolas" pitchFamily="34" charset="0"/>
                <a:ea typeface="Consolas" pitchFamily="34" charset="-122"/>
                <a:cs typeface="Consolas" pitchFamily="34" charset="-120"/>
              </a:rPr>
              <a:t>÷ (1 + WACC)ⁿ</a:t>
            </a:r>
            <a:endParaRPr lang="en-US" sz="900" dirty="0"/>
          </a:p>
        </p:txBody>
      </p:sp>
      <p:sp>
        <p:nvSpPr>
          <p:cNvPr id="27" name="Text 25"/>
          <p:cNvSpPr/>
          <p:nvPr/>
        </p:nvSpPr>
        <p:spPr>
          <a:xfrm>
            <a:off x="685800" y="3163824"/>
            <a:ext cx="3611880" cy="182880"/>
          </a:xfrm>
          <a:prstGeom prst="rect">
            <a:avLst/>
          </a:prstGeom>
          <a:noFill/>
          <a:ln/>
        </p:spPr>
        <p:txBody>
          <a:bodyPr wrap="square" lIns="0" tIns="0" rIns="0" bIns="0" rtlCol="0" anchor="ctr"/>
          <a:lstStyle/>
          <a:p>
            <a:pPr indent="0" marL="0">
              <a:buNone/>
            </a:pPr>
            <a:r>
              <a:rPr lang="en-US" sz="750" i="1" dirty="0">
                <a:solidFill>
                  <a:srgbClr val="B0BEC5"/>
                </a:solidFill>
                <a:latin typeface="Calibri" pitchFamily="34" charset="0"/>
                <a:ea typeface="Calibri" pitchFamily="34" charset="-122"/>
                <a:cs typeface="Calibri" pitchFamily="34" charset="-120"/>
              </a:rPr>
              <a:t>WACC default 7.8%</a:t>
            </a:r>
            <a:endParaRPr lang="en-US" sz="750" dirty="0"/>
          </a:p>
        </p:txBody>
      </p:sp>
      <p:sp>
        <p:nvSpPr>
          <p:cNvPr id="28" name="Shape 26"/>
          <p:cNvSpPr/>
          <p:nvPr/>
        </p:nvSpPr>
        <p:spPr>
          <a:xfrm>
            <a:off x="411480" y="3383280"/>
            <a:ext cx="219456" cy="256032"/>
          </a:xfrm>
          <a:prstGeom prst="rect">
            <a:avLst/>
          </a:prstGeom>
          <a:solidFill>
            <a:srgbClr val="0D9E9E"/>
          </a:solidFill>
          <a:ln w="12700">
            <a:solidFill>
              <a:srgbClr val="0D9E9E"/>
            </a:solidFill>
            <a:prstDash val="solid"/>
          </a:ln>
        </p:spPr>
      </p:sp>
      <p:sp>
        <p:nvSpPr>
          <p:cNvPr id="29" name="Text 27"/>
          <p:cNvSpPr/>
          <p:nvPr/>
        </p:nvSpPr>
        <p:spPr>
          <a:xfrm>
            <a:off x="411480" y="3383280"/>
            <a:ext cx="219456" cy="256032"/>
          </a:xfrm>
          <a:prstGeom prst="rect">
            <a:avLst/>
          </a:prstGeom>
          <a:noFill/>
          <a:ln/>
        </p:spPr>
        <p:txBody>
          <a:bodyPr wrap="square" lIns="0" tIns="0" rIns="0" bIns="0" rtlCol="0" anchor="ctr"/>
          <a:lstStyle/>
          <a:p>
            <a:pPr algn="ctr" indent="0" marL="0">
              <a:buNone/>
            </a:pPr>
            <a:r>
              <a:rPr lang="en-US" sz="800" b="1" dirty="0">
                <a:solidFill>
                  <a:srgbClr val="0D1F35"/>
                </a:solidFill>
                <a:latin typeface="Calibri" pitchFamily="34" charset="0"/>
                <a:ea typeface="Calibri" pitchFamily="34" charset="-122"/>
                <a:cs typeface="Calibri" pitchFamily="34" charset="-120"/>
              </a:rPr>
              <a:t>5</a:t>
            </a:r>
            <a:endParaRPr lang="en-US" sz="800" dirty="0"/>
          </a:p>
        </p:txBody>
      </p:sp>
      <p:sp>
        <p:nvSpPr>
          <p:cNvPr id="30" name="Text 28"/>
          <p:cNvSpPr/>
          <p:nvPr/>
        </p:nvSpPr>
        <p:spPr>
          <a:xfrm>
            <a:off x="685800" y="3364992"/>
            <a:ext cx="1920240" cy="274320"/>
          </a:xfrm>
          <a:prstGeom prst="rect">
            <a:avLst/>
          </a:prstGeom>
          <a:noFill/>
          <a:ln/>
        </p:spPr>
        <p:txBody>
          <a:bodyPr wrap="square" lIns="0" tIns="0" rIns="0" bIns="0" rtlCol="0" anchor="ctr"/>
          <a:lstStyle/>
          <a:p>
            <a:pPr indent="0" marL="0">
              <a:buNone/>
            </a:pPr>
            <a:r>
              <a:rPr lang="en-US" sz="950" b="1" dirty="0">
                <a:solidFill>
                  <a:srgbClr val="F0F0F0"/>
                </a:solidFill>
                <a:latin typeface="Calibri" pitchFamily="34" charset="0"/>
                <a:ea typeface="Calibri" pitchFamily="34" charset="-122"/>
                <a:cs typeface="Calibri" pitchFamily="34" charset="-120"/>
              </a:rPr>
              <a:t>Subtract Net Debt</a:t>
            </a:r>
            <a:endParaRPr lang="en-US" sz="950" dirty="0"/>
          </a:p>
        </p:txBody>
      </p:sp>
      <p:sp>
        <p:nvSpPr>
          <p:cNvPr id="31" name="Text 29"/>
          <p:cNvSpPr/>
          <p:nvPr/>
        </p:nvSpPr>
        <p:spPr>
          <a:xfrm>
            <a:off x="2651760" y="3364992"/>
            <a:ext cx="1645920" cy="274320"/>
          </a:xfrm>
          <a:prstGeom prst="rect">
            <a:avLst/>
          </a:prstGeom>
          <a:noFill/>
          <a:ln/>
        </p:spPr>
        <p:txBody>
          <a:bodyPr wrap="square" lIns="0" tIns="0" rIns="0" bIns="0" rtlCol="0" anchor="ctr"/>
          <a:lstStyle/>
          <a:p>
            <a:pPr algn="r" indent="0" marL="0">
              <a:buNone/>
            </a:pPr>
            <a:r>
              <a:rPr lang="en-US" sz="900" dirty="0">
                <a:solidFill>
                  <a:srgbClr val="C8A84B"/>
                </a:solidFill>
                <a:latin typeface="Consolas" pitchFamily="34" charset="0"/>
                <a:ea typeface="Consolas" pitchFamily="34" charset="-122"/>
                <a:cs typeface="Consolas" pitchFamily="34" charset="-120"/>
              </a:rPr>
              <a:t>−$1,910M</a:t>
            </a:r>
            <a:endParaRPr lang="en-US" sz="900" dirty="0"/>
          </a:p>
        </p:txBody>
      </p:sp>
      <p:sp>
        <p:nvSpPr>
          <p:cNvPr id="32" name="Text 30"/>
          <p:cNvSpPr/>
          <p:nvPr/>
        </p:nvSpPr>
        <p:spPr>
          <a:xfrm>
            <a:off x="685800" y="3611880"/>
            <a:ext cx="3611880" cy="182880"/>
          </a:xfrm>
          <a:prstGeom prst="rect">
            <a:avLst/>
          </a:prstGeom>
          <a:noFill/>
          <a:ln/>
        </p:spPr>
        <p:txBody>
          <a:bodyPr wrap="square" lIns="0" tIns="0" rIns="0" bIns="0" rtlCol="0" anchor="ctr"/>
          <a:lstStyle/>
          <a:p>
            <a:pPr indent="0" marL="0">
              <a:buNone/>
            </a:pPr>
            <a:r>
              <a:rPr lang="en-US" sz="750" i="1" dirty="0">
                <a:solidFill>
                  <a:srgbClr val="B0BEC5"/>
                </a:solidFill>
                <a:latin typeface="Calibri" pitchFamily="34" charset="0"/>
                <a:ea typeface="Calibri" pitchFamily="34" charset="-122"/>
                <a:cs typeface="Calibri" pitchFamily="34" charset="-120"/>
              </a:rPr>
              <a:t>dltt + dlc − che</a:t>
            </a:r>
            <a:endParaRPr lang="en-US" sz="750" dirty="0"/>
          </a:p>
        </p:txBody>
      </p:sp>
      <p:sp>
        <p:nvSpPr>
          <p:cNvPr id="33" name="Shape 31"/>
          <p:cNvSpPr/>
          <p:nvPr/>
        </p:nvSpPr>
        <p:spPr>
          <a:xfrm>
            <a:off x="411480" y="3831336"/>
            <a:ext cx="219456" cy="256032"/>
          </a:xfrm>
          <a:prstGeom prst="rect">
            <a:avLst/>
          </a:prstGeom>
          <a:solidFill>
            <a:srgbClr val="0D9E9E"/>
          </a:solidFill>
          <a:ln w="12700">
            <a:solidFill>
              <a:srgbClr val="0D9E9E"/>
            </a:solidFill>
            <a:prstDash val="solid"/>
          </a:ln>
        </p:spPr>
      </p:sp>
      <p:sp>
        <p:nvSpPr>
          <p:cNvPr id="34" name="Text 32"/>
          <p:cNvSpPr/>
          <p:nvPr/>
        </p:nvSpPr>
        <p:spPr>
          <a:xfrm>
            <a:off x="411480" y="3831336"/>
            <a:ext cx="219456" cy="256032"/>
          </a:xfrm>
          <a:prstGeom prst="rect">
            <a:avLst/>
          </a:prstGeom>
          <a:noFill/>
          <a:ln/>
        </p:spPr>
        <p:txBody>
          <a:bodyPr wrap="square" lIns="0" tIns="0" rIns="0" bIns="0" rtlCol="0" anchor="ctr"/>
          <a:lstStyle/>
          <a:p>
            <a:pPr algn="ctr" indent="0" marL="0">
              <a:buNone/>
            </a:pPr>
            <a:r>
              <a:rPr lang="en-US" sz="800" b="1" dirty="0">
                <a:solidFill>
                  <a:srgbClr val="0D1F35"/>
                </a:solidFill>
                <a:latin typeface="Calibri" pitchFamily="34" charset="0"/>
                <a:ea typeface="Calibri" pitchFamily="34" charset="-122"/>
                <a:cs typeface="Calibri" pitchFamily="34" charset="-120"/>
              </a:rPr>
              <a:t>6</a:t>
            </a:r>
            <a:endParaRPr lang="en-US" sz="800" dirty="0"/>
          </a:p>
        </p:txBody>
      </p:sp>
      <p:sp>
        <p:nvSpPr>
          <p:cNvPr id="35" name="Text 33"/>
          <p:cNvSpPr/>
          <p:nvPr/>
        </p:nvSpPr>
        <p:spPr>
          <a:xfrm>
            <a:off x="685800" y="3813048"/>
            <a:ext cx="1920240" cy="274320"/>
          </a:xfrm>
          <a:prstGeom prst="rect">
            <a:avLst/>
          </a:prstGeom>
          <a:noFill/>
          <a:ln/>
        </p:spPr>
        <p:txBody>
          <a:bodyPr wrap="square" lIns="0" tIns="0" rIns="0" bIns="0" rtlCol="0" anchor="ctr"/>
          <a:lstStyle/>
          <a:p>
            <a:pPr indent="0" marL="0">
              <a:buNone/>
            </a:pPr>
            <a:r>
              <a:rPr lang="en-US" sz="950" b="1" dirty="0">
                <a:solidFill>
                  <a:srgbClr val="F0F0F0"/>
                </a:solidFill>
                <a:latin typeface="Calibri" pitchFamily="34" charset="0"/>
                <a:ea typeface="Calibri" pitchFamily="34" charset="-122"/>
                <a:cs typeface="Calibri" pitchFamily="34" charset="-120"/>
              </a:rPr>
              <a:t>Divide by Shares</a:t>
            </a:r>
            <a:endParaRPr lang="en-US" sz="950" dirty="0"/>
          </a:p>
        </p:txBody>
      </p:sp>
      <p:sp>
        <p:nvSpPr>
          <p:cNvPr id="36" name="Text 34"/>
          <p:cNvSpPr/>
          <p:nvPr/>
        </p:nvSpPr>
        <p:spPr>
          <a:xfrm>
            <a:off x="2651760" y="3813048"/>
            <a:ext cx="1645920" cy="274320"/>
          </a:xfrm>
          <a:prstGeom prst="rect">
            <a:avLst/>
          </a:prstGeom>
          <a:noFill/>
          <a:ln/>
        </p:spPr>
        <p:txBody>
          <a:bodyPr wrap="square" lIns="0" tIns="0" rIns="0" bIns="0" rtlCol="0" anchor="ctr"/>
          <a:lstStyle/>
          <a:p>
            <a:pPr algn="r" indent="0" marL="0">
              <a:buNone/>
            </a:pPr>
            <a:r>
              <a:rPr lang="en-US" sz="900" dirty="0">
                <a:solidFill>
                  <a:srgbClr val="C8A84B"/>
                </a:solidFill>
                <a:latin typeface="Consolas" pitchFamily="34" charset="0"/>
                <a:ea typeface="Consolas" pitchFamily="34" charset="-122"/>
                <a:cs typeface="Consolas" pitchFamily="34" charset="-120"/>
              </a:rPr>
              <a:t>÷ 228M shares</a:t>
            </a:r>
            <a:endParaRPr lang="en-US" sz="900" dirty="0"/>
          </a:p>
        </p:txBody>
      </p:sp>
      <p:sp>
        <p:nvSpPr>
          <p:cNvPr id="37" name="Text 35"/>
          <p:cNvSpPr/>
          <p:nvPr/>
        </p:nvSpPr>
        <p:spPr>
          <a:xfrm>
            <a:off x="685800" y="4059936"/>
            <a:ext cx="3611880" cy="182880"/>
          </a:xfrm>
          <a:prstGeom prst="rect">
            <a:avLst/>
          </a:prstGeom>
          <a:noFill/>
          <a:ln/>
        </p:spPr>
        <p:txBody>
          <a:bodyPr wrap="square" lIns="0" tIns="0" rIns="0" bIns="0" rtlCol="0" anchor="ctr"/>
          <a:lstStyle/>
          <a:p>
            <a:pPr indent="0" marL="0">
              <a:buNone/>
            </a:pPr>
            <a:r>
              <a:rPr lang="en-US" sz="750" i="1" dirty="0">
                <a:solidFill>
                  <a:srgbClr val="B0BEC5"/>
                </a:solidFill>
                <a:latin typeface="Calibri" pitchFamily="34" charset="0"/>
                <a:ea typeface="Calibri" pitchFamily="34" charset="-122"/>
                <a:cs typeface="Calibri" pitchFamily="34" charset="-120"/>
              </a:rPr>
              <a:t>csho from Compustat</a:t>
            </a:r>
            <a:endParaRPr lang="en-US" sz="750" dirty="0"/>
          </a:p>
        </p:txBody>
      </p:sp>
      <p:sp>
        <p:nvSpPr>
          <p:cNvPr id="38" name="Shape 36"/>
          <p:cNvSpPr/>
          <p:nvPr/>
        </p:nvSpPr>
        <p:spPr>
          <a:xfrm>
            <a:off x="411480" y="4279392"/>
            <a:ext cx="219456" cy="256032"/>
          </a:xfrm>
          <a:prstGeom prst="rect">
            <a:avLst/>
          </a:prstGeom>
          <a:solidFill>
            <a:srgbClr val="0D9E9E"/>
          </a:solidFill>
          <a:ln w="12700">
            <a:solidFill>
              <a:srgbClr val="0D9E9E"/>
            </a:solidFill>
            <a:prstDash val="solid"/>
          </a:ln>
        </p:spPr>
      </p:sp>
      <p:sp>
        <p:nvSpPr>
          <p:cNvPr id="39" name="Text 37"/>
          <p:cNvSpPr/>
          <p:nvPr/>
        </p:nvSpPr>
        <p:spPr>
          <a:xfrm>
            <a:off x="411480" y="4279392"/>
            <a:ext cx="219456" cy="256032"/>
          </a:xfrm>
          <a:prstGeom prst="rect">
            <a:avLst/>
          </a:prstGeom>
          <a:noFill/>
          <a:ln/>
        </p:spPr>
        <p:txBody>
          <a:bodyPr wrap="square" lIns="0" tIns="0" rIns="0" bIns="0" rtlCol="0" anchor="ctr"/>
          <a:lstStyle/>
          <a:p>
            <a:pPr algn="ctr" indent="0" marL="0">
              <a:buNone/>
            </a:pPr>
            <a:r>
              <a:rPr lang="en-US" sz="800" b="1" dirty="0">
                <a:solidFill>
                  <a:srgbClr val="0D1F35"/>
                </a:solidFill>
                <a:latin typeface="Calibri" pitchFamily="34" charset="0"/>
                <a:ea typeface="Calibri" pitchFamily="34" charset="-122"/>
                <a:cs typeface="Calibri" pitchFamily="34" charset="-120"/>
              </a:rPr>
              <a:t>7</a:t>
            </a:r>
            <a:endParaRPr lang="en-US" sz="800" dirty="0"/>
          </a:p>
        </p:txBody>
      </p:sp>
      <p:sp>
        <p:nvSpPr>
          <p:cNvPr id="40" name="Text 38"/>
          <p:cNvSpPr/>
          <p:nvPr/>
        </p:nvSpPr>
        <p:spPr>
          <a:xfrm>
            <a:off x="685800" y="4261104"/>
            <a:ext cx="1920240" cy="274320"/>
          </a:xfrm>
          <a:prstGeom prst="rect">
            <a:avLst/>
          </a:prstGeom>
          <a:noFill/>
          <a:ln/>
        </p:spPr>
        <p:txBody>
          <a:bodyPr wrap="square" lIns="0" tIns="0" rIns="0" bIns="0" rtlCol="0" anchor="ctr"/>
          <a:lstStyle/>
          <a:p>
            <a:pPr indent="0" marL="0">
              <a:buNone/>
            </a:pPr>
            <a:r>
              <a:rPr lang="en-US" sz="950" b="1" dirty="0">
                <a:solidFill>
                  <a:srgbClr val="F0F0F0"/>
                </a:solidFill>
                <a:latin typeface="Calibri" pitchFamily="34" charset="0"/>
                <a:ea typeface="Calibri" pitchFamily="34" charset="-122"/>
                <a:cs typeface="Calibri" pitchFamily="34" charset="-120"/>
              </a:rPr>
              <a:t>Equity Value / Share</a:t>
            </a:r>
            <a:endParaRPr lang="en-US" sz="950" dirty="0"/>
          </a:p>
        </p:txBody>
      </p:sp>
      <p:sp>
        <p:nvSpPr>
          <p:cNvPr id="41" name="Text 39"/>
          <p:cNvSpPr/>
          <p:nvPr/>
        </p:nvSpPr>
        <p:spPr>
          <a:xfrm>
            <a:off x="2651760" y="4261104"/>
            <a:ext cx="1645920" cy="274320"/>
          </a:xfrm>
          <a:prstGeom prst="rect">
            <a:avLst/>
          </a:prstGeom>
          <a:noFill/>
          <a:ln/>
        </p:spPr>
        <p:txBody>
          <a:bodyPr wrap="square" lIns="0" tIns="0" rIns="0" bIns="0" rtlCol="0" anchor="ctr"/>
          <a:lstStyle/>
          <a:p>
            <a:pPr algn="r" indent="0" marL="0">
              <a:buNone/>
            </a:pPr>
            <a:r>
              <a:rPr lang="en-US" sz="900" dirty="0">
                <a:solidFill>
                  <a:srgbClr val="C8A84B"/>
                </a:solidFill>
                <a:latin typeface="Consolas" pitchFamily="34" charset="0"/>
                <a:ea typeface="Consolas" pitchFamily="34" charset="-122"/>
                <a:cs typeface="Consolas" pitchFamily="34" charset="-120"/>
              </a:rPr>
              <a:t>~$125–$130</a:t>
            </a:r>
            <a:endParaRPr lang="en-US" sz="900" dirty="0"/>
          </a:p>
        </p:txBody>
      </p:sp>
      <p:sp>
        <p:nvSpPr>
          <p:cNvPr id="42" name="Text 40"/>
          <p:cNvSpPr/>
          <p:nvPr/>
        </p:nvSpPr>
        <p:spPr>
          <a:xfrm>
            <a:off x="685800" y="4507992"/>
            <a:ext cx="3611880" cy="182880"/>
          </a:xfrm>
          <a:prstGeom prst="rect">
            <a:avLst/>
          </a:prstGeom>
          <a:noFill/>
          <a:ln/>
        </p:spPr>
        <p:txBody>
          <a:bodyPr wrap="square" lIns="0" tIns="0" rIns="0" bIns="0" rtlCol="0" anchor="ctr"/>
          <a:lstStyle/>
          <a:p>
            <a:pPr indent="0" marL="0">
              <a:buNone/>
            </a:pPr>
            <a:r>
              <a:rPr lang="en-US" sz="750" i="1" dirty="0">
                <a:solidFill>
                  <a:srgbClr val="B0BEC5"/>
                </a:solidFill>
                <a:latin typeface="Calibri" pitchFamily="34" charset="0"/>
                <a:ea typeface="Calibri" pitchFamily="34" charset="-122"/>
                <a:cs typeface="Calibri" pitchFamily="34" charset="-120"/>
              </a:rPr>
              <a:t>Varies with inputs</a:t>
            </a:r>
            <a:endParaRPr lang="en-US" sz="750" dirty="0"/>
          </a:p>
        </p:txBody>
      </p:sp>
      <p:sp>
        <p:nvSpPr>
          <p:cNvPr id="43" name="Shape 41"/>
          <p:cNvSpPr/>
          <p:nvPr/>
        </p:nvSpPr>
        <p:spPr>
          <a:xfrm>
            <a:off x="4663440" y="1097280"/>
            <a:ext cx="4160520" cy="3794760"/>
          </a:xfrm>
          <a:prstGeom prst="rect">
            <a:avLst/>
          </a:prstGeom>
          <a:solidFill>
            <a:srgbClr val="162840"/>
          </a:solidFill>
          <a:ln w="12700">
            <a:solidFill>
              <a:srgbClr val="C8A84B"/>
            </a:solidFill>
            <a:prstDash val="solid"/>
          </a:ln>
          <a:effectLst>
            <a:outerShdw sx="100000" sy="100000" kx="0" ky="0" algn="bl" rotWithShape="0" blurRad="101600" dist="38100" dir="8100000">
              <a:srgbClr val="000000">
                <a:alpha val="20000"/>
              </a:srgbClr>
            </a:outerShdw>
          </a:effectLst>
        </p:spPr>
      </p:sp>
      <p:sp>
        <p:nvSpPr>
          <p:cNvPr id="44" name="Text 42"/>
          <p:cNvSpPr/>
          <p:nvPr/>
        </p:nvSpPr>
        <p:spPr>
          <a:xfrm>
            <a:off x="4800600" y="1207008"/>
            <a:ext cx="3840480" cy="292608"/>
          </a:xfrm>
          <a:prstGeom prst="rect">
            <a:avLst/>
          </a:prstGeom>
          <a:noFill/>
          <a:ln/>
        </p:spPr>
        <p:txBody>
          <a:bodyPr wrap="square" lIns="0" tIns="0" rIns="0" bIns="0" rtlCol="0" anchor="ctr"/>
          <a:lstStyle/>
          <a:p>
            <a:pPr indent="0" marL="0">
              <a:buNone/>
            </a:pPr>
            <a:r>
              <a:rPr lang="en-US" sz="1300" b="1" dirty="0">
                <a:solidFill>
                  <a:srgbClr val="C8A84B"/>
                </a:solidFill>
                <a:latin typeface="Calibri" pitchFamily="34" charset="0"/>
                <a:ea typeface="Calibri" pitchFamily="34" charset="-122"/>
                <a:cs typeface="Calibri" pitchFamily="34" charset="-120"/>
              </a:rPr>
              <a:t>Monte Carlo Simulation</a:t>
            </a:r>
            <a:endParaRPr lang="en-US" sz="1300" dirty="0"/>
          </a:p>
        </p:txBody>
      </p:sp>
      <p:sp>
        <p:nvSpPr>
          <p:cNvPr id="45" name="Text 43"/>
          <p:cNvSpPr/>
          <p:nvPr/>
        </p:nvSpPr>
        <p:spPr>
          <a:xfrm>
            <a:off x="4800600" y="1536192"/>
            <a:ext cx="3840480" cy="457200"/>
          </a:xfrm>
          <a:prstGeom prst="rect">
            <a:avLst/>
          </a:prstGeom>
          <a:noFill/>
          <a:ln/>
        </p:spPr>
        <p:txBody>
          <a:bodyPr wrap="square" lIns="0" tIns="0" rIns="0" bIns="0" rtlCol="0" anchor="ctr"/>
          <a:lstStyle/>
          <a:p>
            <a:pPr indent="0" marL="0">
              <a:buNone/>
            </a:pPr>
            <a:r>
              <a:rPr lang="en-US" sz="950" dirty="0">
                <a:solidFill>
                  <a:srgbClr val="B0BEC5"/>
                </a:solidFill>
                <a:latin typeface="Calibri" pitchFamily="34" charset="0"/>
                <a:ea typeface="Calibri" pitchFamily="34" charset="-122"/>
                <a:cs typeface="Calibri" pitchFamily="34" charset="-120"/>
              </a:rPr>
              <a:t>Instead of one answer, we run 10,000 scenarios — each with different randomly sampled inputs.</a:t>
            </a:r>
            <a:endParaRPr lang="en-US" sz="950" dirty="0"/>
          </a:p>
        </p:txBody>
      </p:sp>
      <p:sp>
        <p:nvSpPr>
          <p:cNvPr id="46" name="Shape 44"/>
          <p:cNvSpPr/>
          <p:nvPr/>
        </p:nvSpPr>
        <p:spPr>
          <a:xfrm>
            <a:off x="4754880" y="2084832"/>
            <a:ext cx="3931920" cy="713232"/>
          </a:xfrm>
          <a:prstGeom prst="rect">
            <a:avLst/>
          </a:prstGeom>
          <a:solidFill>
            <a:srgbClr val="1E2D3D"/>
          </a:solidFill>
          <a:ln w="12700">
            <a:solidFill>
              <a:srgbClr val="0D9E9E"/>
            </a:solidFill>
            <a:prstDash val="solid"/>
          </a:ln>
          <a:effectLst>
            <a:outerShdw sx="100000" sy="100000" kx="0" ky="0" algn="bl" rotWithShape="0" blurRad="101600" dist="38100" dir="8100000">
              <a:srgbClr val="000000">
                <a:alpha val="20000"/>
              </a:srgbClr>
            </a:outerShdw>
          </a:effectLst>
        </p:spPr>
      </p:sp>
      <p:sp>
        <p:nvSpPr>
          <p:cNvPr id="47" name="Text 45"/>
          <p:cNvSpPr/>
          <p:nvPr/>
        </p:nvSpPr>
        <p:spPr>
          <a:xfrm>
            <a:off x="4892040" y="2139696"/>
            <a:ext cx="1828800" cy="256032"/>
          </a:xfrm>
          <a:prstGeom prst="rect">
            <a:avLst/>
          </a:prstGeom>
          <a:noFill/>
          <a:ln/>
        </p:spPr>
        <p:txBody>
          <a:bodyPr wrap="square" lIns="0" tIns="0" rIns="0" bIns="0" rtlCol="0" anchor="ctr"/>
          <a:lstStyle/>
          <a:p>
            <a:pPr indent="0" marL="0">
              <a:buNone/>
            </a:pPr>
            <a:r>
              <a:rPr lang="en-US" sz="1000" b="1" dirty="0">
                <a:solidFill>
                  <a:srgbClr val="F0F0F0"/>
                </a:solidFill>
                <a:latin typeface="Calibri" pitchFamily="34" charset="0"/>
                <a:ea typeface="Calibri" pitchFamily="34" charset="-122"/>
                <a:cs typeface="Calibri" pitchFamily="34" charset="-120"/>
              </a:rPr>
              <a:t>Revenue Growth</a:t>
            </a:r>
            <a:endParaRPr lang="en-US" sz="1000" dirty="0"/>
          </a:p>
        </p:txBody>
      </p:sp>
      <p:sp>
        <p:nvSpPr>
          <p:cNvPr id="48" name="Text 46"/>
          <p:cNvSpPr/>
          <p:nvPr/>
        </p:nvSpPr>
        <p:spPr>
          <a:xfrm>
            <a:off x="4892040" y="2395728"/>
            <a:ext cx="2103120" cy="201168"/>
          </a:xfrm>
          <a:prstGeom prst="rect">
            <a:avLst/>
          </a:prstGeom>
          <a:noFill/>
          <a:ln/>
        </p:spPr>
        <p:txBody>
          <a:bodyPr wrap="square" lIns="0" tIns="0" rIns="0" bIns="0" rtlCol="0" anchor="ctr"/>
          <a:lstStyle/>
          <a:p>
            <a:pPr indent="0" marL="0">
              <a:buNone/>
            </a:pPr>
            <a:r>
              <a:rPr lang="en-US" sz="800" dirty="0">
                <a:solidFill>
                  <a:srgbClr val="0D9E9E"/>
                </a:solidFill>
                <a:latin typeface="Calibri" pitchFamily="34" charset="0"/>
                <a:ea typeface="Calibri" pitchFamily="34" charset="-122"/>
                <a:cs typeface="Calibri" pitchFamily="34" charset="-120"/>
              </a:rPr>
              <a:t>Distribution: Triangular</a:t>
            </a:r>
            <a:endParaRPr lang="en-US" sz="800" dirty="0"/>
          </a:p>
        </p:txBody>
      </p:sp>
      <p:sp>
        <p:nvSpPr>
          <p:cNvPr id="49" name="Text 47"/>
          <p:cNvSpPr/>
          <p:nvPr/>
        </p:nvSpPr>
        <p:spPr>
          <a:xfrm>
            <a:off x="6766560" y="2139696"/>
            <a:ext cx="1828800" cy="530352"/>
          </a:xfrm>
          <a:prstGeom prst="rect">
            <a:avLst/>
          </a:prstGeom>
          <a:noFill/>
          <a:ln/>
        </p:spPr>
        <p:txBody>
          <a:bodyPr wrap="square" lIns="0" tIns="0" rIns="0" bIns="0" rtlCol="0" anchor="ctr"/>
          <a:lstStyle/>
          <a:p>
            <a:pPr indent="0" marL="0">
              <a:buNone/>
            </a:pPr>
            <a:r>
              <a:rPr lang="en-US" sz="800" dirty="0">
                <a:solidFill>
                  <a:srgbClr val="B0BEC5"/>
                </a:solidFill>
                <a:latin typeface="Calibri" pitchFamily="34" charset="0"/>
                <a:ea typeface="Calibri" pitchFamily="34" charset="-122"/>
                <a:cs typeface="Calibri" pitchFamily="34" charset="-120"/>
              </a:rPr>
              <a:t>Mode = slider</a:t>
            </a:r>
            <a:endParaRPr lang="en-US" sz="800" dirty="0"/>
          </a:p>
          <a:p>
            <a:pPr indent="0" marL="0">
              <a:buNone/>
            </a:pPr>
            <a:r>
              <a:rPr lang="en-US" sz="800" dirty="0">
                <a:solidFill>
                  <a:srgbClr val="B0BEC5"/>
                </a:solidFill>
                <a:latin typeface="Calibri" pitchFamily="34" charset="0"/>
                <a:ea typeface="Calibri" pitchFamily="34" charset="-122"/>
                <a:cs typeface="Calibri" pitchFamily="34" charset="-120"/>
              </a:rPr>
              <a:t>Low = 30% of mode, High = 190%</a:t>
            </a:r>
            <a:endParaRPr lang="en-US" sz="800" dirty="0"/>
          </a:p>
        </p:txBody>
      </p:sp>
      <p:sp>
        <p:nvSpPr>
          <p:cNvPr id="50" name="Shape 48"/>
          <p:cNvSpPr/>
          <p:nvPr/>
        </p:nvSpPr>
        <p:spPr>
          <a:xfrm>
            <a:off x="4754880" y="2926080"/>
            <a:ext cx="3931920" cy="713232"/>
          </a:xfrm>
          <a:prstGeom prst="rect">
            <a:avLst/>
          </a:prstGeom>
          <a:solidFill>
            <a:srgbClr val="1E2D3D"/>
          </a:solidFill>
          <a:ln w="12700">
            <a:solidFill>
              <a:srgbClr val="2ECC71"/>
            </a:solidFill>
            <a:prstDash val="solid"/>
          </a:ln>
          <a:effectLst>
            <a:outerShdw sx="100000" sy="100000" kx="0" ky="0" algn="bl" rotWithShape="0" blurRad="101600" dist="38100" dir="8100000">
              <a:srgbClr val="000000">
                <a:alpha val="20000"/>
              </a:srgbClr>
            </a:outerShdw>
          </a:effectLst>
        </p:spPr>
      </p:sp>
      <p:sp>
        <p:nvSpPr>
          <p:cNvPr id="51" name="Text 49"/>
          <p:cNvSpPr/>
          <p:nvPr/>
        </p:nvSpPr>
        <p:spPr>
          <a:xfrm>
            <a:off x="4892040" y="2980944"/>
            <a:ext cx="1828800" cy="256032"/>
          </a:xfrm>
          <a:prstGeom prst="rect">
            <a:avLst/>
          </a:prstGeom>
          <a:noFill/>
          <a:ln/>
        </p:spPr>
        <p:txBody>
          <a:bodyPr wrap="square" lIns="0" tIns="0" rIns="0" bIns="0" rtlCol="0" anchor="ctr"/>
          <a:lstStyle/>
          <a:p>
            <a:pPr indent="0" marL="0">
              <a:buNone/>
            </a:pPr>
            <a:r>
              <a:rPr lang="en-US" sz="1000" b="1" dirty="0">
                <a:solidFill>
                  <a:srgbClr val="F0F0F0"/>
                </a:solidFill>
                <a:latin typeface="Calibri" pitchFamily="34" charset="0"/>
                <a:ea typeface="Calibri" pitchFamily="34" charset="-122"/>
                <a:cs typeface="Calibri" pitchFamily="34" charset="-120"/>
              </a:rPr>
              <a:t>WACC</a:t>
            </a:r>
            <a:endParaRPr lang="en-US" sz="1000" dirty="0"/>
          </a:p>
        </p:txBody>
      </p:sp>
      <p:sp>
        <p:nvSpPr>
          <p:cNvPr id="52" name="Text 50"/>
          <p:cNvSpPr/>
          <p:nvPr/>
        </p:nvSpPr>
        <p:spPr>
          <a:xfrm>
            <a:off x="4892040" y="3236976"/>
            <a:ext cx="2103120" cy="201168"/>
          </a:xfrm>
          <a:prstGeom prst="rect">
            <a:avLst/>
          </a:prstGeom>
          <a:noFill/>
          <a:ln/>
        </p:spPr>
        <p:txBody>
          <a:bodyPr wrap="square" lIns="0" tIns="0" rIns="0" bIns="0" rtlCol="0" anchor="ctr"/>
          <a:lstStyle/>
          <a:p>
            <a:pPr indent="0" marL="0">
              <a:buNone/>
            </a:pPr>
            <a:r>
              <a:rPr lang="en-US" sz="800" dirty="0">
                <a:solidFill>
                  <a:srgbClr val="0D9E9E"/>
                </a:solidFill>
                <a:latin typeface="Calibri" pitchFamily="34" charset="0"/>
                <a:ea typeface="Calibri" pitchFamily="34" charset="-122"/>
                <a:cs typeface="Calibri" pitchFamily="34" charset="-120"/>
              </a:rPr>
              <a:t>Distribution: Normal</a:t>
            </a:r>
            <a:endParaRPr lang="en-US" sz="800" dirty="0"/>
          </a:p>
        </p:txBody>
      </p:sp>
      <p:sp>
        <p:nvSpPr>
          <p:cNvPr id="53" name="Text 51"/>
          <p:cNvSpPr/>
          <p:nvPr/>
        </p:nvSpPr>
        <p:spPr>
          <a:xfrm>
            <a:off x="6766560" y="2980944"/>
            <a:ext cx="1828800" cy="530352"/>
          </a:xfrm>
          <a:prstGeom prst="rect">
            <a:avLst/>
          </a:prstGeom>
          <a:noFill/>
          <a:ln/>
        </p:spPr>
        <p:txBody>
          <a:bodyPr wrap="square" lIns="0" tIns="0" rIns="0" bIns="0" rtlCol="0" anchor="ctr"/>
          <a:lstStyle/>
          <a:p>
            <a:pPr indent="0" marL="0">
              <a:buNone/>
            </a:pPr>
            <a:r>
              <a:rPr lang="en-US" sz="800" dirty="0">
                <a:solidFill>
                  <a:srgbClr val="B0BEC5"/>
                </a:solidFill>
                <a:latin typeface="Calibri" pitchFamily="34" charset="0"/>
                <a:ea typeface="Calibri" pitchFamily="34" charset="-122"/>
                <a:cs typeface="Calibri" pitchFamily="34" charset="-120"/>
              </a:rPr>
              <a:t>Mean = slider</a:t>
            </a:r>
            <a:endParaRPr lang="en-US" sz="800" dirty="0"/>
          </a:p>
          <a:p>
            <a:pPr indent="0" marL="0">
              <a:buNone/>
            </a:pPr>
            <a:r>
              <a:rPr lang="en-US" sz="800" dirty="0">
                <a:solidFill>
                  <a:srgbClr val="B0BEC5"/>
                </a:solidFill>
                <a:latin typeface="Calibri" pitchFamily="34" charset="0"/>
                <a:ea typeface="Calibri" pitchFamily="34" charset="-122"/>
                <a:cs typeface="Calibri" pitchFamily="34" charset="-120"/>
              </a:rPr>
              <a:t>Std Dev = 0.8%</a:t>
            </a:r>
            <a:endParaRPr lang="en-US" sz="800" dirty="0"/>
          </a:p>
        </p:txBody>
      </p:sp>
      <p:sp>
        <p:nvSpPr>
          <p:cNvPr id="54" name="Shape 52"/>
          <p:cNvSpPr/>
          <p:nvPr/>
        </p:nvSpPr>
        <p:spPr>
          <a:xfrm>
            <a:off x="4754880" y="3767328"/>
            <a:ext cx="3931920" cy="713232"/>
          </a:xfrm>
          <a:prstGeom prst="rect">
            <a:avLst/>
          </a:prstGeom>
          <a:solidFill>
            <a:srgbClr val="1E2D3D"/>
          </a:solidFill>
          <a:ln w="12700">
            <a:solidFill>
              <a:srgbClr val="0D9E9E"/>
            </a:solidFill>
            <a:prstDash val="solid"/>
          </a:ln>
          <a:effectLst>
            <a:outerShdw sx="100000" sy="100000" kx="0" ky="0" algn="bl" rotWithShape="0" blurRad="101600" dist="38100" dir="8100000">
              <a:srgbClr val="000000">
                <a:alpha val="20000"/>
              </a:srgbClr>
            </a:outerShdw>
          </a:effectLst>
        </p:spPr>
      </p:sp>
      <p:sp>
        <p:nvSpPr>
          <p:cNvPr id="55" name="Text 53"/>
          <p:cNvSpPr/>
          <p:nvPr/>
        </p:nvSpPr>
        <p:spPr>
          <a:xfrm>
            <a:off x="4892040" y="3822192"/>
            <a:ext cx="1828800" cy="256032"/>
          </a:xfrm>
          <a:prstGeom prst="rect">
            <a:avLst/>
          </a:prstGeom>
          <a:noFill/>
          <a:ln/>
        </p:spPr>
        <p:txBody>
          <a:bodyPr wrap="square" lIns="0" tIns="0" rIns="0" bIns="0" rtlCol="0" anchor="ctr"/>
          <a:lstStyle/>
          <a:p>
            <a:pPr indent="0" marL="0">
              <a:buNone/>
            </a:pPr>
            <a:r>
              <a:rPr lang="en-US" sz="1000" b="1" dirty="0">
                <a:solidFill>
                  <a:srgbClr val="F0F0F0"/>
                </a:solidFill>
                <a:latin typeface="Calibri" pitchFamily="34" charset="0"/>
                <a:ea typeface="Calibri" pitchFamily="34" charset="-122"/>
                <a:cs typeface="Calibri" pitchFamily="34" charset="-120"/>
              </a:rPr>
              <a:t>Terminal Growth</a:t>
            </a:r>
            <a:endParaRPr lang="en-US" sz="1000" dirty="0"/>
          </a:p>
        </p:txBody>
      </p:sp>
      <p:sp>
        <p:nvSpPr>
          <p:cNvPr id="56" name="Text 54"/>
          <p:cNvSpPr/>
          <p:nvPr/>
        </p:nvSpPr>
        <p:spPr>
          <a:xfrm>
            <a:off x="4892040" y="4078224"/>
            <a:ext cx="2103120" cy="201168"/>
          </a:xfrm>
          <a:prstGeom prst="rect">
            <a:avLst/>
          </a:prstGeom>
          <a:noFill/>
          <a:ln/>
        </p:spPr>
        <p:txBody>
          <a:bodyPr wrap="square" lIns="0" tIns="0" rIns="0" bIns="0" rtlCol="0" anchor="ctr"/>
          <a:lstStyle/>
          <a:p>
            <a:pPr indent="0" marL="0">
              <a:buNone/>
            </a:pPr>
            <a:r>
              <a:rPr lang="en-US" sz="800" dirty="0">
                <a:solidFill>
                  <a:srgbClr val="0D9E9E"/>
                </a:solidFill>
                <a:latin typeface="Calibri" pitchFamily="34" charset="0"/>
                <a:ea typeface="Calibri" pitchFamily="34" charset="-122"/>
                <a:cs typeface="Calibri" pitchFamily="34" charset="-120"/>
              </a:rPr>
              <a:t>Distribution: Triangular</a:t>
            </a:r>
            <a:endParaRPr lang="en-US" sz="800" dirty="0"/>
          </a:p>
        </p:txBody>
      </p:sp>
      <p:sp>
        <p:nvSpPr>
          <p:cNvPr id="57" name="Text 55"/>
          <p:cNvSpPr/>
          <p:nvPr/>
        </p:nvSpPr>
        <p:spPr>
          <a:xfrm>
            <a:off x="6766560" y="3822192"/>
            <a:ext cx="1828800" cy="530352"/>
          </a:xfrm>
          <a:prstGeom prst="rect">
            <a:avLst/>
          </a:prstGeom>
          <a:noFill/>
          <a:ln/>
        </p:spPr>
        <p:txBody>
          <a:bodyPr wrap="square" lIns="0" tIns="0" rIns="0" bIns="0" rtlCol="0" anchor="ctr"/>
          <a:lstStyle/>
          <a:p>
            <a:pPr indent="0" marL="0">
              <a:buNone/>
            </a:pPr>
            <a:r>
              <a:rPr lang="en-US" sz="800" dirty="0">
                <a:solidFill>
                  <a:srgbClr val="B0BEC5"/>
                </a:solidFill>
                <a:latin typeface="Calibri" pitchFamily="34" charset="0"/>
                <a:ea typeface="Calibri" pitchFamily="34" charset="-122"/>
                <a:cs typeface="Calibri" pitchFamily="34" charset="-120"/>
              </a:rPr>
              <a:t>Mode = slider</a:t>
            </a:r>
            <a:endParaRPr lang="en-US" sz="800" dirty="0"/>
          </a:p>
          <a:p>
            <a:pPr indent="0" marL="0">
              <a:buNone/>
            </a:pPr>
            <a:r>
              <a:rPr lang="en-US" sz="800" dirty="0">
                <a:solidFill>
                  <a:srgbClr val="B0BEC5"/>
                </a:solidFill>
                <a:latin typeface="Calibri" pitchFamily="34" charset="0"/>
                <a:ea typeface="Calibri" pitchFamily="34" charset="-122"/>
                <a:cs typeface="Calibri" pitchFamily="34" charset="-120"/>
              </a:rPr>
              <a:t>1.5% ≤ mode ≤ 3.4%</a:t>
            </a:r>
            <a:endParaRPr lang="en-US" sz="800" dirty="0"/>
          </a:p>
        </p:txBody>
      </p:sp>
      <p:sp>
        <p:nvSpPr>
          <p:cNvPr id="58" name="Shape 56"/>
          <p:cNvSpPr/>
          <p:nvPr/>
        </p:nvSpPr>
        <p:spPr>
          <a:xfrm>
            <a:off x="4754880" y="4617720"/>
            <a:ext cx="3931920" cy="164592"/>
          </a:xfrm>
          <a:prstGeom prst="rect">
            <a:avLst/>
          </a:prstGeom>
          <a:solidFill>
            <a:srgbClr val="0D2D1A"/>
          </a:solidFill>
          <a:ln w="12700">
            <a:solidFill>
              <a:srgbClr val="2ECC71"/>
            </a:solidFill>
            <a:prstDash val="solid"/>
          </a:ln>
          <a:effectLst>
            <a:outerShdw sx="100000" sy="100000" kx="0" ky="0" algn="bl" rotWithShape="0" blurRad="101600" dist="38100" dir="8100000">
              <a:srgbClr val="000000">
                <a:alpha val="20000"/>
              </a:srgbClr>
            </a:outerShdw>
          </a:effectLst>
        </p:spPr>
      </p:sp>
      <p:sp>
        <p:nvSpPr>
          <p:cNvPr id="59" name="Text 57"/>
          <p:cNvSpPr/>
          <p:nvPr/>
        </p:nvSpPr>
        <p:spPr>
          <a:xfrm>
            <a:off x="4754880" y="4617720"/>
            <a:ext cx="3931920" cy="164592"/>
          </a:xfrm>
          <a:prstGeom prst="rect">
            <a:avLst/>
          </a:prstGeom>
          <a:noFill/>
          <a:ln/>
        </p:spPr>
        <p:txBody>
          <a:bodyPr wrap="square" lIns="0" tIns="0" rIns="0" bIns="0" rtlCol="0" anchor="ctr"/>
          <a:lstStyle/>
          <a:p>
            <a:pPr algn="ctr" indent="0" marL="0">
              <a:buNone/>
            </a:pPr>
            <a:r>
              <a:rPr lang="en-US" sz="750" b="1" dirty="0">
                <a:solidFill>
                  <a:srgbClr val="2ECC71"/>
                </a:solidFill>
                <a:latin typeface="Calibri" pitchFamily="34" charset="0"/>
                <a:ea typeface="Calibri" pitchFamily="34" charset="-122"/>
                <a:cs typeface="Calibri" pitchFamily="34" charset="-120"/>
              </a:rPr>
              <a:t>Result: P10 = ~$95  |  P50 = ~$121  |  P90 = ~$160  |  P(&gt;$135) ≈ 58%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F3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E9E"/>
          </a:solidFill>
          <a:ln w="12700">
            <a:solidFill>
              <a:srgbClr val="0D9E9E"/>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400" b="1" dirty="0">
                <a:solidFill>
                  <a:srgbClr val="F0F0F0"/>
                </a:solidFill>
                <a:latin typeface="Calibri" pitchFamily="34" charset="0"/>
                <a:ea typeface="Calibri" pitchFamily="34" charset="-122"/>
                <a:cs typeface="Calibri" pitchFamily="34" charset="-120"/>
              </a:rPr>
              <a:t>Key Findings — FY2024</a:t>
            </a:r>
            <a:endParaRPr lang="en-US" sz="24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indent="0" marL="0">
              <a:buNone/>
            </a:pPr>
            <a:r>
              <a:rPr lang="en-US" sz="1100" i="1" dirty="0">
                <a:solidFill>
                  <a:srgbClr val="0D9E9E"/>
                </a:solidFill>
                <a:latin typeface="Calibri" pitchFamily="34" charset="0"/>
                <a:ea typeface="Calibri" pitchFamily="34" charset="-122"/>
                <a:cs typeface="Calibri" pitchFamily="34" charset="-120"/>
              </a:rPr>
              <a:t>What the data says about Dollarama's financial position and investment merits</a:t>
            </a:r>
            <a:endParaRPr lang="en-US" sz="1100" dirty="0"/>
          </a:p>
        </p:txBody>
      </p:sp>
      <p:sp>
        <p:nvSpPr>
          <p:cNvPr id="5" name="Shape 3"/>
          <p:cNvSpPr/>
          <p:nvPr/>
        </p:nvSpPr>
        <p:spPr>
          <a:xfrm>
            <a:off x="457200" y="960120"/>
            <a:ext cx="8229600" cy="22860"/>
          </a:xfrm>
          <a:prstGeom prst="rect">
            <a:avLst/>
          </a:prstGeom>
          <a:solidFill>
            <a:srgbClr val="0A7A7A"/>
          </a:solidFill>
          <a:ln w="12700">
            <a:solidFill>
              <a:srgbClr val="0A7A7A"/>
            </a:solidFill>
            <a:prstDash val="solid"/>
          </a:ln>
        </p:spPr>
      </p:sp>
      <p:sp>
        <p:nvSpPr>
          <p:cNvPr id="6" name="Shape 4"/>
          <p:cNvSpPr/>
          <p:nvPr/>
        </p:nvSpPr>
        <p:spPr>
          <a:xfrm>
            <a:off x="365760" y="1115568"/>
            <a:ext cx="1920240" cy="960120"/>
          </a:xfrm>
          <a:prstGeom prst="rect">
            <a:avLst/>
          </a:prstGeom>
          <a:solidFill>
            <a:srgbClr val="162840"/>
          </a:solidFill>
          <a:ln w="12700">
            <a:solidFill>
              <a:srgbClr val="0A7A7A"/>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365760" y="1188720"/>
            <a:ext cx="1920240" cy="502920"/>
          </a:xfrm>
          <a:prstGeom prst="rect">
            <a:avLst/>
          </a:prstGeom>
          <a:noFill/>
          <a:ln/>
        </p:spPr>
        <p:txBody>
          <a:bodyPr wrap="square" lIns="0" tIns="0" rIns="0" bIns="0" rtlCol="0" anchor="ctr"/>
          <a:lstStyle/>
          <a:p>
            <a:pPr algn="ctr" indent="0" marL="0">
              <a:buNone/>
            </a:pPr>
            <a:r>
              <a:rPr lang="en-US" sz="2600" b="1" dirty="0">
                <a:solidFill>
                  <a:srgbClr val="0D9E9E"/>
                </a:solidFill>
                <a:latin typeface="Calibri" pitchFamily="34" charset="0"/>
                <a:ea typeface="Calibri" pitchFamily="34" charset="-122"/>
                <a:cs typeface="Calibri" pitchFamily="34" charset="-120"/>
              </a:rPr>
              <a:t>$6.0B</a:t>
            </a:r>
            <a:endParaRPr lang="en-US" sz="2600" dirty="0"/>
          </a:p>
        </p:txBody>
      </p:sp>
      <p:sp>
        <p:nvSpPr>
          <p:cNvPr id="8" name="Text 6"/>
          <p:cNvSpPr/>
          <p:nvPr/>
        </p:nvSpPr>
        <p:spPr>
          <a:xfrm>
            <a:off x="365760" y="1682496"/>
            <a:ext cx="1920240" cy="292608"/>
          </a:xfrm>
          <a:prstGeom prst="rect">
            <a:avLst/>
          </a:prstGeom>
          <a:noFill/>
          <a:ln/>
        </p:spPr>
        <p:txBody>
          <a:bodyPr wrap="square" lIns="0" tIns="0" rIns="0" bIns="0" rtlCol="0" anchor="ctr"/>
          <a:lstStyle/>
          <a:p>
            <a:pPr algn="ctr" indent="0" marL="0">
              <a:buNone/>
            </a:pPr>
            <a:r>
              <a:rPr lang="en-US" sz="900" dirty="0">
                <a:solidFill>
                  <a:srgbClr val="B0BEC5"/>
                </a:solidFill>
                <a:latin typeface="Calibri" pitchFamily="34" charset="0"/>
                <a:ea typeface="Calibri" pitchFamily="34" charset="-122"/>
                <a:cs typeface="Calibri" pitchFamily="34" charset="-120"/>
              </a:rPr>
              <a:t>Revenue (CAD)</a:t>
            </a:r>
            <a:endParaRPr lang="en-US" sz="900" dirty="0"/>
          </a:p>
        </p:txBody>
      </p:sp>
      <p:sp>
        <p:nvSpPr>
          <p:cNvPr id="9" name="Shape 7"/>
          <p:cNvSpPr/>
          <p:nvPr/>
        </p:nvSpPr>
        <p:spPr>
          <a:xfrm>
            <a:off x="2514600" y="1115568"/>
            <a:ext cx="1920240" cy="960120"/>
          </a:xfrm>
          <a:prstGeom prst="rect">
            <a:avLst/>
          </a:prstGeom>
          <a:solidFill>
            <a:srgbClr val="162840"/>
          </a:solidFill>
          <a:ln w="12700">
            <a:solidFill>
              <a:srgbClr val="0A7A7A"/>
            </a:solidFill>
            <a:prstDash val="solid"/>
          </a:ln>
          <a:effectLst>
            <a:outerShdw sx="100000" sy="100000" kx="0" ky="0" algn="bl" rotWithShape="0" blurRad="101600" dist="38100" dir="8100000">
              <a:srgbClr val="000000">
                <a:alpha val="20000"/>
              </a:srgbClr>
            </a:outerShdw>
          </a:effectLst>
        </p:spPr>
      </p:sp>
      <p:sp>
        <p:nvSpPr>
          <p:cNvPr id="10" name="Text 8"/>
          <p:cNvSpPr/>
          <p:nvPr/>
        </p:nvSpPr>
        <p:spPr>
          <a:xfrm>
            <a:off x="2514600" y="1188720"/>
            <a:ext cx="1920240" cy="502920"/>
          </a:xfrm>
          <a:prstGeom prst="rect">
            <a:avLst/>
          </a:prstGeom>
          <a:noFill/>
          <a:ln/>
        </p:spPr>
        <p:txBody>
          <a:bodyPr wrap="square" lIns="0" tIns="0" rIns="0" bIns="0" rtlCol="0" anchor="ctr"/>
          <a:lstStyle/>
          <a:p>
            <a:pPr algn="ctr" indent="0" marL="0">
              <a:buNone/>
            </a:pPr>
            <a:r>
              <a:rPr lang="en-US" sz="2600" b="1" dirty="0">
                <a:solidFill>
                  <a:srgbClr val="2ECC71"/>
                </a:solidFill>
                <a:latin typeface="Calibri" pitchFamily="34" charset="0"/>
                <a:ea typeface="Calibri" pitchFamily="34" charset="-122"/>
                <a:cs typeface="Calibri" pitchFamily="34" charset="-120"/>
              </a:rPr>
              <a:t>32.7%</a:t>
            </a:r>
            <a:endParaRPr lang="en-US" sz="2600" dirty="0"/>
          </a:p>
        </p:txBody>
      </p:sp>
      <p:sp>
        <p:nvSpPr>
          <p:cNvPr id="11" name="Text 9"/>
          <p:cNvSpPr/>
          <p:nvPr/>
        </p:nvSpPr>
        <p:spPr>
          <a:xfrm>
            <a:off x="2514600" y="1682496"/>
            <a:ext cx="1920240" cy="292608"/>
          </a:xfrm>
          <a:prstGeom prst="rect">
            <a:avLst/>
          </a:prstGeom>
          <a:noFill/>
          <a:ln/>
        </p:spPr>
        <p:txBody>
          <a:bodyPr wrap="square" lIns="0" tIns="0" rIns="0" bIns="0" rtlCol="0" anchor="ctr"/>
          <a:lstStyle/>
          <a:p>
            <a:pPr algn="ctr" indent="0" marL="0">
              <a:buNone/>
            </a:pPr>
            <a:r>
              <a:rPr lang="en-US" sz="900" dirty="0">
                <a:solidFill>
                  <a:srgbClr val="B0BEC5"/>
                </a:solidFill>
                <a:latin typeface="Calibri" pitchFamily="34" charset="0"/>
                <a:ea typeface="Calibri" pitchFamily="34" charset="-122"/>
                <a:cs typeface="Calibri" pitchFamily="34" charset="-120"/>
              </a:rPr>
              <a:t>EBITDA Margin</a:t>
            </a:r>
            <a:endParaRPr lang="en-US" sz="900" dirty="0"/>
          </a:p>
        </p:txBody>
      </p:sp>
      <p:sp>
        <p:nvSpPr>
          <p:cNvPr id="12" name="Shape 10"/>
          <p:cNvSpPr/>
          <p:nvPr/>
        </p:nvSpPr>
        <p:spPr>
          <a:xfrm>
            <a:off x="4663440" y="1115568"/>
            <a:ext cx="1920240" cy="960120"/>
          </a:xfrm>
          <a:prstGeom prst="rect">
            <a:avLst/>
          </a:prstGeom>
          <a:solidFill>
            <a:srgbClr val="162840"/>
          </a:solidFill>
          <a:ln w="12700">
            <a:solidFill>
              <a:srgbClr val="0A7A7A"/>
            </a:solidFill>
            <a:prstDash val="solid"/>
          </a:ln>
          <a:effectLst>
            <a:outerShdw sx="100000" sy="100000" kx="0" ky="0" algn="bl" rotWithShape="0" blurRad="101600" dist="38100" dir="8100000">
              <a:srgbClr val="000000">
                <a:alpha val="20000"/>
              </a:srgbClr>
            </a:outerShdw>
          </a:effectLst>
        </p:spPr>
      </p:sp>
      <p:sp>
        <p:nvSpPr>
          <p:cNvPr id="13" name="Text 11"/>
          <p:cNvSpPr/>
          <p:nvPr/>
        </p:nvSpPr>
        <p:spPr>
          <a:xfrm>
            <a:off x="4663440" y="1188720"/>
            <a:ext cx="1920240" cy="502920"/>
          </a:xfrm>
          <a:prstGeom prst="rect">
            <a:avLst/>
          </a:prstGeom>
          <a:noFill/>
          <a:ln/>
        </p:spPr>
        <p:txBody>
          <a:bodyPr wrap="square" lIns="0" tIns="0" rIns="0" bIns="0" rtlCol="0" anchor="ctr"/>
          <a:lstStyle/>
          <a:p>
            <a:pPr algn="ctr" indent="0" marL="0">
              <a:buNone/>
            </a:pPr>
            <a:r>
              <a:rPr lang="en-US" sz="2600" b="1" dirty="0">
                <a:solidFill>
                  <a:srgbClr val="C8A84B"/>
                </a:solidFill>
                <a:latin typeface="Calibri" pitchFamily="34" charset="0"/>
                <a:ea typeface="Calibri" pitchFamily="34" charset="-122"/>
                <a:cs typeface="Calibri" pitchFamily="34" charset="-120"/>
              </a:rPr>
              <a:t>~38%</a:t>
            </a:r>
            <a:endParaRPr lang="en-US" sz="2600" dirty="0"/>
          </a:p>
        </p:txBody>
      </p:sp>
      <p:sp>
        <p:nvSpPr>
          <p:cNvPr id="14" name="Text 12"/>
          <p:cNvSpPr/>
          <p:nvPr/>
        </p:nvSpPr>
        <p:spPr>
          <a:xfrm>
            <a:off x="4663440" y="1682496"/>
            <a:ext cx="1920240" cy="292608"/>
          </a:xfrm>
          <a:prstGeom prst="rect">
            <a:avLst/>
          </a:prstGeom>
          <a:noFill/>
          <a:ln/>
        </p:spPr>
        <p:txBody>
          <a:bodyPr wrap="square" lIns="0" tIns="0" rIns="0" bIns="0" rtlCol="0" anchor="ctr"/>
          <a:lstStyle/>
          <a:p>
            <a:pPr algn="ctr" indent="0" marL="0">
              <a:buNone/>
            </a:pPr>
            <a:r>
              <a:rPr lang="en-US" sz="900" dirty="0">
                <a:solidFill>
                  <a:srgbClr val="B0BEC5"/>
                </a:solidFill>
                <a:latin typeface="Calibri" pitchFamily="34" charset="0"/>
                <a:ea typeface="Calibri" pitchFamily="34" charset="-122"/>
                <a:cs typeface="Calibri" pitchFamily="34" charset="-120"/>
              </a:rPr>
              <a:t>ROIC</a:t>
            </a:r>
            <a:endParaRPr lang="en-US" sz="900" dirty="0"/>
          </a:p>
        </p:txBody>
      </p:sp>
      <p:sp>
        <p:nvSpPr>
          <p:cNvPr id="15" name="Shape 13"/>
          <p:cNvSpPr/>
          <p:nvPr/>
        </p:nvSpPr>
        <p:spPr>
          <a:xfrm>
            <a:off x="6812280" y="1115568"/>
            <a:ext cx="1920240" cy="960120"/>
          </a:xfrm>
          <a:prstGeom prst="rect">
            <a:avLst/>
          </a:prstGeom>
          <a:solidFill>
            <a:srgbClr val="162840"/>
          </a:solidFill>
          <a:ln w="12700">
            <a:solidFill>
              <a:srgbClr val="0A7A7A"/>
            </a:solidFill>
            <a:prstDash val="solid"/>
          </a:ln>
          <a:effectLst>
            <a:outerShdw sx="100000" sy="100000" kx="0" ky="0" algn="bl" rotWithShape="0" blurRad="101600" dist="38100" dir="8100000">
              <a:srgbClr val="000000">
                <a:alpha val="20000"/>
              </a:srgbClr>
            </a:outerShdw>
          </a:effectLst>
        </p:spPr>
      </p:sp>
      <p:sp>
        <p:nvSpPr>
          <p:cNvPr id="16" name="Text 14"/>
          <p:cNvSpPr/>
          <p:nvPr/>
        </p:nvSpPr>
        <p:spPr>
          <a:xfrm>
            <a:off x="6812280" y="1188720"/>
            <a:ext cx="1920240" cy="502920"/>
          </a:xfrm>
          <a:prstGeom prst="rect">
            <a:avLst/>
          </a:prstGeom>
          <a:noFill/>
          <a:ln/>
        </p:spPr>
        <p:txBody>
          <a:bodyPr wrap="square" lIns="0" tIns="0" rIns="0" bIns="0" rtlCol="0" anchor="ctr"/>
          <a:lstStyle/>
          <a:p>
            <a:pPr algn="ctr" indent="0" marL="0">
              <a:buNone/>
            </a:pPr>
            <a:r>
              <a:rPr lang="en-US" sz="2600" b="1" dirty="0">
                <a:solidFill>
                  <a:srgbClr val="4A90D9"/>
                </a:solidFill>
                <a:latin typeface="Calibri" pitchFamily="34" charset="0"/>
                <a:ea typeface="Calibri" pitchFamily="34" charset="-122"/>
                <a:cs typeface="Calibri" pitchFamily="34" charset="-120"/>
              </a:rPr>
              <a:t>$4.40</a:t>
            </a:r>
            <a:endParaRPr lang="en-US" sz="2600" dirty="0"/>
          </a:p>
        </p:txBody>
      </p:sp>
      <p:sp>
        <p:nvSpPr>
          <p:cNvPr id="17" name="Text 15"/>
          <p:cNvSpPr/>
          <p:nvPr/>
        </p:nvSpPr>
        <p:spPr>
          <a:xfrm>
            <a:off x="6812280" y="1682496"/>
            <a:ext cx="1920240" cy="292608"/>
          </a:xfrm>
          <a:prstGeom prst="rect">
            <a:avLst/>
          </a:prstGeom>
          <a:noFill/>
          <a:ln/>
        </p:spPr>
        <p:txBody>
          <a:bodyPr wrap="square" lIns="0" tIns="0" rIns="0" bIns="0" rtlCol="0" anchor="ctr"/>
          <a:lstStyle/>
          <a:p>
            <a:pPr algn="ctr" indent="0" marL="0">
              <a:buNone/>
            </a:pPr>
            <a:r>
              <a:rPr lang="en-US" sz="900" dirty="0">
                <a:solidFill>
                  <a:srgbClr val="B0BEC5"/>
                </a:solidFill>
                <a:latin typeface="Calibri" pitchFamily="34" charset="0"/>
                <a:ea typeface="Calibri" pitchFamily="34" charset="-122"/>
                <a:cs typeface="Calibri" pitchFamily="34" charset="-120"/>
              </a:rPr>
              <a:t>Diluted EPS</a:t>
            </a:r>
            <a:endParaRPr lang="en-US" sz="900" dirty="0"/>
          </a:p>
        </p:txBody>
      </p:sp>
      <p:sp>
        <p:nvSpPr>
          <p:cNvPr id="18" name="Shape 16"/>
          <p:cNvSpPr/>
          <p:nvPr/>
        </p:nvSpPr>
        <p:spPr>
          <a:xfrm>
            <a:off x="365760" y="2240280"/>
            <a:ext cx="5303520" cy="2606040"/>
          </a:xfrm>
          <a:prstGeom prst="rect">
            <a:avLst/>
          </a:prstGeom>
          <a:solidFill>
            <a:srgbClr val="162840"/>
          </a:solidFill>
          <a:ln w="25400">
            <a:solidFill>
              <a:srgbClr val="2ECC71"/>
            </a:solidFill>
            <a:prstDash val="solid"/>
          </a:ln>
          <a:effectLst>
            <a:outerShdw sx="100000" sy="100000" kx="0" ky="0" algn="bl" rotWithShape="0" blurRad="101600" dist="38100" dir="8100000">
              <a:srgbClr val="000000">
                <a:alpha val="20000"/>
              </a:srgbClr>
            </a:outerShdw>
          </a:effectLst>
        </p:spPr>
      </p:sp>
      <p:sp>
        <p:nvSpPr>
          <p:cNvPr id="19" name="Text 17"/>
          <p:cNvSpPr/>
          <p:nvPr/>
        </p:nvSpPr>
        <p:spPr>
          <a:xfrm>
            <a:off x="502920" y="2350008"/>
            <a:ext cx="5029200" cy="292608"/>
          </a:xfrm>
          <a:prstGeom prst="rect">
            <a:avLst/>
          </a:prstGeom>
          <a:noFill/>
          <a:ln/>
        </p:spPr>
        <p:txBody>
          <a:bodyPr wrap="square" lIns="0" tIns="0" rIns="0" bIns="0" rtlCol="0" anchor="ctr"/>
          <a:lstStyle/>
          <a:p>
            <a:pPr indent="0" marL="0">
              <a:buNone/>
            </a:pPr>
            <a:r>
              <a:rPr lang="en-US" sz="1200" b="1" dirty="0">
                <a:solidFill>
                  <a:srgbClr val="2ECC71"/>
                </a:solidFill>
                <a:latin typeface="Calibri" pitchFamily="34" charset="0"/>
                <a:ea typeface="Calibri" pitchFamily="34" charset="-122"/>
                <a:cs typeface="Calibri" pitchFamily="34" charset="-120"/>
              </a:rPr>
              <a:t>Investment Thesis — BUY  |  Target: CAD $135</a:t>
            </a:r>
            <a:endParaRPr lang="en-US" sz="1200" dirty="0"/>
          </a:p>
        </p:txBody>
      </p:sp>
      <p:sp>
        <p:nvSpPr>
          <p:cNvPr id="20" name="Text 18"/>
          <p:cNvSpPr/>
          <p:nvPr/>
        </p:nvSpPr>
        <p:spPr>
          <a:xfrm>
            <a:off x="502920" y="2688336"/>
            <a:ext cx="5029200" cy="2011680"/>
          </a:xfrm>
          <a:prstGeom prst="rect">
            <a:avLst/>
          </a:prstGeom>
          <a:noFill/>
          <a:ln/>
        </p:spPr>
        <p:txBody>
          <a:bodyPr wrap="square" lIns="0" tIns="0" rIns="0" bIns="0" rtlCol="0" anchor="ctr"/>
          <a:lstStyle/>
          <a:p>
            <a:pPr marL="342900" indent="-342900">
              <a:buSzPct val="100000"/>
              <a:buChar char="•"/>
            </a:pPr>
            <a:r>
              <a:rPr lang="en-US" sz="950" dirty="0">
                <a:solidFill>
                  <a:srgbClr val="B0BEC5"/>
                </a:solidFill>
                <a:latin typeface="Calibri" pitchFamily="34" charset="0"/>
                <a:ea typeface="Calibri" pitchFamily="34" charset="-122"/>
                <a:cs typeface="Calibri" pitchFamily="34" charset="-120"/>
              </a:rPr>
              <a:t>ROIC of ~38% vs WACC of ~7.8% — extraordinary value creation spread</a:t>
            </a:r>
            <a:endParaRPr lang="en-US" sz="950" dirty="0"/>
          </a:p>
          <a:p>
            <a:pPr marL="342900" indent="-342900">
              <a:buSzPct val="100000"/>
              <a:buChar char="•"/>
            </a:pPr>
            <a:r>
              <a:rPr lang="en-US" sz="950" dirty="0">
                <a:solidFill>
                  <a:srgbClr val="B0BEC5"/>
                </a:solidFill>
                <a:latin typeface="Calibri" pitchFamily="34" charset="0"/>
                <a:ea typeface="Calibri" pitchFamily="34" charset="-122"/>
                <a:cs typeface="Calibri" pitchFamily="34" charset="-120"/>
              </a:rPr>
              <a:t>12% revenue CAGR over 5 years with consistent margin expansion</a:t>
            </a:r>
            <a:endParaRPr lang="en-US" sz="950" dirty="0"/>
          </a:p>
          <a:p>
            <a:pPr marL="342900" indent="-342900">
              <a:buSzPct val="100000"/>
              <a:buChar char="•"/>
            </a:pPr>
            <a:r>
              <a:rPr lang="en-US" sz="950" dirty="0">
                <a:solidFill>
                  <a:srgbClr val="B0BEC5"/>
                </a:solidFill>
                <a:latin typeface="Calibri" pitchFamily="34" charset="0"/>
                <a:ea typeface="Calibri" pitchFamily="34" charset="-122"/>
                <a:cs typeface="Calibri" pitchFamily="34" charset="-120"/>
              </a:rPr>
              <a:t>~1.0x Net Debt/EBITDA — financially conservative despite negative equity</a:t>
            </a:r>
            <a:endParaRPr lang="en-US" sz="950" dirty="0"/>
          </a:p>
          <a:p>
            <a:pPr marL="342900" indent="-342900">
              <a:buSzPct val="100000"/>
              <a:buChar char="•"/>
            </a:pPr>
            <a:r>
              <a:rPr lang="en-US" sz="950" dirty="0">
                <a:solidFill>
                  <a:srgbClr val="B0BEC5"/>
                </a:solidFill>
                <a:latin typeface="Calibri" pitchFamily="34" charset="0"/>
                <a:ea typeface="Calibri" pitchFamily="34" charset="-122"/>
                <a:cs typeface="Calibri" pitchFamily="34" charset="-120"/>
              </a:rPr>
              <a:t>Store rollout runway: Quebec, Western Canada, + Dollarcity (international)</a:t>
            </a:r>
            <a:endParaRPr lang="en-US" sz="950" dirty="0"/>
          </a:p>
          <a:p>
            <a:pPr marL="342900" indent="-342900">
              <a:buSzPct val="100000"/>
              <a:buChar char="•"/>
            </a:pPr>
            <a:r>
              <a:rPr lang="en-US" sz="950" dirty="0">
                <a:solidFill>
                  <a:srgbClr val="B0BEC5"/>
                </a:solidFill>
                <a:latin typeface="Calibri" pitchFamily="34" charset="0"/>
                <a:ea typeface="Calibri" pitchFamily="34" charset="-122"/>
                <a:cs typeface="Calibri" pitchFamily="34" charset="-120"/>
              </a:rPr>
              <a:t>Recession-resilient fixed-price model — trades well in downturns</a:t>
            </a:r>
            <a:endParaRPr lang="en-US" sz="950" dirty="0"/>
          </a:p>
        </p:txBody>
      </p:sp>
      <p:sp>
        <p:nvSpPr>
          <p:cNvPr id="21" name="Shape 19"/>
          <p:cNvSpPr/>
          <p:nvPr/>
        </p:nvSpPr>
        <p:spPr>
          <a:xfrm>
            <a:off x="5852160" y="2240280"/>
            <a:ext cx="2926080" cy="2606040"/>
          </a:xfrm>
          <a:prstGeom prst="rect">
            <a:avLst/>
          </a:prstGeom>
          <a:solidFill>
            <a:srgbClr val="162840"/>
          </a:solidFill>
          <a:ln w="12700">
            <a:solidFill>
              <a:srgbClr val="E74C3C"/>
            </a:solidFill>
            <a:prstDash val="solid"/>
          </a:ln>
          <a:effectLst>
            <a:outerShdw sx="100000" sy="100000" kx="0" ky="0" algn="bl" rotWithShape="0" blurRad="101600" dist="38100" dir="8100000">
              <a:srgbClr val="000000">
                <a:alpha val="20000"/>
              </a:srgbClr>
            </a:outerShdw>
          </a:effectLst>
        </p:spPr>
      </p:sp>
      <p:sp>
        <p:nvSpPr>
          <p:cNvPr id="22" name="Text 20"/>
          <p:cNvSpPr/>
          <p:nvPr/>
        </p:nvSpPr>
        <p:spPr>
          <a:xfrm>
            <a:off x="5989320" y="2350008"/>
            <a:ext cx="2743200" cy="292608"/>
          </a:xfrm>
          <a:prstGeom prst="rect">
            <a:avLst/>
          </a:prstGeom>
          <a:noFill/>
          <a:ln/>
        </p:spPr>
        <p:txBody>
          <a:bodyPr wrap="square" lIns="0" tIns="0" rIns="0" bIns="0" rtlCol="0" anchor="ctr"/>
          <a:lstStyle/>
          <a:p>
            <a:pPr indent="0" marL="0">
              <a:buNone/>
            </a:pPr>
            <a:r>
              <a:rPr lang="en-US" sz="1200" b="1" dirty="0">
                <a:solidFill>
                  <a:srgbClr val="E74C3C"/>
                </a:solidFill>
                <a:latin typeface="Calibri" pitchFamily="34" charset="0"/>
                <a:ea typeface="Calibri" pitchFamily="34" charset="-122"/>
                <a:cs typeface="Calibri" pitchFamily="34" charset="-120"/>
              </a:rPr>
              <a:t>Key Risks</a:t>
            </a:r>
            <a:endParaRPr lang="en-US" sz="1200" dirty="0"/>
          </a:p>
        </p:txBody>
      </p:sp>
      <p:sp>
        <p:nvSpPr>
          <p:cNvPr id="23" name="Text 21"/>
          <p:cNvSpPr/>
          <p:nvPr/>
        </p:nvSpPr>
        <p:spPr>
          <a:xfrm>
            <a:off x="5989320" y="2688336"/>
            <a:ext cx="2743200" cy="2011680"/>
          </a:xfrm>
          <a:prstGeom prst="rect">
            <a:avLst/>
          </a:prstGeom>
          <a:noFill/>
          <a:ln/>
        </p:spPr>
        <p:txBody>
          <a:bodyPr wrap="square" lIns="0" tIns="0" rIns="0" bIns="0" rtlCol="0" anchor="ctr"/>
          <a:lstStyle/>
          <a:p>
            <a:pPr marL="342900" indent="-342900">
              <a:buSzPct val="100000"/>
              <a:buChar char="•"/>
            </a:pPr>
            <a:r>
              <a:rPr lang="en-US" sz="950" dirty="0">
                <a:solidFill>
                  <a:srgbClr val="B0BEC5"/>
                </a:solidFill>
                <a:latin typeface="Calibri" pitchFamily="34" charset="0"/>
                <a:ea typeface="Calibri" pitchFamily="34" charset="-122"/>
                <a:cs typeface="Calibri" pitchFamily="34" charset="-120"/>
              </a:rPr>
              <a:t>CAD/USD FX (imports in USD)</a:t>
            </a:r>
            <a:endParaRPr lang="en-US" sz="950" dirty="0"/>
          </a:p>
          <a:p>
            <a:pPr marL="342900" indent="-342900">
              <a:buSzPct val="100000"/>
              <a:buChar char="•"/>
            </a:pPr>
            <a:r>
              <a:rPr lang="en-US" sz="950" dirty="0">
                <a:solidFill>
                  <a:srgbClr val="B0BEC5"/>
                </a:solidFill>
                <a:latin typeface="Calibri" pitchFamily="34" charset="0"/>
                <a:ea typeface="Calibri" pitchFamily="34" charset="-122"/>
                <a:cs typeface="Calibri" pitchFamily="34" charset="-120"/>
              </a:rPr>
              <a:t>Minimum wage pressure</a:t>
            </a:r>
            <a:endParaRPr lang="en-US" sz="950" dirty="0"/>
          </a:p>
          <a:p>
            <a:pPr marL="342900" indent="-342900">
              <a:buSzPct val="100000"/>
              <a:buChar char="•"/>
            </a:pPr>
            <a:r>
              <a:rPr lang="en-US" sz="950" dirty="0">
                <a:solidFill>
                  <a:srgbClr val="B0BEC5"/>
                </a:solidFill>
                <a:latin typeface="Calibri" pitchFamily="34" charset="0"/>
                <a:ea typeface="Calibri" pitchFamily="34" charset="-122"/>
                <a:cs typeface="Calibri" pitchFamily="34" charset="-120"/>
              </a:rPr>
              <a:t>Consumer trade-down reversal</a:t>
            </a:r>
            <a:endParaRPr lang="en-US" sz="950" dirty="0"/>
          </a:p>
          <a:p>
            <a:pPr marL="342900" indent="-342900">
              <a:buSzPct val="100000"/>
              <a:buChar char="•"/>
            </a:pPr>
            <a:r>
              <a:rPr lang="en-US" sz="950" dirty="0">
                <a:solidFill>
                  <a:srgbClr val="B0BEC5"/>
                </a:solidFill>
                <a:latin typeface="Calibri" pitchFamily="34" charset="0"/>
                <a:ea typeface="Calibri" pitchFamily="34" charset="-122"/>
                <a:cs typeface="Calibri" pitchFamily="34" charset="-120"/>
              </a:rPr>
              <a:t>Competition from online / grocery</a:t>
            </a:r>
            <a:endParaRPr lang="en-US" sz="950" dirty="0"/>
          </a:p>
          <a:p>
            <a:pPr marL="342900" indent="-342900">
              <a:buSzPct val="100000"/>
              <a:buChar char="•"/>
            </a:pPr>
            <a:r>
              <a:rPr lang="en-US" sz="950" dirty="0">
                <a:solidFill>
                  <a:srgbClr val="B0BEC5"/>
                </a:solidFill>
                <a:latin typeface="Calibri" pitchFamily="34" charset="0"/>
                <a:ea typeface="Calibri" pitchFamily="34" charset="-122"/>
                <a:cs typeface="Calibri" pitchFamily="34" charset="-120"/>
              </a:rPr>
              <a:t>Multiple compression if rates rise</a:t>
            </a:r>
            <a:endParaRPr lang="en-US" sz="950" dirty="0"/>
          </a:p>
        </p:txBody>
      </p:sp>
      <p:sp>
        <p:nvSpPr>
          <p:cNvPr id="24" name="Shape 22"/>
          <p:cNvSpPr/>
          <p:nvPr/>
        </p:nvSpPr>
        <p:spPr>
          <a:xfrm>
            <a:off x="365760" y="4892040"/>
            <a:ext cx="8412480" cy="182880"/>
          </a:xfrm>
          <a:prstGeom prst="rect">
            <a:avLst/>
          </a:prstGeom>
          <a:solidFill>
            <a:srgbClr val="071520"/>
          </a:solidFill>
          <a:ln w="12700">
            <a:solidFill>
              <a:srgbClr val="0D9E9E"/>
            </a:solidFill>
            <a:prstDash val="solid"/>
          </a:ln>
          <a:effectLst>
            <a:outerShdw sx="100000" sy="100000" kx="0" ky="0" algn="bl" rotWithShape="0" blurRad="101600" dist="38100" dir="8100000">
              <a:srgbClr val="000000">
                <a:alpha val="20000"/>
              </a:srgbClr>
            </a:outerShdw>
          </a:effectLst>
        </p:spPr>
      </p:sp>
      <p:sp>
        <p:nvSpPr>
          <p:cNvPr id="25" name="Text 23"/>
          <p:cNvSpPr/>
          <p:nvPr/>
        </p:nvSpPr>
        <p:spPr>
          <a:xfrm>
            <a:off x="365760" y="4892040"/>
            <a:ext cx="8412480" cy="182880"/>
          </a:xfrm>
          <a:prstGeom prst="rect">
            <a:avLst/>
          </a:prstGeom>
          <a:noFill/>
          <a:ln/>
        </p:spPr>
        <p:txBody>
          <a:bodyPr wrap="square" lIns="0" tIns="0" rIns="0" bIns="0" rtlCol="0" anchor="ctr"/>
          <a:lstStyle/>
          <a:p>
            <a:pPr algn="ctr" indent="0" marL="0">
              <a:buNone/>
            </a:pPr>
            <a:r>
              <a:rPr lang="en-US" sz="850" b="1" dirty="0">
                <a:solidFill>
                  <a:srgbClr val="F0F0F0"/>
                </a:solidFill>
                <a:latin typeface="Calibri" pitchFamily="34" charset="0"/>
                <a:ea typeface="Calibri" pitchFamily="34" charset="-122"/>
                <a:cs typeface="Calibri" pitchFamily="34" charset="-120"/>
              </a:rPr>
              <a:t>Current Price ~$107.50   |   Target $135.00   |   Implied Upside +25.6%   |   Rating: BUY</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F3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E9E"/>
          </a:solidFill>
          <a:ln w="12700">
            <a:solidFill>
              <a:srgbClr val="0D9E9E"/>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400" b="1" dirty="0">
                <a:solidFill>
                  <a:srgbClr val="F0F0F0"/>
                </a:solidFill>
                <a:latin typeface="Calibri" pitchFamily="34" charset="0"/>
                <a:ea typeface="Calibri" pitchFamily="34" charset="-122"/>
                <a:cs typeface="Calibri" pitchFamily="34" charset="-120"/>
              </a:rPr>
              <a:t>How to Run the Dashboard</a:t>
            </a:r>
            <a:endParaRPr lang="en-US" sz="24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indent="0" marL="0">
              <a:buNone/>
            </a:pPr>
            <a:r>
              <a:rPr lang="en-US" sz="1100" i="1" dirty="0">
                <a:solidFill>
                  <a:srgbClr val="0D9E9E"/>
                </a:solidFill>
                <a:latin typeface="Calibri" pitchFamily="34" charset="0"/>
                <a:ea typeface="Calibri" pitchFamily="34" charset="-122"/>
                <a:cs typeface="Calibri" pitchFamily="34" charset="-120"/>
              </a:rPr>
              <a:t>Three commands and you're live — yfinance requires no account or credentials</a:t>
            </a:r>
            <a:endParaRPr lang="en-US" sz="1100" dirty="0"/>
          </a:p>
        </p:txBody>
      </p:sp>
      <p:sp>
        <p:nvSpPr>
          <p:cNvPr id="5" name="Shape 3"/>
          <p:cNvSpPr/>
          <p:nvPr/>
        </p:nvSpPr>
        <p:spPr>
          <a:xfrm>
            <a:off x="457200" y="960120"/>
            <a:ext cx="8229600" cy="22860"/>
          </a:xfrm>
          <a:prstGeom prst="rect">
            <a:avLst/>
          </a:prstGeom>
          <a:solidFill>
            <a:srgbClr val="0A7A7A"/>
          </a:solidFill>
          <a:ln w="12700">
            <a:solidFill>
              <a:srgbClr val="0A7A7A"/>
            </a:solidFill>
            <a:prstDash val="solid"/>
          </a:ln>
        </p:spPr>
      </p:sp>
      <p:sp>
        <p:nvSpPr>
          <p:cNvPr id="6" name="Shape 4"/>
          <p:cNvSpPr/>
          <p:nvPr/>
        </p:nvSpPr>
        <p:spPr>
          <a:xfrm>
            <a:off x="320040" y="1143000"/>
            <a:ext cx="8503920" cy="804672"/>
          </a:xfrm>
          <a:prstGeom prst="rect">
            <a:avLst/>
          </a:prstGeom>
          <a:solidFill>
            <a:srgbClr val="162840"/>
          </a:solidFill>
          <a:ln w="12700">
            <a:solidFill>
              <a:srgbClr val="0D9E9E"/>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320040" y="1143000"/>
            <a:ext cx="457200" cy="804672"/>
          </a:xfrm>
          <a:prstGeom prst="rect">
            <a:avLst/>
          </a:prstGeom>
          <a:solidFill>
            <a:srgbClr val="0D9E9E"/>
          </a:solidFill>
          <a:ln w="12700">
            <a:solidFill>
              <a:srgbClr val="0D9E9E"/>
            </a:solidFill>
            <a:prstDash val="solid"/>
          </a:ln>
        </p:spPr>
      </p:sp>
      <p:sp>
        <p:nvSpPr>
          <p:cNvPr id="8" name="Text 6"/>
          <p:cNvSpPr/>
          <p:nvPr/>
        </p:nvSpPr>
        <p:spPr>
          <a:xfrm>
            <a:off x="320040" y="1344168"/>
            <a:ext cx="457200" cy="320040"/>
          </a:xfrm>
          <a:prstGeom prst="rect">
            <a:avLst/>
          </a:prstGeom>
          <a:noFill/>
          <a:ln/>
        </p:spPr>
        <p:txBody>
          <a:bodyPr wrap="square" lIns="0" tIns="0" rIns="0" bIns="0" rtlCol="0" anchor="ctr"/>
          <a:lstStyle/>
          <a:p>
            <a:pPr algn="ctr" indent="0" marL="0">
              <a:buNone/>
            </a:pPr>
            <a:r>
              <a:rPr lang="en-US" sz="1200" b="1" dirty="0">
                <a:solidFill>
                  <a:srgbClr val="0D1F35"/>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868680" y="1197864"/>
            <a:ext cx="2194560" cy="274320"/>
          </a:xfrm>
          <a:prstGeom prst="rect">
            <a:avLst/>
          </a:prstGeom>
          <a:noFill/>
          <a:ln/>
        </p:spPr>
        <p:txBody>
          <a:bodyPr wrap="square" lIns="0" tIns="0" rIns="0" bIns="0" rtlCol="0" anchor="ctr"/>
          <a:lstStyle/>
          <a:p>
            <a:pPr indent="0" marL="0">
              <a:buNone/>
            </a:pPr>
            <a:r>
              <a:rPr lang="en-US" sz="1050" b="1" dirty="0">
                <a:solidFill>
                  <a:srgbClr val="F0F0F0"/>
                </a:solidFill>
                <a:latin typeface="Calibri" pitchFamily="34" charset="0"/>
                <a:ea typeface="Calibri" pitchFamily="34" charset="-122"/>
                <a:cs typeface="Calibri" pitchFamily="34" charset="-120"/>
              </a:rPr>
              <a:t>Install Python packages</a:t>
            </a:r>
            <a:endParaRPr lang="en-US" sz="1050" dirty="0"/>
          </a:p>
        </p:txBody>
      </p:sp>
      <p:sp>
        <p:nvSpPr>
          <p:cNvPr id="10" name="Text 8"/>
          <p:cNvSpPr/>
          <p:nvPr/>
        </p:nvSpPr>
        <p:spPr>
          <a:xfrm>
            <a:off x="868680" y="1645920"/>
            <a:ext cx="2377440" cy="219456"/>
          </a:xfrm>
          <a:prstGeom prst="rect">
            <a:avLst/>
          </a:prstGeom>
          <a:noFill/>
          <a:ln/>
        </p:spPr>
        <p:txBody>
          <a:bodyPr wrap="square" lIns="0" tIns="0" rIns="0" bIns="0" rtlCol="0" anchor="ctr"/>
          <a:lstStyle/>
          <a:p>
            <a:pPr indent="0" marL="0">
              <a:buNone/>
            </a:pPr>
            <a:r>
              <a:rPr lang="en-US" sz="800" i="1" dirty="0">
                <a:solidFill>
                  <a:srgbClr val="B0BEC5"/>
                </a:solidFill>
                <a:latin typeface="Calibri" pitchFamily="34" charset="0"/>
                <a:ea typeface="Calibri" pitchFamily="34" charset="-122"/>
                <a:cs typeface="Calibri" pitchFamily="34" charset="-120"/>
              </a:rPr>
              <a:t>Run once in your terminal or Anaconda prompt</a:t>
            </a:r>
            <a:endParaRPr lang="en-US" sz="800" dirty="0"/>
          </a:p>
        </p:txBody>
      </p:sp>
      <p:sp>
        <p:nvSpPr>
          <p:cNvPr id="11" name="Shape 9"/>
          <p:cNvSpPr/>
          <p:nvPr/>
        </p:nvSpPr>
        <p:spPr>
          <a:xfrm>
            <a:off x="3200400" y="1234440"/>
            <a:ext cx="5486400" cy="530352"/>
          </a:xfrm>
          <a:prstGeom prst="rect">
            <a:avLst/>
          </a:prstGeom>
          <a:solidFill>
            <a:srgbClr val="1E2D3D"/>
          </a:solidFill>
          <a:ln w="12700">
            <a:solidFill>
              <a:srgbClr val="0A7A7A"/>
            </a:solidFill>
            <a:prstDash val="solid"/>
          </a:ln>
          <a:effectLst>
            <a:outerShdw sx="100000" sy="100000" kx="0" ky="0" algn="bl" rotWithShape="0" blurRad="101600" dist="38100" dir="8100000">
              <a:srgbClr val="000000">
                <a:alpha val="20000"/>
              </a:srgbClr>
            </a:outerShdw>
          </a:effectLst>
        </p:spPr>
      </p:sp>
      <p:sp>
        <p:nvSpPr>
          <p:cNvPr id="12" name="Text 10"/>
          <p:cNvSpPr/>
          <p:nvPr/>
        </p:nvSpPr>
        <p:spPr>
          <a:xfrm>
            <a:off x="3337560" y="1307592"/>
            <a:ext cx="5212080" cy="329184"/>
          </a:xfrm>
          <a:prstGeom prst="rect">
            <a:avLst/>
          </a:prstGeom>
          <a:noFill/>
          <a:ln/>
        </p:spPr>
        <p:txBody>
          <a:bodyPr wrap="square" lIns="0" tIns="0" rIns="0" bIns="0" rtlCol="0" anchor="ctr"/>
          <a:lstStyle/>
          <a:p>
            <a:pPr indent="0" marL="0">
              <a:buNone/>
            </a:pPr>
            <a:r>
              <a:rPr lang="en-US" sz="950" dirty="0">
                <a:solidFill>
                  <a:srgbClr val="C8A84B"/>
                </a:solidFill>
                <a:latin typeface="Consolas" pitchFamily="34" charset="0"/>
                <a:ea typeface="Consolas" pitchFamily="34" charset="-122"/>
                <a:cs typeface="Consolas" pitchFamily="34" charset="-120"/>
              </a:rPr>
              <a:t>pip install streamlit plotly pandas numpy yfinance python-dotenv psycopg2-binary</a:t>
            </a:r>
            <a:endParaRPr lang="en-US" sz="950" dirty="0"/>
          </a:p>
        </p:txBody>
      </p:sp>
      <p:sp>
        <p:nvSpPr>
          <p:cNvPr id="13" name="Shape 11"/>
          <p:cNvSpPr/>
          <p:nvPr/>
        </p:nvSpPr>
        <p:spPr>
          <a:xfrm>
            <a:off x="320040" y="2075688"/>
            <a:ext cx="8503920" cy="804672"/>
          </a:xfrm>
          <a:prstGeom prst="rect">
            <a:avLst/>
          </a:prstGeom>
          <a:solidFill>
            <a:srgbClr val="162840"/>
          </a:solidFill>
          <a:ln w="12700">
            <a:solidFill>
              <a:srgbClr val="0D9E9E"/>
            </a:solidFill>
            <a:prstDash val="solid"/>
          </a:ln>
          <a:effectLst>
            <a:outerShdw sx="100000" sy="100000" kx="0" ky="0" algn="bl" rotWithShape="0" blurRad="101600" dist="38100" dir="8100000">
              <a:srgbClr val="000000">
                <a:alpha val="20000"/>
              </a:srgbClr>
            </a:outerShdw>
          </a:effectLst>
        </p:spPr>
      </p:sp>
      <p:sp>
        <p:nvSpPr>
          <p:cNvPr id="14" name="Shape 12"/>
          <p:cNvSpPr/>
          <p:nvPr/>
        </p:nvSpPr>
        <p:spPr>
          <a:xfrm>
            <a:off x="320040" y="2075688"/>
            <a:ext cx="457200" cy="804672"/>
          </a:xfrm>
          <a:prstGeom prst="rect">
            <a:avLst/>
          </a:prstGeom>
          <a:solidFill>
            <a:srgbClr val="0D9E9E"/>
          </a:solidFill>
          <a:ln w="12700">
            <a:solidFill>
              <a:srgbClr val="0D9E9E"/>
            </a:solidFill>
            <a:prstDash val="solid"/>
          </a:ln>
        </p:spPr>
      </p:sp>
      <p:sp>
        <p:nvSpPr>
          <p:cNvPr id="15" name="Text 13"/>
          <p:cNvSpPr/>
          <p:nvPr/>
        </p:nvSpPr>
        <p:spPr>
          <a:xfrm>
            <a:off x="320040" y="2276856"/>
            <a:ext cx="457200" cy="320040"/>
          </a:xfrm>
          <a:prstGeom prst="rect">
            <a:avLst/>
          </a:prstGeom>
          <a:noFill/>
          <a:ln/>
        </p:spPr>
        <p:txBody>
          <a:bodyPr wrap="square" lIns="0" tIns="0" rIns="0" bIns="0" rtlCol="0" anchor="ctr"/>
          <a:lstStyle/>
          <a:p>
            <a:pPr algn="ctr" indent="0" marL="0">
              <a:buNone/>
            </a:pPr>
            <a:r>
              <a:rPr lang="en-US" sz="1200" b="1" dirty="0">
                <a:solidFill>
                  <a:srgbClr val="0D1F35"/>
                </a:solidFill>
                <a:latin typeface="Calibri" pitchFamily="34" charset="0"/>
                <a:ea typeface="Calibri" pitchFamily="34" charset="-122"/>
                <a:cs typeface="Calibri" pitchFamily="34" charset="-120"/>
              </a:rPr>
              <a:t>02</a:t>
            </a:r>
            <a:endParaRPr lang="en-US" sz="1200" dirty="0"/>
          </a:p>
        </p:txBody>
      </p:sp>
      <p:sp>
        <p:nvSpPr>
          <p:cNvPr id="16" name="Text 14"/>
          <p:cNvSpPr/>
          <p:nvPr/>
        </p:nvSpPr>
        <p:spPr>
          <a:xfrm>
            <a:off x="868680" y="2130552"/>
            <a:ext cx="2194560" cy="274320"/>
          </a:xfrm>
          <a:prstGeom prst="rect">
            <a:avLst/>
          </a:prstGeom>
          <a:noFill/>
          <a:ln/>
        </p:spPr>
        <p:txBody>
          <a:bodyPr wrap="square" lIns="0" tIns="0" rIns="0" bIns="0" rtlCol="0" anchor="ctr"/>
          <a:lstStyle/>
          <a:p>
            <a:pPr indent="0" marL="0">
              <a:buNone/>
            </a:pPr>
            <a:r>
              <a:rPr lang="en-US" sz="1050" b="1" dirty="0">
                <a:solidFill>
                  <a:srgbClr val="F0F0F0"/>
                </a:solidFill>
                <a:latin typeface="Calibri" pitchFamily="34" charset="0"/>
                <a:ea typeface="Calibri" pitchFamily="34" charset="-122"/>
                <a:cs typeface="Calibri" pitchFamily="34" charset="-120"/>
              </a:rPr>
              <a:t>Run the dashboard</a:t>
            </a:r>
            <a:endParaRPr lang="en-US" sz="1050" dirty="0"/>
          </a:p>
        </p:txBody>
      </p:sp>
      <p:sp>
        <p:nvSpPr>
          <p:cNvPr id="17" name="Text 15"/>
          <p:cNvSpPr/>
          <p:nvPr/>
        </p:nvSpPr>
        <p:spPr>
          <a:xfrm>
            <a:off x="868680" y="2578608"/>
            <a:ext cx="2377440" cy="219456"/>
          </a:xfrm>
          <a:prstGeom prst="rect">
            <a:avLst/>
          </a:prstGeom>
          <a:noFill/>
          <a:ln/>
        </p:spPr>
        <p:txBody>
          <a:bodyPr wrap="square" lIns="0" tIns="0" rIns="0" bIns="0" rtlCol="0" anchor="ctr"/>
          <a:lstStyle/>
          <a:p>
            <a:pPr indent="0" marL="0">
              <a:buNone/>
            </a:pPr>
            <a:r>
              <a:rPr lang="en-US" sz="800" i="1" dirty="0">
                <a:solidFill>
                  <a:srgbClr val="B0BEC5"/>
                </a:solidFill>
                <a:latin typeface="Calibri" pitchFamily="34" charset="0"/>
                <a:ea typeface="Calibri" pitchFamily="34" charset="-122"/>
                <a:cs typeface="Calibri" pitchFamily="34" charset="-120"/>
              </a:rPr>
              <a:t>Opens automatically in your browser on localhost:8501</a:t>
            </a:r>
            <a:endParaRPr lang="en-US" sz="800" dirty="0"/>
          </a:p>
        </p:txBody>
      </p:sp>
      <p:sp>
        <p:nvSpPr>
          <p:cNvPr id="18" name="Shape 16"/>
          <p:cNvSpPr/>
          <p:nvPr/>
        </p:nvSpPr>
        <p:spPr>
          <a:xfrm>
            <a:off x="3200400" y="2167128"/>
            <a:ext cx="5486400" cy="530352"/>
          </a:xfrm>
          <a:prstGeom prst="rect">
            <a:avLst/>
          </a:prstGeom>
          <a:solidFill>
            <a:srgbClr val="1E2D3D"/>
          </a:solidFill>
          <a:ln w="12700">
            <a:solidFill>
              <a:srgbClr val="0A7A7A"/>
            </a:solidFill>
            <a:prstDash val="solid"/>
          </a:ln>
          <a:effectLst>
            <a:outerShdw sx="100000" sy="100000" kx="0" ky="0" algn="bl" rotWithShape="0" blurRad="101600" dist="38100" dir="8100000">
              <a:srgbClr val="000000">
                <a:alpha val="20000"/>
              </a:srgbClr>
            </a:outerShdw>
          </a:effectLst>
        </p:spPr>
      </p:sp>
      <p:sp>
        <p:nvSpPr>
          <p:cNvPr id="19" name="Text 17"/>
          <p:cNvSpPr/>
          <p:nvPr/>
        </p:nvSpPr>
        <p:spPr>
          <a:xfrm>
            <a:off x="3337560" y="2240280"/>
            <a:ext cx="5212080" cy="329184"/>
          </a:xfrm>
          <a:prstGeom prst="rect">
            <a:avLst/>
          </a:prstGeom>
          <a:noFill/>
          <a:ln/>
        </p:spPr>
        <p:txBody>
          <a:bodyPr wrap="square" lIns="0" tIns="0" rIns="0" bIns="0" rtlCol="0" anchor="ctr"/>
          <a:lstStyle/>
          <a:p>
            <a:pPr indent="0" marL="0">
              <a:buNone/>
            </a:pPr>
            <a:r>
              <a:rPr lang="en-US" sz="950" dirty="0">
                <a:solidFill>
                  <a:srgbClr val="C8A84B"/>
                </a:solidFill>
                <a:latin typeface="Consolas" pitchFamily="34" charset="0"/>
                <a:ea typeface="Consolas" pitchFamily="34" charset="-122"/>
                <a:cs typeface="Consolas" pitchFamily="34" charset="-120"/>
              </a:rPr>
              <a:t>streamlit run dollarama_app.py</a:t>
            </a:r>
            <a:endParaRPr lang="en-US" sz="950" dirty="0"/>
          </a:p>
        </p:txBody>
      </p:sp>
      <p:sp>
        <p:nvSpPr>
          <p:cNvPr id="20" name="Shape 18"/>
          <p:cNvSpPr/>
          <p:nvPr/>
        </p:nvSpPr>
        <p:spPr>
          <a:xfrm>
            <a:off x="320040" y="3008376"/>
            <a:ext cx="8503920" cy="804672"/>
          </a:xfrm>
          <a:prstGeom prst="rect">
            <a:avLst/>
          </a:prstGeom>
          <a:solidFill>
            <a:srgbClr val="162840"/>
          </a:solidFill>
          <a:ln w="12700">
            <a:solidFill>
              <a:srgbClr val="0D9E9E"/>
            </a:solidFill>
            <a:prstDash val="solid"/>
          </a:ln>
          <a:effectLst>
            <a:outerShdw sx="100000" sy="100000" kx="0" ky="0" algn="bl" rotWithShape="0" blurRad="101600" dist="38100" dir="8100000">
              <a:srgbClr val="000000">
                <a:alpha val="20000"/>
              </a:srgbClr>
            </a:outerShdw>
          </a:effectLst>
        </p:spPr>
      </p:sp>
      <p:sp>
        <p:nvSpPr>
          <p:cNvPr id="21" name="Shape 19"/>
          <p:cNvSpPr/>
          <p:nvPr/>
        </p:nvSpPr>
        <p:spPr>
          <a:xfrm>
            <a:off x="320040" y="3008376"/>
            <a:ext cx="457200" cy="804672"/>
          </a:xfrm>
          <a:prstGeom prst="rect">
            <a:avLst/>
          </a:prstGeom>
          <a:solidFill>
            <a:srgbClr val="0D9E9E"/>
          </a:solidFill>
          <a:ln w="12700">
            <a:solidFill>
              <a:srgbClr val="0D9E9E"/>
            </a:solidFill>
            <a:prstDash val="solid"/>
          </a:ln>
        </p:spPr>
      </p:sp>
      <p:sp>
        <p:nvSpPr>
          <p:cNvPr id="22" name="Text 20"/>
          <p:cNvSpPr/>
          <p:nvPr/>
        </p:nvSpPr>
        <p:spPr>
          <a:xfrm>
            <a:off x="320040" y="3209544"/>
            <a:ext cx="457200" cy="320040"/>
          </a:xfrm>
          <a:prstGeom prst="rect">
            <a:avLst/>
          </a:prstGeom>
          <a:noFill/>
          <a:ln/>
        </p:spPr>
        <p:txBody>
          <a:bodyPr wrap="square" lIns="0" tIns="0" rIns="0" bIns="0" rtlCol="0" anchor="ctr"/>
          <a:lstStyle/>
          <a:p>
            <a:pPr algn="ctr" indent="0" marL="0">
              <a:buNone/>
            </a:pPr>
            <a:r>
              <a:rPr lang="en-US" sz="1200" b="1" dirty="0">
                <a:solidFill>
                  <a:srgbClr val="0D1F35"/>
                </a:solidFill>
                <a:latin typeface="Calibri" pitchFamily="34" charset="0"/>
                <a:ea typeface="Calibri" pitchFamily="34" charset="-122"/>
                <a:cs typeface="Calibri" pitchFamily="34" charset="-120"/>
              </a:rPr>
              <a:t>03</a:t>
            </a:r>
            <a:endParaRPr lang="en-US" sz="1200" dirty="0"/>
          </a:p>
        </p:txBody>
      </p:sp>
      <p:sp>
        <p:nvSpPr>
          <p:cNvPr id="23" name="Text 21"/>
          <p:cNvSpPr/>
          <p:nvPr/>
        </p:nvSpPr>
        <p:spPr>
          <a:xfrm>
            <a:off x="868680" y="3063240"/>
            <a:ext cx="2194560" cy="274320"/>
          </a:xfrm>
          <a:prstGeom prst="rect">
            <a:avLst/>
          </a:prstGeom>
          <a:noFill/>
          <a:ln/>
        </p:spPr>
        <p:txBody>
          <a:bodyPr wrap="square" lIns="0" tIns="0" rIns="0" bIns="0" rtlCol="0" anchor="ctr"/>
          <a:lstStyle/>
          <a:p>
            <a:pPr indent="0" marL="0">
              <a:buNone/>
            </a:pPr>
            <a:r>
              <a:rPr lang="en-US" sz="1050" b="1" dirty="0">
                <a:solidFill>
                  <a:srgbClr val="F0F0F0"/>
                </a:solidFill>
                <a:latin typeface="Calibri" pitchFamily="34" charset="0"/>
                <a:ea typeface="Calibri" pitchFamily="34" charset="-122"/>
                <a:cs typeface="Calibri" pitchFamily="34" charset="-120"/>
              </a:rPr>
              <a:t>Select data source</a:t>
            </a:r>
            <a:endParaRPr lang="en-US" sz="1050" dirty="0"/>
          </a:p>
        </p:txBody>
      </p:sp>
      <p:sp>
        <p:nvSpPr>
          <p:cNvPr id="24" name="Text 22"/>
          <p:cNvSpPr/>
          <p:nvPr/>
        </p:nvSpPr>
        <p:spPr>
          <a:xfrm>
            <a:off x="868680" y="3511296"/>
            <a:ext cx="2377440" cy="219456"/>
          </a:xfrm>
          <a:prstGeom prst="rect">
            <a:avLst/>
          </a:prstGeom>
          <a:noFill/>
          <a:ln/>
        </p:spPr>
        <p:txBody>
          <a:bodyPr wrap="square" lIns="0" tIns="0" rIns="0" bIns="0" rtlCol="0" anchor="ctr"/>
          <a:lstStyle/>
          <a:p>
            <a:pPr indent="0" marL="0">
              <a:buNone/>
            </a:pPr>
            <a:r>
              <a:rPr lang="en-US" sz="800" i="1" dirty="0">
                <a:solidFill>
                  <a:srgbClr val="B0BEC5"/>
                </a:solidFill>
                <a:latin typeface="Calibri" pitchFamily="34" charset="0"/>
                <a:ea typeface="Calibri" pitchFamily="34" charset="-122"/>
                <a:cs typeface="Calibri" pitchFamily="34" charset="-120"/>
              </a:rPr>
              <a:t>Free, no account needed. Or 'Built-in Data' for offline use.</a:t>
            </a:r>
            <a:endParaRPr lang="en-US" sz="800" dirty="0"/>
          </a:p>
        </p:txBody>
      </p:sp>
      <p:sp>
        <p:nvSpPr>
          <p:cNvPr id="25" name="Shape 23"/>
          <p:cNvSpPr/>
          <p:nvPr/>
        </p:nvSpPr>
        <p:spPr>
          <a:xfrm>
            <a:off x="3200400" y="3099816"/>
            <a:ext cx="5486400" cy="530352"/>
          </a:xfrm>
          <a:prstGeom prst="rect">
            <a:avLst/>
          </a:prstGeom>
          <a:solidFill>
            <a:srgbClr val="1E2D3D"/>
          </a:solidFill>
          <a:ln w="12700">
            <a:solidFill>
              <a:srgbClr val="0A7A7A"/>
            </a:solidFill>
            <a:prstDash val="solid"/>
          </a:ln>
          <a:effectLst>
            <a:outerShdw sx="100000" sy="100000" kx="0" ky="0" algn="bl" rotWithShape="0" blurRad="101600" dist="38100" dir="8100000">
              <a:srgbClr val="000000">
                <a:alpha val="20000"/>
              </a:srgbClr>
            </a:outerShdw>
          </a:effectLst>
        </p:spPr>
      </p:sp>
      <p:sp>
        <p:nvSpPr>
          <p:cNvPr id="26" name="Text 24"/>
          <p:cNvSpPr/>
          <p:nvPr/>
        </p:nvSpPr>
        <p:spPr>
          <a:xfrm>
            <a:off x="3337560" y="3172968"/>
            <a:ext cx="5212080" cy="329184"/>
          </a:xfrm>
          <a:prstGeom prst="rect">
            <a:avLst/>
          </a:prstGeom>
          <a:noFill/>
          <a:ln/>
        </p:spPr>
        <p:txBody>
          <a:bodyPr wrap="square" lIns="0" tIns="0" rIns="0" bIns="0" rtlCol="0" anchor="ctr"/>
          <a:lstStyle/>
          <a:p>
            <a:pPr indent="0" marL="0">
              <a:buNone/>
            </a:pPr>
            <a:r>
              <a:rPr lang="en-US" sz="950" dirty="0">
                <a:solidFill>
                  <a:srgbClr val="C8A84B"/>
                </a:solidFill>
                <a:latin typeface="Consolas" pitchFamily="34" charset="0"/>
                <a:ea typeface="Consolas" pitchFamily="34" charset="-122"/>
                <a:cs typeface="Consolas" pitchFamily="34" charset="-120"/>
              </a:rPr>
              <a:t>Sidebar → 'yfinance (Live)'</a:t>
            </a:r>
            <a:endParaRPr lang="en-US" sz="950" dirty="0"/>
          </a:p>
        </p:txBody>
      </p:sp>
      <p:sp>
        <p:nvSpPr>
          <p:cNvPr id="27" name="Shape 25"/>
          <p:cNvSpPr/>
          <p:nvPr/>
        </p:nvSpPr>
        <p:spPr>
          <a:xfrm>
            <a:off x="320040" y="3941064"/>
            <a:ext cx="8503920" cy="804672"/>
          </a:xfrm>
          <a:prstGeom prst="rect">
            <a:avLst/>
          </a:prstGeom>
          <a:solidFill>
            <a:srgbClr val="162840"/>
          </a:solidFill>
          <a:ln w="12700">
            <a:solidFill>
              <a:srgbClr val="0D9E9E"/>
            </a:solidFill>
            <a:prstDash val="solid"/>
          </a:ln>
          <a:effectLst>
            <a:outerShdw sx="100000" sy="100000" kx="0" ky="0" algn="bl" rotWithShape="0" blurRad="101600" dist="38100" dir="8100000">
              <a:srgbClr val="000000">
                <a:alpha val="20000"/>
              </a:srgbClr>
            </a:outerShdw>
          </a:effectLst>
        </p:spPr>
      </p:sp>
      <p:sp>
        <p:nvSpPr>
          <p:cNvPr id="28" name="Shape 26"/>
          <p:cNvSpPr/>
          <p:nvPr/>
        </p:nvSpPr>
        <p:spPr>
          <a:xfrm>
            <a:off x="320040" y="3941064"/>
            <a:ext cx="457200" cy="804672"/>
          </a:xfrm>
          <a:prstGeom prst="rect">
            <a:avLst/>
          </a:prstGeom>
          <a:solidFill>
            <a:srgbClr val="0D9E9E"/>
          </a:solidFill>
          <a:ln w="12700">
            <a:solidFill>
              <a:srgbClr val="0D9E9E"/>
            </a:solidFill>
            <a:prstDash val="solid"/>
          </a:ln>
        </p:spPr>
      </p:sp>
      <p:sp>
        <p:nvSpPr>
          <p:cNvPr id="29" name="Text 27"/>
          <p:cNvSpPr/>
          <p:nvPr/>
        </p:nvSpPr>
        <p:spPr>
          <a:xfrm>
            <a:off x="320040" y="4142232"/>
            <a:ext cx="457200" cy="320040"/>
          </a:xfrm>
          <a:prstGeom prst="rect">
            <a:avLst/>
          </a:prstGeom>
          <a:noFill/>
          <a:ln/>
        </p:spPr>
        <p:txBody>
          <a:bodyPr wrap="square" lIns="0" tIns="0" rIns="0" bIns="0" rtlCol="0" anchor="ctr"/>
          <a:lstStyle/>
          <a:p>
            <a:pPr algn="ctr" indent="0" marL="0">
              <a:buNone/>
            </a:pPr>
            <a:r>
              <a:rPr lang="en-US" sz="1200" b="1" dirty="0">
                <a:solidFill>
                  <a:srgbClr val="0D1F35"/>
                </a:solidFill>
                <a:latin typeface="Calibri" pitchFamily="34" charset="0"/>
                <a:ea typeface="Calibri" pitchFamily="34" charset="-122"/>
                <a:cs typeface="Calibri" pitchFamily="34" charset="-120"/>
              </a:rPr>
              <a:t>04</a:t>
            </a:r>
            <a:endParaRPr lang="en-US" sz="1200" dirty="0"/>
          </a:p>
        </p:txBody>
      </p:sp>
      <p:sp>
        <p:nvSpPr>
          <p:cNvPr id="30" name="Text 28"/>
          <p:cNvSpPr/>
          <p:nvPr/>
        </p:nvSpPr>
        <p:spPr>
          <a:xfrm>
            <a:off x="868680" y="3995928"/>
            <a:ext cx="2194560" cy="274320"/>
          </a:xfrm>
          <a:prstGeom prst="rect">
            <a:avLst/>
          </a:prstGeom>
          <a:noFill/>
          <a:ln/>
        </p:spPr>
        <p:txBody>
          <a:bodyPr wrap="square" lIns="0" tIns="0" rIns="0" bIns="0" rtlCol="0" anchor="ctr"/>
          <a:lstStyle/>
          <a:p>
            <a:pPr indent="0" marL="0">
              <a:buNone/>
            </a:pPr>
            <a:r>
              <a:rPr lang="en-US" sz="1050" b="1" dirty="0">
                <a:solidFill>
                  <a:srgbClr val="F0F0F0"/>
                </a:solidFill>
                <a:latin typeface="Calibri" pitchFamily="34" charset="0"/>
                <a:ea typeface="Calibri" pitchFamily="34" charset="-122"/>
                <a:cs typeface="Calibri" pitchFamily="34" charset="-120"/>
              </a:rPr>
              <a:t>Explore interactively</a:t>
            </a:r>
            <a:endParaRPr lang="en-US" sz="1050" dirty="0"/>
          </a:p>
        </p:txBody>
      </p:sp>
      <p:sp>
        <p:nvSpPr>
          <p:cNvPr id="31" name="Text 29"/>
          <p:cNvSpPr/>
          <p:nvPr/>
        </p:nvSpPr>
        <p:spPr>
          <a:xfrm>
            <a:off x="868680" y="4443984"/>
            <a:ext cx="2377440" cy="219456"/>
          </a:xfrm>
          <a:prstGeom prst="rect">
            <a:avLst/>
          </a:prstGeom>
          <a:noFill/>
          <a:ln/>
        </p:spPr>
        <p:txBody>
          <a:bodyPr wrap="square" lIns="0" tIns="0" rIns="0" bIns="0" rtlCol="0" anchor="ctr"/>
          <a:lstStyle/>
          <a:p>
            <a:pPr indent="0" marL="0">
              <a:buNone/>
            </a:pPr>
            <a:r>
              <a:rPr lang="en-US" sz="800" i="1" dirty="0">
                <a:solidFill>
                  <a:srgbClr val="B0BEC5"/>
                </a:solidFill>
                <a:latin typeface="Calibri" pitchFamily="34" charset="0"/>
                <a:ea typeface="Calibri" pitchFamily="34" charset="-122"/>
                <a:cs typeface="Calibri" pitchFamily="34" charset="-120"/>
              </a:rPr>
              <a:t>DCF and Monte Carlo recalculate in real time</a:t>
            </a:r>
            <a:endParaRPr lang="en-US" sz="800" dirty="0"/>
          </a:p>
        </p:txBody>
      </p:sp>
      <p:sp>
        <p:nvSpPr>
          <p:cNvPr id="32" name="Shape 30"/>
          <p:cNvSpPr/>
          <p:nvPr/>
        </p:nvSpPr>
        <p:spPr>
          <a:xfrm>
            <a:off x="3200400" y="4032504"/>
            <a:ext cx="5486400" cy="530352"/>
          </a:xfrm>
          <a:prstGeom prst="rect">
            <a:avLst/>
          </a:prstGeom>
          <a:solidFill>
            <a:srgbClr val="1E2D3D"/>
          </a:solidFill>
          <a:ln w="12700">
            <a:solidFill>
              <a:srgbClr val="0A7A7A"/>
            </a:solidFill>
            <a:prstDash val="solid"/>
          </a:ln>
          <a:effectLst>
            <a:outerShdw sx="100000" sy="100000" kx="0" ky="0" algn="bl" rotWithShape="0" blurRad="101600" dist="38100" dir="8100000">
              <a:srgbClr val="000000">
                <a:alpha val="20000"/>
              </a:srgbClr>
            </a:outerShdw>
          </a:effectLst>
        </p:spPr>
      </p:sp>
      <p:sp>
        <p:nvSpPr>
          <p:cNvPr id="33" name="Text 31"/>
          <p:cNvSpPr/>
          <p:nvPr/>
        </p:nvSpPr>
        <p:spPr>
          <a:xfrm>
            <a:off x="3337560" y="4105656"/>
            <a:ext cx="5212080" cy="329184"/>
          </a:xfrm>
          <a:prstGeom prst="rect">
            <a:avLst/>
          </a:prstGeom>
          <a:noFill/>
          <a:ln/>
        </p:spPr>
        <p:txBody>
          <a:bodyPr wrap="square" lIns="0" tIns="0" rIns="0" bIns="0" rtlCol="0" anchor="ctr"/>
          <a:lstStyle/>
          <a:p>
            <a:pPr indent="0" marL="0">
              <a:buNone/>
            </a:pPr>
            <a:r>
              <a:rPr lang="en-US" sz="950" dirty="0">
                <a:solidFill>
                  <a:srgbClr val="C8A84B"/>
                </a:solidFill>
                <a:latin typeface="Consolas" pitchFamily="34" charset="0"/>
                <a:ea typeface="Consolas" pitchFamily="34" charset="-122"/>
                <a:cs typeface="Consolas" pitchFamily="34" charset="-120"/>
              </a:rPr>
              <a:t>Move WACC / TGR / Growth sliders</a:t>
            </a:r>
            <a:endParaRPr lang="en-US" sz="950" dirty="0"/>
          </a:p>
        </p:txBody>
      </p:sp>
      <p:sp>
        <p:nvSpPr>
          <p:cNvPr id="34" name="Shape 32"/>
          <p:cNvSpPr/>
          <p:nvPr/>
        </p:nvSpPr>
        <p:spPr>
          <a:xfrm>
            <a:off x="320040" y="4864608"/>
            <a:ext cx="8503920" cy="201168"/>
          </a:xfrm>
          <a:prstGeom prst="rect">
            <a:avLst/>
          </a:prstGeom>
          <a:solidFill>
            <a:srgbClr val="0D1F10"/>
          </a:solidFill>
          <a:ln w="12700">
            <a:solidFill>
              <a:srgbClr val="2ECC71"/>
            </a:solidFill>
            <a:prstDash val="solid"/>
          </a:ln>
          <a:effectLst>
            <a:outerShdw sx="100000" sy="100000" kx="0" ky="0" algn="bl" rotWithShape="0" blurRad="101600" dist="38100" dir="8100000">
              <a:srgbClr val="000000">
                <a:alpha val="20000"/>
              </a:srgbClr>
            </a:outerShdw>
          </a:effectLst>
        </p:spPr>
      </p:sp>
      <p:sp>
        <p:nvSpPr>
          <p:cNvPr id="35" name="Text 33"/>
          <p:cNvSpPr/>
          <p:nvPr/>
        </p:nvSpPr>
        <p:spPr>
          <a:xfrm>
            <a:off x="457200" y="4873752"/>
            <a:ext cx="8321040" cy="164592"/>
          </a:xfrm>
          <a:prstGeom prst="rect">
            <a:avLst/>
          </a:prstGeom>
          <a:noFill/>
          <a:ln/>
        </p:spPr>
        <p:txBody>
          <a:bodyPr wrap="square" lIns="0" tIns="0" rIns="0" bIns="0" rtlCol="0" anchor="ctr"/>
          <a:lstStyle/>
          <a:p>
            <a:pPr indent="0" marL="0">
              <a:buNone/>
            </a:pPr>
            <a:r>
              <a:rPr lang="en-US" sz="850" dirty="0">
                <a:solidFill>
                  <a:srgbClr val="2ECC71"/>
                </a:solidFill>
                <a:latin typeface="Calibri" pitchFamily="34" charset="0"/>
                <a:ea typeface="Calibri" pitchFamily="34" charset="-122"/>
                <a:cs typeface="Calibri" pitchFamily="34" charset="-120"/>
              </a:rPr>
              <a:t>Tip: Tab 9 (Raw Data) is your audit trail — every number in every chart traces back to a raw Compustat column there.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F3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E9E"/>
          </a:solidFill>
          <a:ln w="12700">
            <a:solidFill>
              <a:srgbClr val="0D9E9E"/>
            </a:solidFill>
            <a:prstDash val="solid"/>
          </a:ln>
        </p:spPr>
      </p:sp>
      <p:sp>
        <p:nvSpPr>
          <p:cNvPr id="3" name="Text 1"/>
          <p:cNvSpPr/>
          <p:nvPr/>
        </p:nvSpPr>
        <p:spPr>
          <a:xfrm>
            <a:off x="457200" y="164592"/>
            <a:ext cx="8229600" cy="502920"/>
          </a:xfrm>
          <a:prstGeom prst="rect">
            <a:avLst/>
          </a:prstGeom>
          <a:noFill/>
          <a:ln/>
        </p:spPr>
        <p:txBody>
          <a:bodyPr wrap="square" lIns="0" tIns="0" rIns="0" bIns="0" rtlCol="0" anchor="ctr"/>
          <a:lstStyle/>
          <a:p>
            <a:pPr indent="0" marL="0">
              <a:buNone/>
            </a:pPr>
            <a:r>
              <a:rPr lang="en-US" sz="2400" b="1" dirty="0">
                <a:solidFill>
                  <a:srgbClr val="F0F0F0"/>
                </a:solidFill>
                <a:latin typeface="Calibri" pitchFamily="34" charset="0"/>
                <a:ea typeface="Calibri" pitchFamily="34" charset="-122"/>
                <a:cs typeface="Calibri" pitchFamily="34" charset="-120"/>
              </a:rPr>
              <a:t>Learning Exercises</a:t>
            </a:r>
            <a:endParaRPr lang="en-US" sz="24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indent="0" marL="0">
              <a:buNone/>
            </a:pPr>
            <a:r>
              <a:rPr lang="en-US" sz="1100" i="1" dirty="0">
                <a:solidFill>
                  <a:srgbClr val="0D9E9E"/>
                </a:solidFill>
                <a:latin typeface="Calibri" pitchFamily="34" charset="0"/>
                <a:ea typeface="Calibri" pitchFamily="34" charset="-122"/>
                <a:cs typeface="Calibri" pitchFamily="34" charset="-120"/>
              </a:rPr>
              <a:t>Five exercises to build real analytical skills — from formula verification to code modification</a:t>
            </a:r>
            <a:endParaRPr lang="en-US" sz="1100" dirty="0"/>
          </a:p>
        </p:txBody>
      </p:sp>
      <p:sp>
        <p:nvSpPr>
          <p:cNvPr id="5" name="Shape 3"/>
          <p:cNvSpPr/>
          <p:nvPr/>
        </p:nvSpPr>
        <p:spPr>
          <a:xfrm>
            <a:off x="457200" y="960120"/>
            <a:ext cx="8229600" cy="22860"/>
          </a:xfrm>
          <a:prstGeom prst="rect">
            <a:avLst/>
          </a:prstGeom>
          <a:solidFill>
            <a:srgbClr val="0A7A7A"/>
          </a:solidFill>
          <a:ln w="12700">
            <a:solidFill>
              <a:srgbClr val="0A7A7A"/>
            </a:solidFill>
            <a:prstDash val="solid"/>
          </a:ln>
        </p:spPr>
      </p:sp>
      <p:sp>
        <p:nvSpPr>
          <p:cNvPr id="6" name="Shape 4"/>
          <p:cNvSpPr/>
          <p:nvPr/>
        </p:nvSpPr>
        <p:spPr>
          <a:xfrm>
            <a:off x="320040" y="1115568"/>
            <a:ext cx="4206240" cy="1389888"/>
          </a:xfrm>
          <a:prstGeom prst="rect">
            <a:avLst/>
          </a:prstGeom>
          <a:solidFill>
            <a:srgbClr val="162840"/>
          </a:solidFill>
          <a:ln w="12700">
            <a:solidFill>
              <a:srgbClr val="2ECC71"/>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320040" y="1115568"/>
            <a:ext cx="292608" cy="1389888"/>
          </a:xfrm>
          <a:prstGeom prst="rect">
            <a:avLst/>
          </a:prstGeom>
          <a:solidFill>
            <a:srgbClr val="2ECC71"/>
          </a:solidFill>
          <a:ln w="12700">
            <a:solidFill>
              <a:srgbClr val="2ECC71"/>
            </a:solidFill>
            <a:prstDash val="solid"/>
          </a:ln>
        </p:spPr>
      </p:sp>
      <p:sp>
        <p:nvSpPr>
          <p:cNvPr id="8" name="Text 6"/>
          <p:cNvSpPr/>
          <p:nvPr/>
        </p:nvSpPr>
        <p:spPr>
          <a:xfrm>
            <a:off x="320040" y="1572768"/>
            <a:ext cx="292608" cy="365760"/>
          </a:xfrm>
          <a:prstGeom prst="rect">
            <a:avLst/>
          </a:prstGeom>
          <a:noFill/>
          <a:ln/>
        </p:spPr>
        <p:txBody>
          <a:bodyPr wrap="square" lIns="0" tIns="0" rIns="0" bIns="0" rtlCol="0" anchor="ctr"/>
          <a:lstStyle/>
          <a:p>
            <a:pPr algn="ctr" indent="0" marL="0">
              <a:buNone/>
            </a:pPr>
            <a:r>
              <a:rPr lang="en-US" sz="1400" b="1" dirty="0">
                <a:solidFill>
                  <a:srgbClr val="0D1F35"/>
                </a:solidFill>
                <a:latin typeface="Calibri" pitchFamily="34" charset="0"/>
                <a:ea typeface="Calibri" pitchFamily="34" charset="-122"/>
                <a:cs typeface="Calibri" pitchFamily="34" charset="-120"/>
              </a:rPr>
              <a:t>①</a:t>
            </a:r>
            <a:endParaRPr lang="en-US" sz="1400" dirty="0"/>
          </a:p>
        </p:txBody>
      </p:sp>
      <p:sp>
        <p:nvSpPr>
          <p:cNvPr id="9" name="Text 7"/>
          <p:cNvSpPr/>
          <p:nvPr/>
        </p:nvSpPr>
        <p:spPr>
          <a:xfrm>
            <a:off x="704088" y="1207008"/>
            <a:ext cx="3703320" cy="274320"/>
          </a:xfrm>
          <a:prstGeom prst="rect">
            <a:avLst/>
          </a:prstGeom>
          <a:noFill/>
          <a:ln/>
        </p:spPr>
        <p:txBody>
          <a:bodyPr wrap="square" lIns="0" tIns="0" rIns="0" bIns="0" rtlCol="0" anchor="ctr"/>
          <a:lstStyle/>
          <a:p>
            <a:pPr indent="0" marL="0">
              <a:buNone/>
            </a:pPr>
            <a:r>
              <a:rPr lang="en-US" sz="1050" b="1" dirty="0">
                <a:solidFill>
                  <a:srgbClr val="F0F0F0"/>
                </a:solidFill>
                <a:latin typeface="Calibri" pitchFamily="34" charset="0"/>
                <a:ea typeface="Calibri" pitchFamily="34" charset="-122"/>
                <a:cs typeface="Calibri" pitchFamily="34" charset="-120"/>
              </a:rPr>
              <a:t>Reconstruct EBITDA by Hand</a:t>
            </a:r>
            <a:endParaRPr lang="en-US" sz="1050" dirty="0"/>
          </a:p>
        </p:txBody>
      </p:sp>
      <p:sp>
        <p:nvSpPr>
          <p:cNvPr id="10" name="Text 8"/>
          <p:cNvSpPr/>
          <p:nvPr/>
        </p:nvSpPr>
        <p:spPr>
          <a:xfrm>
            <a:off x="704088" y="1499616"/>
            <a:ext cx="3703320" cy="201168"/>
          </a:xfrm>
          <a:prstGeom prst="rect">
            <a:avLst/>
          </a:prstGeom>
          <a:noFill/>
          <a:ln/>
        </p:spPr>
        <p:txBody>
          <a:bodyPr wrap="square" lIns="0" tIns="0" rIns="0" bIns="0" rtlCol="0" anchor="ctr"/>
          <a:lstStyle/>
          <a:p>
            <a:pPr indent="0" marL="0">
              <a:buNone/>
            </a:pPr>
            <a:r>
              <a:rPr lang="en-US" sz="850" i="1" dirty="0">
                <a:solidFill>
                  <a:srgbClr val="2ECC71"/>
                </a:solidFill>
                <a:latin typeface="Calibri" pitchFamily="34" charset="0"/>
                <a:ea typeface="Calibri" pitchFamily="34" charset="-122"/>
                <a:cs typeface="Calibri" pitchFamily="34" charset="-120"/>
              </a:rPr>
              <a:t>Difficulty: Beginner</a:t>
            </a:r>
            <a:endParaRPr lang="en-US" sz="850" dirty="0"/>
          </a:p>
        </p:txBody>
      </p:sp>
      <p:sp>
        <p:nvSpPr>
          <p:cNvPr id="11" name="Text 9"/>
          <p:cNvSpPr/>
          <p:nvPr/>
        </p:nvSpPr>
        <p:spPr>
          <a:xfrm>
            <a:off x="704088" y="1709928"/>
            <a:ext cx="3703320" cy="685800"/>
          </a:xfrm>
          <a:prstGeom prst="rect">
            <a:avLst/>
          </a:prstGeom>
          <a:noFill/>
          <a:ln/>
        </p:spPr>
        <p:txBody>
          <a:bodyPr wrap="square" lIns="0" tIns="0" rIns="0" bIns="0" rtlCol="0" anchor="ctr"/>
          <a:lstStyle/>
          <a:p>
            <a:pPr indent="0" marL="0">
              <a:buNone/>
            </a:pPr>
            <a:r>
              <a:rPr lang="en-US" sz="850" dirty="0">
                <a:solidFill>
                  <a:srgbClr val="B0BEC5"/>
                </a:solidFill>
                <a:latin typeface="Calibri" pitchFamily="34" charset="0"/>
                <a:ea typeface="Calibri" pitchFamily="34" charset="-122"/>
                <a:cs typeface="Calibri" pitchFamily="34" charset="-120"/>
              </a:rPr>
              <a:t>From Tab 9: revt=6010, cogs=3355, xsga=940, dp=249. Apply the formula. Verify against the dashboard. Answer: $1,964M, margin 32.7%.</a:t>
            </a:r>
            <a:endParaRPr lang="en-US" sz="850" dirty="0"/>
          </a:p>
        </p:txBody>
      </p:sp>
      <p:sp>
        <p:nvSpPr>
          <p:cNvPr id="12" name="Shape 10"/>
          <p:cNvSpPr/>
          <p:nvPr/>
        </p:nvSpPr>
        <p:spPr>
          <a:xfrm>
            <a:off x="4709160" y="1115568"/>
            <a:ext cx="4206240" cy="1389888"/>
          </a:xfrm>
          <a:prstGeom prst="rect">
            <a:avLst/>
          </a:prstGeom>
          <a:solidFill>
            <a:srgbClr val="162840"/>
          </a:solidFill>
          <a:ln w="12700">
            <a:solidFill>
              <a:srgbClr val="2ECC71"/>
            </a:solidFill>
            <a:prstDash val="solid"/>
          </a:ln>
          <a:effectLst>
            <a:outerShdw sx="100000" sy="100000" kx="0" ky="0" algn="bl" rotWithShape="0" blurRad="101600" dist="38100" dir="8100000">
              <a:srgbClr val="000000">
                <a:alpha val="20000"/>
              </a:srgbClr>
            </a:outerShdw>
          </a:effectLst>
        </p:spPr>
      </p:sp>
      <p:sp>
        <p:nvSpPr>
          <p:cNvPr id="13" name="Shape 11"/>
          <p:cNvSpPr/>
          <p:nvPr/>
        </p:nvSpPr>
        <p:spPr>
          <a:xfrm>
            <a:off x="4709160" y="1115568"/>
            <a:ext cx="292608" cy="1389888"/>
          </a:xfrm>
          <a:prstGeom prst="rect">
            <a:avLst/>
          </a:prstGeom>
          <a:solidFill>
            <a:srgbClr val="2ECC71"/>
          </a:solidFill>
          <a:ln w="12700">
            <a:solidFill>
              <a:srgbClr val="2ECC71"/>
            </a:solidFill>
            <a:prstDash val="solid"/>
          </a:ln>
        </p:spPr>
      </p:sp>
      <p:sp>
        <p:nvSpPr>
          <p:cNvPr id="14" name="Text 12"/>
          <p:cNvSpPr/>
          <p:nvPr/>
        </p:nvSpPr>
        <p:spPr>
          <a:xfrm>
            <a:off x="4709160" y="1572768"/>
            <a:ext cx="292608" cy="365760"/>
          </a:xfrm>
          <a:prstGeom prst="rect">
            <a:avLst/>
          </a:prstGeom>
          <a:noFill/>
          <a:ln/>
        </p:spPr>
        <p:txBody>
          <a:bodyPr wrap="square" lIns="0" tIns="0" rIns="0" bIns="0" rtlCol="0" anchor="ctr"/>
          <a:lstStyle/>
          <a:p>
            <a:pPr algn="ctr" indent="0" marL="0">
              <a:buNone/>
            </a:pPr>
            <a:r>
              <a:rPr lang="en-US" sz="1400" b="1" dirty="0">
                <a:solidFill>
                  <a:srgbClr val="0D1F35"/>
                </a:solidFill>
                <a:latin typeface="Calibri" pitchFamily="34" charset="0"/>
                <a:ea typeface="Calibri" pitchFamily="34" charset="-122"/>
                <a:cs typeface="Calibri" pitchFamily="34" charset="-120"/>
              </a:rPr>
              <a:t>②</a:t>
            </a:r>
            <a:endParaRPr lang="en-US" sz="1400" dirty="0"/>
          </a:p>
        </p:txBody>
      </p:sp>
      <p:sp>
        <p:nvSpPr>
          <p:cNvPr id="15" name="Text 13"/>
          <p:cNvSpPr/>
          <p:nvPr/>
        </p:nvSpPr>
        <p:spPr>
          <a:xfrm>
            <a:off x="5093208" y="1207008"/>
            <a:ext cx="3703320" cy="274320"/>
          </a:xfrm>
          <a:prstGeom prst="rect">
            <a:avLst/>
          </a:prstGeom>
          <a:noFill/>
          <a:ln/>
        </p:spPr>
        <p:txBody>
          <a:bodyPr wrap="square" lIns="0" tIns="0" rIns="0" bIns="0" rtlCol="0" anchor="ctr"/>
          <a:lstStyle/>
          <a:p>
            <a:pPr indent="0" marL="0">
              <a:buNone/>
            </a:pPr>
            <a:r>
              <a:rPr lang="en-US" sz="1050" b="1" dirty="0">
                <a:solidFill>
                  <a:srgbClr val="F0F0F0"/>
                </a:solidFill>
                <a:latin typeface="Calibri" pitchFamily="34" charset="0"/>
                <a:ea typeface="Calibri" pitchFamily="34" charset="-122"/>
                <a:cs typeface="Calibri" pitchFamily="34" charset="-120"/>
              </a:rPr>
              <a:t>WACC Sensitivity</a:t>
            </a:r>
            <a:endParaRPr lang="en-US" sz="1050" dirty="0"/>
          </a:p>
        </p:txBody>
      </p:sp>
      <p:sp>
        <p:nvSpPr>
          <p:cNvPr id="16" name="Text 14"/>
          <p:cNvSpPr/>
          <p:nvPr/>
        </p:nvSpPr>
        <p:spPr>
          <a:xfrm>
            <a:off x="5093208" y="1499616"/>
            <a:ext cx="3703320" cy="201168"/>
          </a:xfrm>
          <a:prstGeom prst="rect">
            <a:avLst/>
          </a:prstGeom>
          <a:noFill/>
          <a:ln/>
        </p:spPr>
        <p:txBody>
          <a:bodyPr wrap="square" lIns="0" tIns="0" rIns="0" bIns="0" rtlCol="0" anchor="ctr"/>
          <a:lstStyle/>
          <a:p>
            <a:pPr indent="0" marL="0">
              <a:buNone/>
            </a:pPr>
            <a:r>
              <a:rPr lang="en-US" sz="850" i="1" dirty="0">
                <a:solidFill>
                  <a:srgbClr val="2ECC71"/>
                </a:solidFill>
                <a:latin typeface="Calibri" pitchFamily="34" charset="0"/>
                <a:ea typeface="Calibri" pitchFamily="34" charset="-122"/>
                <a:cs typeface="Calibri" pitchFamily="34" charset="-120"/>
              </a:rPr>
              <a:t>Difficulty: Beginner</a:t>
            </a:r>
            <a:endParaRPr lang="en-US" sz="850" dirty="0"/>
          </a:p>
        </p:txBody>
      </p:sp>
      <p:sp>
        <p:nvSpPr>
          <p:cNvPr id="17" name="Text 15"/>
          <p:cNvSpPr/>
          <p:nvPr/>
        </p:nvSpPr>
        <p:spPr>
          <a:xfrm>
            <a:off x="5093208" y="1709928"/>
            <a:ext cx="3703320" cy="685800"/>
          </a:xfrm>
          <a:prstGeom prst="rect">
            <a:avLst/>
          </a:prstGeom>
          <a:noFill/>
          <a:ln/>
        </p:spPr>
        <p:txBody>
          <a:bodyPr wrap="square" lIns="0" tIns="0" rIns="0" bIns="0" rtlCol="0" anchor="ctr"/>
          <a:lstStyle/>
          <a:p>
            <a:pPr indent="0" marL="0">
              <a:buNone/>
            </a:pPr>
            <a:r>
              <a:rPr lang="en-US" sz="850" dirty="0">
                <a:solidFill>
                  <a:srgbClr val="B0BEC5"/>
                </a:solidFill>
                <a:latin typeface="Calibri" pitchFamily="34" charset="0"/>
                <a:ea typeface="Calibri" pitchFamily="34" charset="-122"/>
                <a:cs typeface="Calibri" pitchFamily="34" charset="-120"/>
              </a:rPr>
              <a:t>In Tab 4, move WACC from 6.5% to 9.5%. Record the DCF value at each level. How much does a 1% change in WACC move the price?</a:t>
            </a:r>
            <a:endParaRPr lang="en-US" sz="850" dirty="0"/>
          </a:p>
        </p:txBody>
      </p:sp>
      <p:sp>
        <p:nvSpPr>
          <p:cNvPr id="18" name="Shape 16"/>
          <p:cNvSpPr/>
          <p:nvPr/>
        </p:nvSpPr>
        <p:spPr>
          <a:xfrm>
            <a:off x="320040" y="2688336"/>
            <a:ext cx="4206240" cy="1389888"/>
          </a:xfrm>
          <a:prstGeom prst="rect">
            <a:avLst/>
          </a:prstGeom>
          <a:solidFill>
            <a:srgbClr val="162840"/>
          </a:solidFill>
          <a:ln w="12700">
            <a:solidFill>
              <a:srgbClr val="C8A84B"/>
            </a:solidFill>
            <a:prstDash val="solid"/>
          </a:ln>
          <a:effectLst>
            <a:outerShdw sx="100000" sy="100000" kx="0" ky="0" algn="bl" rotWithShape="0" blurRad="101600" dist="38100" dir="8100000">
              <a:srgbClr val="000000">
                <a:alpha val="20000"/>
              </a:srgbClr>
            </a:outerShdw>
          </a:effectLst>
        </p:spPr>
      </p:sp>
      <p:sp>
        <p:nvSpPr>
          <p:cNvPr id="19" name="Shape 17"/>
          <p:cNvSpPr/>
          <p:nvPr/>
        </p:nvSpPr>
        <p:spPr>
          <a:xfrm>
            <a:off x="320040" y="2688336"/>
            <a:ext cx="292608" cy="1389888"/>
          </a:xfrm>
          <a:prstGeom prst="rect">
            <a:avLst/>
          </a:prstGeom>
          <a:solidFill>
            <a:srgbClr val="C8A84B"/>
          </a:solidFill>
          <a:ln w="12700">
            <a:solidFill>
              <a:srgbClr val="C8A84B"/>
            </a:solidFill>
            <a:prstDash val="solid"/>
          </a:ln>
        </p:spPr>
      </p:sp>
      <p:sp>
        <p:nvSpPr>
          <p:cNvPr id="20" name="Text 18"/>
          <p:cNvSpPr/>
          <p:nvPr/>
        </p:nvSpPr>
        <p:spPr>
          <a:xfrm>
            <a:off x="320040" y="3145536"/>
            <a:ext cx="292608" cy="365760"/>
          </a:xfrm>
          <a:prstGeom prst="rect">
            <a:avLst/>
          </a:prstGeom>
          <a:noFill/>
          <a:ln/>
        </p:spPr>
        <p:txBody>
          <a:bodyPr wrap="square" lIns="0" tIns="0" rIns="0" bIns="0" rtlCol="0" anchor="ctr"/>
          <a:lstStyle/>
          <a:p>
            <a:pPr algn="ctr" indent="0" marL="0">
              <a:buNone/>
            </a:pPr>
            <a:r>
              <a:rPr lang="en-US" sz="1400" b="1" dirty="0">
                <a:solidFill>
                  <a:srgbClr val="0D1F35"/>
                </a:solidFill>
                <a:latin typeface="Calibri" pitchFamily="34" charset="0"/>
                <a:ea typeface="Calibri" pitchFamily="34" charset="-122"/>
                <a:cs typeface="Calibri" pitchFamily="34" charset="-120"/>
              </a:rPr>
              <a:t>③</a:t>
            </a:r>
            <a:endParaRPr lang="en-US" sz="1400" dirty="0"/>
          </a:p>
        </p:txBody>
      </p:sp>
      <p:sp>
        <p:nvSpPr>
          <p:cNvPr id="21" name="Text 19"/>
          <p:cNvSpPr/>
          <p:nvPr/>
        </p:nvSpPr>
        <p:spPr>
          <a:xfrm>
            <a:off x="704088" y="2779776"/>
            <a:ext cx="3703320" cy="274320"/>
          </a:xfrm>
          <a:prstGeom prst="rect">
            <a:avLst/>
          </a:prstGeom>
          <a:noFill/>
          <a:ln/>
        </p:spPr>
        <p:txBody>
          <a:bodyPr wrap="square" lIns="0" tIns="0" rIns="0" bIns="0" rtlCol="0" anchor="ctr"/>
          <a:lstStyle/>
          <a:p>
            <a:pPr indent="0" marL="0">
              <a:buNone/>
            </a:pPr>
            <a:r>
              <a:rPr lang="en-US" sz="1050" b="1" dirty="0">
                <a:solidFill>
                  <a:srgbClr val="F0F0F0"/>
                </a:solidFill>
                <a:latin typeface="Calibri" pitchFamily="34" charset="0"/>
                <a:ea typeface="Calibri" pitchFamily="34" charset="-122"/>
                <a:cs typeface="Calibri" pitchFamily="34" charset="-120"/>
              </a:rPr>
              <a:t>Build the ROIC Story</a:t>
            </a:r>
            <a:endParaRPr lang="en-US" sz="1050" dirty="0"/>
          </a:p>
        </p:txBody>
      </p:sp>
      <p:sp>
        <p:nvSpPr>
          <p:cNvPr id="22" name="Text 20"/>
          <p:cNvSpPr/>
          <p:nvPr/>
        </p:nvSpPr>
        <p:spPr>
          <a:xfrm>
            <a:off x="704088" y="3072384"/>
            <a:ext cx="3703320" cy="201168"/>
          </a:xfrm>
          <a:prstGeom prst="rect">
            <a:avLst/>
          </a:prstGeom>
          <a:noFill/>
          <a:ln/>
        </p:spPr>
        <p:txBody>
          <a:bodyPr wrap="square" lIns="0" tIns="0" rIns="0" bIns="0" rtlCol="0" anchor="ctr"/>
          <a:lstStyle/>
          <a:p>
            <a:pPr indent="0" marL="0">
              <a:buNone/>
            </a:pPr>
            <a:r>
              <a:rPr lang="en-US" sz="850" i="1" dirty="0">
                <a:solidFill>
                  <a:srgbClr val="C8A84B"/>
                </a:solidFill>
                <a:latin typeface="Calibri" pitchFamily="34" charset="0"/>
                <a:ea typeface="Calibri" pitchFamily="34" charset="-122"/>
                <a:cs typeface="Calibri" pitchFamily="34" charset="-120"/>
              </a:rPr>
              <a:t>Difficulty: Intermediate</a:t>
            </a:r>
            <a:endParaRPr lang="en-US" sz="850" dirty="0"/>
          </a:p>
        </p:txBody>
      </p:sp>
      <p:sp>
        <p:nvSpPr>
          <p:cNvPr id="23" name="Text 21"/>
          <p:cNvSpPr/>
          <p:nvPr/>
        </p:nvSpPr>
        <p:spPr>
          <a:xfrm>
            <a:off x="704088" y="3282696"/>
            <a:ext cx="3703320" cy="685800"/>
          </a:xfrm>
          <a:prstGeom prst="rect">
            <a:avLst/>
          </a:prstGeom>
          <a:noFill/>
          <a:ln/>
        </p:spPr>
        <p:txBody>
          <a:bodyPr wrap="square" lIns="0" tIns="0" rIns="0" bIns="0" rtlCol="0" anchor="ctr"/>
          <a:lstStyle/>
          <a:p>
            <a:pPr indent="0" marL="0">
              <a:buNone/>
            </a:pPr>
            <a:r>
              <a:rPr lang="en-US" sz="850" dirty="0">
                <a:solidFill>
                  <a:srgbClr val="B0BEC5"/>
                </a:solidFill>
                <a:latin typeface="Calibri" pitchFamily="34" charset="0"/>
                <a:ea typeface="Calibri" pitchFamily="34" charset="-122"/>
                <a:cs typeface="Calibri" pitchFamily="34" charset="-120"/>
              </a:rPr>
              <a:t>From Tab 2: write 150 words explaining why negative equity does NOT mean financial distress. Use the ROIC and Net Debt/EBITDA data.</a:t>
            </a:r>
            <a:endParaRPr lang="en-US" sz="850" dirty="0"/>
          </a:p>
        </p:txBody>
      </p:sp>
      <p:sp>
        <p:nvSpPr>
          <p:cNvPr id="24" name="Shape 22"/>
          <p:cNvSpPr/>
          <p:nvPr/>
        </p:nvSpPr>
        <p:spPr>
          <a:xfrm>
            <a:off x="4709160" y="2688336"/>
            <a:ext cx="4206240" cy="1389888"/>
          </a:xfrm>
          <a:prstGeom prst="rect">
            <a:avLst/>
          </a:prstGeom>
          <a:solidFill>
            <a:srgbClr val="162840"/>
          </a:solidFill>
          <a:ln w="12700">
            <a:solidFill>
              <a:srgbClr val="C8A84B"/>
            </a:solidFill>
            <a:prstDash val="solid"/>
          </a:ln>
          <a:effectLst>
            <a:outerShdw sx="100000" sy="100000" kx="0" ky="0" algn="bl" rotWithShape="0" blurRad="101600" dist="38100" dir="8100000">
              <a:srgbClr val="000000">
                <a:alpha val="20000"/>
              </a:srgbClr>
            </a:outerShdw>
          </a:effectLst>
        </p:spPr>
      </p:sp>
      <p:sp>
        <p:nvSpPr>
          <p:cNvPr id="25" name="Shape 23"/>
          <p:cNvSpPr/>
          <p:nvPr/>
        </p:nvSpPr>
        <p:spPr>
          <a:xfrm>
            <a:off x="4709160" y="2688336"/>
            <a:ext cx="292608" cy="1389888"/>
          </a:xfrm>
          <a:prstGeom prst="rect">
            <a:avLst/>
          </a:prstGeom>
          <a:solidFill>
            <a:srgbClr val="C8A84B"/>
          </a:solidFill>
          <a:ln w="12700">
            <a:solidFill>
              <a:srgbClr val="C8A84B"/>
            </a:solidFill>
            <a:prstDash val="solid"/>
          </a:ln>
        </p:spPr>
      </p:sp>
      <p:sp>
        <p:nvSpPr>
          <p:cNvPr id="26" name="Text 24"/>
          <p:cNvSpPr/>
          <p:nvPr/>
        </p:nvSpPr>
        <p:spPr>
          <a:xfrm>
            <a:off x="4709160" y="3145536"/>
            <a:ext cx="292608" cy="365760"/>
          </a:xfrm>
          <a:prstGeom prst="rect">
            <a:avLst/>
          </a:prstGeom>
          <a:noFill/>
          <a:ln/>
        </p:spPr>
        <p:txBody>
          <a:bodyPr wrap="square" lIns="0" tIns="0" rIns="0" bIns="0" rtlCol="0" anchor="ctr"/>
          <a:lstStyle/>
          <a:p>
            <a:pPr algn="ctr" indent="0" marL="0">
              <a:buNone/>
            </a:pPr>
            <a:r>
              <a:rPr lang="en-US" sz="1400" b="1" dirty="0">
                <a:solidFill>
                  <a:srgbClr val="0D1F35"/>
                </a:solidFill>
                <a:latin typeface="Calibri" pitchFamily="34" charset="0"/>
                <a:ea typeface="Calibri" pitchFamily="34" charset="-122"/>
                <a:cs typeface="Calibri" pitchFamily="34" charset="-120"/>
              </a:rPr>
              <a:t>④</a:t>
            </a:r>
            <a:endParaRPr lang="en-US" sz="1400" dirty="0"/>
          </a:p>
        </p:txBody>
      </p:sp>
      <p:sp>
        <p:nvSpPr>
          <p:cNvPr id="27" name="Text 25"/>
          <p:cNvSpPr/>
          <p:nvPr/>
        </p:nvSpPr>
        <p:spPr>
          <a:xfrm>
            <a:off x="5093208" y="2779776"/>
            <a:ext cx="3703320" cy="274320"/>
          </a:xfrm>
          <a:prstGeom prst="rect">
            <a:avLst/>
          </a:prstGeom>
          <a:noFill/>
          <a:ln/>
        </p:spPr>
        <p:txBody>
          <a:bodyPr wrap="square" lIns="0" tIns="0" rIns="0" bIns="0" rtlCol="0" anchor="ctr"/>
          <a:lstStyle/>
          <a:p>
            <a:pPr indent="0" marL="0">
              <a:buNone/>
            </a:pPr>
            <a:r>
              <a:rPr lang="en-US" sz="1050" b="1" dirty="0">
                <a:solidFill>
                  <a:srgbClr val="F0F0F0"/>
                </a:solidFill>
                <a:latin typeface="Calibri" pitchFamily="34" charset="0"/>
                <a:ea typeface="Calibri" pitchFamily="34" charset="-122"/>
                <a:cs typeface="Calibri" pitchFamily="34" charset="-120"/>
              </a:rPr>
              <a:t>Justify the Premium to Peers</a:t>
            </a:r>
            <a:endParaRPr lang="en-US" sz="1050" dirty="0"/>
          </a:p>
        </p:txBody>
      </p:sp>
      <p:sp>
        <p:nvSpPr>
          <p:cNvPr id="28" name="Text 26"/>
          <p:cNvSpPr/>
          <p:nvPr/>
        </p:nvSpPr>
        <p:spPr>
          <a:xfrm>
            <a:off x="5093208" y="3072384"/>
            <a:ext cx="3703320" cy="201168"/>
          </a:xfrm>
          <a:prstGeom prst="rect">
            <a:avLst/>
          </a:prstGeom>
          <a:noFill/>
          <a:ln/>
        </p:spPr>
        <p:txBody>
          <a:bodyPr wrap="square" lIns="0" tIns="0" rIns="0" bIns="0" rtlCol="0" anchor="ctr"/>
          <a:lstStyle/>
          <a:p>
            <a:pPr indent="0" marL="0">
              <a:buNone/>
            </a:pPr>
            <a:r>
              <a:rPr lang="en-US" sz="850" i="1" dirty="0">
                <a:solidFill>
                  <a:srgbClr val="C8A84B"/>
                </a:solidFill>
                <a:latin typeface="Calibri" pitchFamily="34" charset="0"/>
                <a:ea typeface="Calibri" pitchFamily="34" charset="-122"/>
                <a:cs typeface="Calibri" pitchFamily="34" charset="-120"/>
              </a:rPr>
              <a:t>Difficulty: Intermediate</a:t>
            </a:r>
            <a:endParaRPr lang="en-US" sz="850" dirty="0"/>
          </a:p>
        </p:txBody>
      </p:sp>
      <p:sp>
        <p:nvSpPr>
          <p:cNvPr id="29" name="Text 27"/>
          <p:cNvSpPr/>
          <p:nvPr/>
        </p:nvSpPr>
        <p:spPr>
          <a:xfrm>
            <a:off x="5093208" y="3282696"/>
            <a:ext cx="3703320" cy="685800"/>
          </a:xfrm>
          <a:prstGeom prst="rect">
            <a:avLst/>
          </a:prstGeom>
          <a:noFill/>
          <a:ln/>
        </p:spPr>
        <p:txBody>
          <a:bodyPr wrap="square" lIns="0" tIns="0" rIns="0" bIns="0" rtlCol="0" anchor="ctr"/>
          <a:lstStyle/>
          <a:p>
            <a:pPr indent="0" marL="0">
              <a:buNone/>
            </a:pPr>
            <a:r>
              <a:rPr lang="en-US" sz="850" dirty="0">
                <a:solidFill>
                  <a:srgbClr val="B0BEC5"/>
                </a:solidFill>
                <a:latin typeface="Calibri" pitchFamily="34" charset="0"/>
                <a:ea typeface="Calibri" pitchFamily="34" charset="-122"/>
                <a:cs typeface="Calibri" pitchFamily="34" charset="-120"/>
              </a:rPr>
              <a:t>From Tab 3: compare DOL's ROIC, margins, and EV/EBITDA to DLTR and DG. Write a 150-word note arguing for or against the valuation premium.</a:t>
            </a:r>
            <a:endParaRPr lang="en-US" sz="850" dirty="0"/>
          </a:p>
        </p:txBody>
      </p:sp>
      <p:sp>
        <p:nvSpPr>
          <p:cNvPr id="30" name="Shape 28"/>
          <p:cNvSpPr/>
          <p:nvPr/>
        </p:nvSpPr>
        <p:spPr>
          <a:xfrm>
            <a:off x="320040" y="4315968"/>
            <a:ext cx="8503920" cy="685800"/>
          </a:xfrm>
          <a:prstGeom prst="rect">
            <a:avLst/>
          </a:prstGeom>
          <a:solidFill>
            <a:srgbClr val="162840"/>
          </a:solidFill>
          <a:ln w="12700">
            <a:solidFill>
              <a:srgbClr val="E74C3C"/>
            </a:solidFill>
            <a:prstDash val="solid"/>
          </a:ln>
          <a:effectLst>
            <a:outerShdw sx="100000" sy="100000" kx="0" ky="0" algn="bl" rotWithShape="0" blurRad="101600" dist="38100" dir="8100000">
              <a:srgbClr val="000000">
                <a:alpha val="20000"/>
              </a:srgbClr>
            </a:outerShdw>
          </a:effectLst>
        </p:spPr>
      </p:sp>
      <p:sp>
        <p:nvSpPr>
          <p:cNvPr id="31" name="Shape 29"/>
          <p:cNvSpPr/>
          <p:nvPr/>
        </p:nvSpPr>
        <p:spPr>
          <a:xfrm>
            <a:off x="320040" y="4315968"/>
            <a:ext cx="292608" cy="685800"/>
          </a:xfrm>
          <a:prstGeom prst="rect">
            <a:avLst/>
          </a:prstGeom>
          <a:solidFill>
            <a:srgbClr val="E74C3C"/>
          </a:solidFill>
          <a:ln w="12700">
            <a:solidFill>
              <a:srgbClr val="E74C3C"/>
            </a:solidFill>
            <a:prstDash val="solid"/>
          </a:ln>
        </p:spPr>
      </p:sp>
      <p:sp>
        <p:nvSpPr>
          <p:cNvPr id="32" name="Text 30"/>
          <p:cNvSpPr/>
          <p:nvPr/>
        </p:nvSpPr>
        <p:spPr>
          <a:xfrm>
            <a:off x="320040" y="4471416"/>
            <a:ext cx="292608" cy="274320"/>
          </a:xfrm>
          <a:prstGeom prst="rect">
            <a:avLst/>
          </a:prstGeom>
          <a:noFill/>
          <a:ln/>
        </p:spPr>
        <p:txBody>
          <a:bodyPr wrap="square" lIns="0" tIns="0" rIns="0" bIns="0" rtlCol="0" anchor="ctr"/>
          <a:lstStyle/>
          <a:p>
            <a:pPr algn="ctr" indent="0" marL="0">
              <a:buNone/>
            </a:pPr>
            <a:r>
              <a:rPr lang="en-US" sz="1300" b="1" dirty="0">
                <a:solidFill>
                  <a:srgbClr val="0D1F35"/>
                </a:solidFill>
                <a:latin typeface="Calibri" pitchFamily="34" charset="0"/>
                <a:ea typeface="Calibri" pitchFamily="34" charset="-122"/>
                <a:cs typeface="Calibri" pitchFamily="34" charset="-120"/>
              </a:rPr>
              <a:t>⑤</a:t>
            </a:r>
            <a:endParaRPr lang="en-US" sz="1300" dirty="0"/>
          </a:p>
        </p:txBody>
      </p:sp>
      <p:sp>
        <p:nvSpPr>
          <p:cNvPr id="33" name="Text 31"/>
          <p:cNvSpPr/>
          <p:nvPr/>
        </p:nvSpPr>
        <p:spPr>
          <a:xfrm>
            <a:off x="713232" y="4361688"/>
            <a:ext cx="3657600" cy="256032"/>
          </a:xfrm>
          <a:prstGeom prst="rect">
            <a:avLst/>
          </a:prstGeom>
          <a:noFill/>
          <a:ln/>
        </p:spPr>
        <p:txBody>
          <a:bodyPr wrap="square" lIns="0" tIns="0" rIns="0" bIns="0" rtlCol="0" anchor="ctr"/>
          <a:lstStyle/>
          <a:p>
            <a:pPr indent="0" marL="0">
              <a:buNone/>
            </a:pPr>
            <a:r>
              <a:rPr lang="en-US" sz="1000" b="1" dirty="0">
                <a:solidFill>
                  <a:srgbClr val="F0F0F0"/>
                </a:solidFill>
                <a:latin typeface="Calibri" pitchFamily="34" charset="0"/>
                <a:ea typeface="Calibri" pitchFamily="34" charset="-122"/>
                <a:cs typeface="Calibri" pitchFamily="34" charset="-120"/>
              </a:rPr>
              <a:t>Add a New Metric to the Code  [Advanced]</a:t>
            </a:r>
            <a:endParaRPr lang="en-US" sz="1000" dirty="0"/>
          </a:p>
        </p:txBody>
      </p:sp>
      <p:sp>
        <p:nvSpPr>
          <p:cNvPr id="34" name="Text 32"/>
          <p:cNvSpPr/>
          <p:nvPr/>
        </p:nvSpPr>
        <p:spPr>
          <a:xfrm>
            <a:off x="713232" y="4626864"/>
            <a:ext cx="7955280" cy="320040"/>
          </a:xfrm>
          <a:prstGeom prst="rect">
            <a:avLst/>
          </a:prstGeom>
          <a:noFill/>
          <a:ln/>
        </p:spPr>
        <p:txBody>
          <a:bodyPr wrap="square" lIns="0" tIns="0" rIns="0" bIns="0" rtlCol="0" anchor="ctr"/>
          <a:lstStyle/>
          <a:p>
            <a:pPr indent="0" marL="0">
              <a:buNone/>
            </a:pPr>
            <a:r>
              <a:rPr lang="en-US" sz="850" dirty="0">
                <a:solidFill>
                  <a:srgbClr val="B0BEC5"/>
                </a:solidFill>
                <a:latin typeface="Calibri" pitchFamily="34" charset="0"/>
                <a:ea typeface="Calibri" pitchFamily="34" charset="-122"/>
                <a:cs typeface="Calibri" pitchFamily="34" charset="-120"/>
              </a:rPr>
              <a:t>In process_dol(): add fcf_yield = fcf / market_cap * 100. Then surface it in Tab 9 (Raw Data). This teaches the full data pipeline end-to-end.</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0E1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E9E"/>
          </a:solidFill>
          <a:ln w="12700">
            <a:solidFill>
              <a:srgbClr val="0D9E9E"/>
            </a:solidFill>
            <a:prstDash val="solid"/>
          </a:ln>
        </p:spPr>
      </p:sp>
      <p:sp>
        <p:nvSpPr>
          <p:cNvPr id="3" name="Shape 1"/>
          <p:cNvSpPr/>
          <p:nvPr/>
        </p:nvSpPr>
        <p:spPr>
          <a:xfrm>
            <a:off x="0" y="0"/>
            <a:ext cx="9144000" cy="54864"/>
          </a:xfrm>
          <a:prstGeom prst="rect">
            <a:avLst/>
          </a:prstGeom>
          <a:solidFill>
            <a:srgbClr val="0D9E9E"/>
          </a:solidFill>
          <a:ln w="12700">
            <a:solidFill>
              <a:srgbClr val="0D9E9E"/>
            </a:solidFill>
            <a:prstDash val="solid"/>
          </a:ln>
        </p:spPr>
      </p:sp>
      <p:sp>
        <p:nvSpPr>
          <p:cNvPr id="4" name="Text 2"/>
          <p:cNvSpPr/>
          <p:nvPr/>
        </p:nvSpPr>
        <p:spPr>
          <a:xfrm>
            <a:off x="457200" y="502920"/>
            <a:ext cx="8229600" cy="457200"/>
          </a:xfrm>
          <a:prstGeom prst="rect">
            <a:avLst/>
          </a:prstGeom>
          <a:noFill/>
          <a:ln/>
        </p:spPr>
        <p:txBody>
          <a:bodyPr wrap="square" lIns="0" tIns="0" rIns="0" bIns="0" rtlCol="0" anchor="ctr"/>
          <a:lstStyle/>
          <a:p>
            <a:pPr indent="0" marL="0">
              <a:buNone/>
            </a:pPr>
            <a:r>
              <a:rPr lang="en-US" sz="2600" b="1" dirty="0">
                <a:solidFill>
                  <a:srgbClr val="F0F0F0"/>
                </a:solidFill>
                <a:latin typeface="Calibri" pitchFamily="34" charset="0"/>
                <a:ea typeface="Calibri" pitchFamily="34" charset="-122"/>
                <a:cs typeface="Calibri" pitchFamily="34" charset="-120"/>
              </a:rPr>
              <a:t>What You Can Now Do</a:t>
            </a:r>
            <a:endParaRPr lang="en-US" sz="2600" dirty="0"/>
          </a:p>
        </p:txBody>
      </p:sp>
      <p:sp>
        <p:nvSpPr>
          <p:cNvPr id="5" name="Shape 3"/>
          <p:cNvSpPr/>
          <p:nvPr/>
        </p:nvSpPr>
        <p:spPr>
          <a:xfrm>
            <a:off x="457200" y="1024128"/>
            <a:ext cx="8229600" cy="27432"/>
          </a:xfrm>
          <a:prstGeom prst="rect">
            <a:avLst/>
          </a:prstGeom>
          <a:solidFill>
            <a:srgbClr val="0A7A7A"/>
          </a:solidFill>
          <a:ln w="12700">
            <a:solidFill>
              <a:srgbClr val="0A7A7A"/>
            </a:solidFill>
            <a:prstDash val="solid"/>
          </a:ln>
        </p:spPr>
      </p:sp>
      <p:sp>
        <p:nvSpPr>
          <p:cNvPr id="6" name="Text 4"/>
          <p:cNvSpPr/>
          <p:nvPr/>
        </p:nvSpPr>
        <p:spPr>
          <a:xfrm>
            <a:off x="457200" y="1170432"/>
            <a:ext cx="320040" cy="365760"/>
          </a:xfrm>
          <a:prstGeom prst="rect">
            <a:avLst/>
          </a:prstGeom>
          <a:noFill/>
          <a:ln/>
        </p:spPr>
        <p:txBody>
          <a:bodyPr wrap="square" lIns="0" tIns="0" rIns="0" bIns="0" rtlCol="0" anchor="ctr"/>
          <a:lstStyle/>
          <a:p>
            <a:pPr indent="0" marL="0">
              <a:buNone/>
            </a:pPr>
            <a:r>
              <a:rPr lang="en-US" sz="1800" b="1" dirty="0">
                <a:solidFill>
                  <a:srgbClr val="2ECC71"/>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822960" y="1188720"/>
            <a:ext cx="7772400" cy="347472"/>
          </a:xfrm>
          <a:prstGeom prst="rect">
            <a:avLst/>
          </a:prstGeom>
          <a:noFill/>
          <a:ln/>
        </p:spPr>
        <p:txBody>
          <a:bodyPr wrap="square" lIns="0" tIns="0" rIns="0" bIns="0" rtlCol="0" anchor="ctr"/>
          <a:lstStyle/>
          <a:p>
            <a:pPr indent="0" marL="0">
              <a:buNone/>
            </a:pPr>
            <a:r>
              <a:rPr lang="en-US" sz="1300" dirty="0">
                <a:solidFill>
                  <a:srgbClr val="B0BEC5"/>
                </a:solidFill>
                <a:latin typeface="Calibri" pitchFamily="34" charset="0"/>
                <a:ea typeface="Calibri" pitchFamily="34" charset="-122"/>
                <a:cs typeface="Calibri" pitchFamily="34" charset="-120"/>
              </a:rPr>
              <a:t>Explain where every number in an equity research dashboard comes from</a:t>
            </a:r>
            <a:endParaRPr lang="en-US" sz="1300" dirty="0"/>
          </a:p>
        </p:txBody>
      </p:sp>
      <p:sp>
        <p:nvSpPr>
          <p:cNvPr id="8" name="Text 6"/>
          <p:cNvSpPr/>
          <p:nvPr/>
        </p:nvSpPr>
        <p:spPr>
          <a:xfrm>
            <a:off x="457200" y="1737360"/>
            <a:ext cx="320040" cy="365760"/>
          </a:xfrm>
          <a:prstGeom prst="rect">
            <a:avLst/>
          </a:prstGeom>
          <a:noFill/>
          <a:ln/>
        </p:spPr>
        <p:txBody>
          <a:bodyPr wrap="square" lIns="0" tIns="0" rIns="0" bIns="0" rtlCol="0" anchor="ctr"/>
          <a:lstStyle/>
          <a:p>
            <a:pPr indent="0" marL="0">
              <a:buNone/>
            </a:pPr>
            <a:r>
              <a:rPr lang="en-US" sz="1800" b="1" dirty="0">
                <a:solidFill>
                  <a:srgbClr val="2ECC71"/>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822960" y="1755648"/>
            <a:ext cx="7772400" cy="347472"/>
          </a:xfrm>
          <a:prstGeom prst="rect">
            <a:avLst/>
          </a:prstGeom>
          <a:noFill/>
          <a:ln/>
        </p:spPr>
        <p:txBody>
          <a:bodyPr wrap="square" lIns="0" tIns="0" rIns="0" bIns="0" rtlCol="0" anchor="ctr"/>
          <a:lstStyle/>
          <a:p>
            <a:pPr indent="0" marL="0">
              <a:buNone/>
            </a:pPr>
            <a:r>
              <a:rPr lang="en-US" sz="1300" dirty="0">
                <a:solidFill>
                  <a:srgbClr val="B0BEC5"/>
                </a:solidFill>
                <a:latin typeface="Calibri" pitchFamily="34" charset="0"/>
                <a:ea typeface="Calibri" pitchFamily="34" charset="-122"/>
                <a:cs typeface="Calibri" pitchFamily="34" charset="-120"/>
              </a:rPr>
              <a:t>Calculate EBITDA, ROIC, FCF, and EV from raw Compustat / Yahoo Finance columns</a:t>
            </a:r>
            <a:endParaRPr lang="en-US" sz="1300" dirty="0"/>
          </a:p>
        </p:txBody>
      </p:sp>
      <p:sp>
        <p:nvSpPr>
          <p:cNvPr id="10" name="Text 8"/>
          <p:cNvSpPr/>
          <p:nvPr/>
        </p:nvSpPr>
        <p:spPr>
          <a:xfrm>
            <a:off x="457200" y="2304288"/>
            <a:ext cx="320040" cy="365760"/>
          </a:xfrm>
          <a:prstGeom prst="rect">
            <a:avLst/>
          </a:prstGeom>
          <a:noFill/>
          <a:ln/>
        </p:spPr>
        <p:txBody>
          <a:bodyPr wrap="square" lIns="0" tIns="0" rIns="0" bIns="0" rtlCol="0" anchor="ctr"/>
          <a:lstStyle/>
          <a:p>
            <a:pPr indent="0" marL="0">
              <a:buNone/>
            </a:pPr>
            <a:r>
              <a:rPr lang="en-US" sz="1800" b="1" dirty="0">
                <a:solidFill>
                  <a:srgbClr val="2ECC71"/>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822960" y="2322576"/>
            <a:ext cx="7772400" cy="347472"/>
          </a:xfrm>
          <a:prstGeom prst="rect">
            <a:avLst/>
          </a:prstGeom>
          <a:noFill/>
          <a:ln/>
        </p:spPr>
        <p:txBody>
          <a:bodyPr wrap="square" lIns="0" tIns="0" rIns="0" bIns="0" rtlCol="0" anchor="ctr"/>
          <a:lstStyle/>
          <a:p>
            <a:pPr indent="0" marL="0">
              <a:buNone/>
            </a:pPr>
            <a:r>
              <a:rPr lang="en-US" sz="1300" dirty="0">
                <a:solidFill>
                  <a:srgbClr val="B0BEC5"/>
                </a:solidFill>
                <a:latin typeface="Calibri" pitchFamily="34" charset="0"/>
                <a:ea typeface="Calibri" pitchFamily="34" charset="-122"/>
                <a:cs typeface="Calibri" pitchFamily="34" charset="-120"/>
              </a:rPr>
              <a:t>Run a five-year DCF model and interpret a Monte Carlo distribution</a:t>
            </a:r>
            <a:endParaRPr lang="en-US" sz="1300" dirty="0"/>
          </a:p>
        </p:txBody>
      </p:sp>
      <p:sp>
        <p:nvSpPr>
          <p:cNvPr id="12" name="Text 10"/>
          <p:cNvSpPr/>
          <p:nvPr/>
        </p:nvSpPr>
        <p:spPr>
          <a:xfrm>
            <a:off x="457200" y="2871216"/>
            <a:ext cx="320040" cy="365760"/>
          </a:xfrm>
          <a:prstGeom prst="rect">
            <a:avLst/>
          </a:prstGeom>
          <a:noFill/>
          <a:ln/>
        </p:spPr>
        <p:txBody>
          <a:bodyPr wrap="square" lIns="0" tIns="0" rIns="0" bIns="0" rtlCol="0" anchor="ctr"/>
          <a:lstStyle/>
          <a:p>
            <a:pPr indent="0" marL="0">
              <a:buNone/>
            </a:pPr>
            <a:r>
              <a:rPr lang="en-US" sz="1800" b="1" dirty="0">
                <a:solidFill>
                  <a:srgbClr val="2ECC71"/>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822960" y="2889504"/>
            <a:ext cx="7772400" cy="347472"/>
          </a:xfrm>
          <a:prstGeom prst="rect">
            <a:avLst/>
          </a:prstGeom>
          <a:noFill/>
          <a:ln/>
        </p:spPr>
        <p:txBody>
          <a:bodyPr wrap="square" lIns="0" tIns="0" rIns="0" bIns="0" rtlCol="0" anchor="ctr"/>
          <a:lstStyle/>
          <a:p>
            <a:pPr indent="0" marL="0">
              <a:buNone/>
            </a:pPr>
            <a:r>
              <a:rPr lang="en-US" sz="1300" dirty="0">
                <a:solidFill>
                  <a:srgbClr val="B0BEC5"/>
                </a:solidFill>
                <a:latin typeface="Calibri" pitchFamily="34" charset="0"/>
                <a:ea typeface="Calibri" pitchFamily="34" charset="-122"/>
                <a:cs typeface="Calibri" pitchFamily="34" charset="-120"/>
              </a:rPr>
              <a:t>Understand why ROIC &gt; WACC is the definition of value creation</a:t>
            </a:r>
            <a:endParaRPr lang="en-US" sz="1300" dirty="0"/>
          </a:p>
        </p:txBody>
      </p:sp>
      <p:sp>
        <p:nvSpPr>
          <p:cNvPr id="14" name="Text 12"/>
          <p:cNvSpPr/>
          <p:nvPr/>
        </p:nvSpPr>
        <p:spPr>
          <a:xfrm>
            <a:off x="457200" y="3438144"/>
            <a:ext cx="320040" cy="365760"/>
          </a:xfrm>
          <a:prstGeom prst="rect">
            <a:avLst/>
          </a:prstGeom>
          <a:noFill/>
          <a:ln/>
        </p:spPr>
        <p:txBody>
          <a:bodyPr wrap="square" lIns="0" tIns="0" rIns="0" bIns="0" rtlCol="0" anchor="ctr"/>
          <a:lstStyle/>
          <a:p>
            <a:pPr indent="0" marL="0">
              <a:buNone/>
            </a:pPr>
            <a:r>
              <a:rPr lang="en-US" sz="1800" b="1" dirty="0">
                <a:solidFill>
                  <a:srgbClr val="2ECC71"/>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822960" y="3456432"/>
            <a:ext cx="7772400" cy="347472"/>
          </a:xfrm>
          <a:prstGeom prst="rect">
            <a:avLst/>
          </a:prstGeom>
          <a:noFill/>
          <a:ln/>
        </p:spPr>
        <p:txBody>
          <a:bodyPr wrap="square" lIns="0" tIns="0" rIns="0" bIns="0" rtlCol="0" anchor="ctr"/>
          <a:lstStyle/>
          <a:p>
            <a:pPr indent="0" marL="0">
              <a:buNone/>
            </a:pPr>
            <a:r>
              <a:rPr lang="en-US" sz="1300" dirty="0">
                <a:solidFill>
                  <a:srgbClr val="B0BEC5"/>
                </a:solidFill>
                <a:latin typeface="Calibri" pitchFamily="34" charset="0"/>
                <a:ea typeface="Calibri" pitchFamily="34" charset="-122"/>
                <a:cs typeface="Calibri" pitchFamily="34" charset="-120"/>
              </a:rPr>
              <a:t>Connect to live financial data using Python — yfinance or WRDS Compustat</a:t>
            </a:r>
            <a:endParaRPr lang="en-US" sz="1300" dirty="0"/>
          </a:p>
        </p:txBody>
      </p:sp>
      <p:sp>
        <p:nvSpPr>
          <p:cNvPr id="16" name="Text 14"/>
          <p:cNvSpPr/>
          <p:nvPr/>
        </p:nvSpPr>
        <p:spPr>
          <a:xfrm>
            <a:off x="457200" y="4005072"/>
            <a:ext cx="320040" cy="365760"/>
          </a:xfrm>
          <a:prstGeom prst="rect">
            <a:avLst/>
          </a:prstGeom>
          <a:noFill/>
          <a:ln/>
        </p:spPr>
        <p:txBody>
          <a:bodyPr wrap="square" lIns="0" tIns="0" rIns="0" bIns="0" rtlCol="0" anchor="ctr"/>
          <a:lstStyle/>
          <a:p>
            <a:pPr indent="0" marL="0">
              <a:buNone/>
            </a:pPr>
            <a:r>
              <a:rPr lang="en-US" sz="1800" b="1" dirty="0">
                <a:solidFill>
                  <a:srgbClr val="C8A84B"/>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822960" y="4023360"/>
            <a:ext cx="7772400" cy="347472"/>
          </a:xfrm>
          <a:prstGeom prst="rect">
            <a:avLst/>
          </a:prstGeom>
          <a:noFill/>
          <a:ln/>
        </p:spPr>
        <p:txBody>
          <a:bodyPr wrap="square" lIns="0" tIns="0" rIns="0" bIns="0" rtlCol="0" anchor="ctr"/>
          <a:lstStyle/>
          <a:p>
            <a:pPr indent="0" marL="0">
              <a:buNone/>
            </a:pPr>
            <a:r>
              <a:rPr lang="en-US" sz="1300" dirty="0">
                <a:solidFill>
                  <a:srgbClr val="C8A84B"/>
                </a:solidFill>
                <a:latin typeface="Calibri" pitchFamily="34" charset="0"/>
                <a:ea typeface="Calibri" pitchFamily="34" charset="-122"/>
                <a:cs typeface="Calibri" pitchFamily="34" charset="-120"/>
              </a:rPr>
              <a:t>Build on this dashboard to analyse any public company yourself</a:t>
            </a:r>
            <a:endParaRPr lang="en-US" sz="1300" dirty="0"/>
          </a:p>
        </p:txBody>
      </p:sp>
      <p:sp>
        <p:nvSpPr>
          <p:cNvPr id="18" name="Shape 16"/>
          <p:cNvSpPr/>
          <p:nvPr/>
        </p:nvSpPr>
        <p:spPr>
          <a:xfrm>
            <a:off x="457200" y="4663440"/>
            <a:ext cx="8229600" cy="27432"/>
          </a:xfrm>
          <a:prstGeom prst="rect">
            <a:avLst/>
          </a:prstGeom>
          <a:solidFill>
            <a:srgbClr val="0A7A7A"/>
          </a:solidFill>
          <a:ln w="12700">
            <a:solidFill>
              <a:srgbClr val="0A7A7A"/>
            </a:solidFill>
            <a:prstDash val="solid"/>
          </a:ln>
        </p:spPr>
      </p:sp>
      <p:sp>
        <p:nvSpPr>
          <p:cNvPr id="19" name="Text 17"/>
          <p:cNvSpPr/>
          <p:nvPr/>
        </p:nvSpPr>
        <p:spPr>
          <a:xfrm>
            <a:off x="457200" y="4736592"/>
            <a:ext cx="8229600" cy="274320"/>
          </a:xfrm>
          <a:prstGeom prst="rect">
            <a:avLst/>
          </a:prstGeom>
          <a:noFill/>
          <a:ln/>
        </p:spPr>
        <p:txBody>
          <a:bodyPr wrap="square" lIns="0" tIns="0" rIns="0" bIns="0" rtlCol="0" anchor="ctr"/>
          <a:lstStyle/>
          <a:p>
            <a:pPr algn="ctr" indent="0" marL="0">
              <a:buNone/>
            </a:pPr>
            <a:r>
              <a:rPr lang="en-US" sz="950" i="1" dirty="0">
                <a:solidFill>
                  <a:srgbClr val="B0BEC5"/>
                </a:solidFill>
                <a:latin typeface="Calibri" pitchFamily="34" charset="0"/>
                <a:ea typeface="Calibri" pitchFamily="34" charset="-122"/>
                <a:cs typeface="Calibri" pitchFamily="34" charset="-120"/>
              </a:rPr>
              <a:t>dollarama_app.py   |   dollarama_learning_guide.docx   |   wrds_export.py</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Dollarama Equity Research Dashboard — Student Presentation</dc:title>
  <dc:subject>PptxGenJS Presentation</dc:subject>
  <dc:creator>PptxGenJS</dc:creator>
  <cp:lastModifiedBy>PptxGenJS</cp:lastModifiedBy>
  <cp:revision>1</cp:revision>
  <dcterms:created xsi:type="dcterms:W3CDTF">2026-03-08T23:28:33Z</dcterms:created>
  <dcterms:modified xsi:type="dcterms:W3CDTF">2026-03-08T23:28:33Z</dcterms:modified>
</cp:coreProperties>
</file>